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the room. One sentence on who you are and why this topic matters to you personally.
"Tonight we're sharing a framework that helped make sense of things I'd already noticed — rising costs, wages that don't keep up, debt that never goes away. I think you'll recognize some of what we cover."
Tell them: two hours, six connected parts, questions welcome throughout. Goal is not to convince — it's to share a way of seeing.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Walk this quickly, 30 seconds total.
"These six parts tell one connected story. Each one leads to the next. By the end they fit together in a way that might change how you see some familiar things."
Transition: "Let's start at the very beginning — not with interest rates or the Fed. With trade. Because that's where money actually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 brief pause.
"Tonight we're starting with trade — not money yet. Because to understand why money matters, you first have to understand what it makes possible. Most of us have never really stopped to think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concrete morning example before touching the slide.
"Your coffee — beans from Colombia, roasted elsewhere, trucked to a store, brewed on equipment made in Europe. All before 8am. Nobody planned that. Money is why it works."
CARD 1 — Lines of production: farmer grows more than he needs, mechanic fixes more cars than she drives — they trade. The chain gets longer, outputs get more complex.
CARD 2 — Civilization: hospitals, smartphones, modern medicine — not from any genius or government. Billions of compounding trades.
CARD 3 — Classic barter problem: farmer with wheat needing shoes has to find a shoemaker who specifically wants wheat, today. The double coincidence of wants. Unworkable at global scale.
Pull quote: read it slowly, then pause.
Transition: "So humans invented something to solve this. A universally accepted go-between. We call it money. And it didn't come from a government — it emerged naturally wherever people traded."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money is NOT a government invention. Governments eventually took control of it — but they did not create it.
"The same way no one invented English — it evolved from human communication needs — money evolved from human trade needs."
"And just as some languages work better than others, some forms of money work better than others. That's what Part 2 is about."
Transition to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"So if money is this important — and it is, it's the foundation of every economic transaction in your life — the obvious question is: what makes money good? It turns out there's a very clear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grid. Spend real time on SCARCE and DECENTRALIZED — those are the two that drive the rest of the story.
SCARCE: "If anyone can make more of it, they will. And when there's more of it, each unit is worth less. That's not complicated — it's the same as any commodity."
DECENTRALIZED: "The moment one entity controls the money, they control everything purchased with it. History shows what happens when that power is concentrated."
Nobody designed these requirements — they were discovered through thousands of years of trial and error.
Transition: "When you run this test against every money humans have ever used, one commodity rises above all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civilization on earth, with no communication between them, independently arrived at gold as the best money. That's not coincidence. That's the market finding the right answer through thousands of years of trial and error."
CARD 1 — Scarcity: all gold ever mined = 3.5 Olympic swimming pools. Powerful visual.
CARD 2 — Properties: checked nearly every box. Closest thing to perfect money nature ever produced.
CARD 3 — The flaw: it's heavy. This is where the story turns.
Transition: "Gold's fatal flaw didn't just inconvenience us. It was the crack in the door that let something very different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whole story. Take your time.
CARD 1 — Certificates: practical solution to gold's weight problem. Paper was easier to carry.
CARD 2 — The quiet abuse: "The custodians noticed that most people never came to collect their gold all at once. So they started issuing more certificates than gold existed. A little at first. Then more. This happened without public knowledge or understanding — each step seemed justified at the time."
CARD 3 — Central banks: governments took control. The Federal Reserve was created in 1913. The trusted third party was now official.
CARD 4 — 1971: "August 15, 1971. Nixon shock. The last external constraint — foreign governments could exchange dollars for gold — was removed. From that moment, money could be created without limit."
"Gold's fatal flaw didn't just inconvenience us. It was the crack in the door that let something very different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"This is the part that connects the abstract — monetary policy, gold standards, 1971 — to the things you actually feel. The prices. The wages. The housing. The debt. The sense that something is wrong that you can't quite name."
"I'm going to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 is important. Most people assume things cost more because they're getting harder to make or better in quality. Correct that directly.
"If your TV gets cheaper every year because manufacturing improves — why does your grocery bill go up every year? That's not because food got harder to grow. It's because the money you're using got weaker."
"Debasement is the right word. It's not a natural phenomenon like weather. It's an action. Someone is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each number. Let them sit.
97%: "A dollar in 1913 — when your great-grandparents were alive — bought what $33 buys today."
1971: "The year the last constraint was removed."
85x: "US national debt went from $400 billion in 1971 to over $34 trillion today. That is not a coincidence. The gold constraint forced discipline. Without it, spending became unlimited."
Cantillon body text: "This has a name. It is not a conspiracy theory. It is a structural feature of how money creation works — and it has been widening the wealth gap for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by one. Each one should land as something the room recognizes.
WAR: "Under the gold standard, wars had to be paid for with taxes people could see and feel. Under fiat, the cost is spread invisibly through inflation. Every major war since 1971 has been partially funded by debasing your savings."
INEQUALITY: "Asset owners get richer as prices rise. Wage earners fall behind. This is the Cantillon effect in action over decades."
QUALITY: "Think about tools and appliances from 30-40 years ago versus today. This isn't nostalgia — it's incentives set by the monetary system."
DEBT: "The system literally requires debt to function. Without new borrowing, the money supply contracts. Student loans, mortgages, car payments — these are rational responses to a system designed to require them."
Closing point: "None of this required a villain. These are emergent consequences of removing the one constraint that kept money honest —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"We've spent three parts on the disease. This part is about what health looks like. And it turns out hard money doesn't just change what you can afford — it changes what you think is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preference is one of the most important concepts in economics that almost no one talks about.
Cathedral story: "The builders who laid the foundation knew they'd never see the finished spire. They built anyway — because they were thinking across generations. Their money held value. Planning for your grandchildren made sense."
"Contrast that with today. How many business decisions — personal decisions — government decisions — are made on a quarter-by-quarter basis? The monetary system shortens the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Ask the room: which world does your community want to live in?
The gold standard era (1870-1914) is the best historical example of the hard money column in practice: real wages rose 40% in 40 years, prices were stable, extraordinary technological innovation.
"The US was founded on hard money principles. The Federal Reserve was established in 1913. Through two world wars and expanding government programs, the gold constraint was loosened piece by piece. Nixon removed it entirely in 1971. US national debt has gone up 85-fold since."
Transition: "So if hard money is the answer — and gold was the best hard money humanity ever found — why can't we just go back to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"We keep coming back to gold's fatal flaw — it's heavy, and you can't move it without trusting someone. Every gold standard in history eventually collapsed at that point."
"For most of history, there was no solution. You needed hard money AND you needed to be able to move it without trusting a third party. Those two things seemed incompatible."
"In 2009, they weren't incompatible anymore."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back to gold would repeat the same cycle. The flaw is structural — physical gold requires physical trust, and physical trust is always eventually abused."
Pull quote is the pivot — it sets up Bitcoin as the logical answer, not a speculative bet.
Let the pull quote land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say that last point again. The first money in human history with a provably fixed supply. Not policy. Not law. Mathematics. The 21 million cap cannot be changed without the agreement of essentially the entire network. In practice: impossible."
"Bitcoin is not a company. There is no CEO, no board, no headquarters. It is a protocol — like the internet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wins on every property — and Bitcoin matches it. But Bitcoin solves the one property gold never could: portability without trust."
"That removes the pressure point that every previous hard money system eventually collapsed through."
"This is why serious economists and monetary historians arrive at Bitcoin not through hype but through logic. It is the natural conclusion of asking: what would perfect money look like — and can it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"The most important thing to understand is not Bitcoin. It is the economic foundation — what easy money costs, what hard money restores, and why the money we use shapes the world we live in. Bitcoin is the solution that follows from that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cards are the demographic bridge. Each one speaks to someone different in the room.
Housing: young adults, families.
Wages: workers, middle class, anyone who feels the treadmill.
Debt: everyone — student loans, mortgages, car payments.
Quality: business owners, anyone who's noticed things don't last like they used to.
"These aren't random outcomes. They have causes. And knowing the causes changes how you respond — you stop blaming yourself for things that aren't your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through these. These are the real questions in the room. Take them one at a time.
On "too late": "The question of when is less important than the question of understanding. If the thesis is correct — and we think it is — the timing is secondary to the framework."
Also be ready for: "What about energy use?" — Bitcoin uses significant energy. But so does gold mining, armored transport, and the global banking system. Whether the value justifies the cost is a legitimate debate.
And: "What if you're wrong?" — An honest answer: you can disagree with the conclusion while accepting the historical record. The wealth gap, the debt explosion, the purchasing power erosion since 1971 are documented facts. This is one framework for explaining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Bitcoin Standard as the single most important next read — it covers everything in this series in far greater depth.
Rothbard is short and free online — good for someone who wants the foundation quickly.
Abundance Architecture and Health Unveiled — your own work in progress. Placeholder now, will expand.
"The six-session series covers each of these six parts in a full two-hour session with structured discussion. If your group wants to go deeper, that format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20 minutes for this. Don't rush.
The best sign the evening worked: people are still talking in the parking lot.
If discussion stalls, go to Question 2 — asking people to push back always generates conversation.
Your job here is to facilitate, not fill. Let the room talk.
The most valuable outcomes are not people buying Bitcoin — they are people understanding their world more clearly and making better decisions as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discussion and questions.
Thank the room genuinely — this took real time and engagement from everyone.
"The fact that you showed up for this conversation says something about you and about this community. These ideas matter. Passing them on — to your families, your neighbors, your networks — is one of the most useful things you can do with what you've learned tonight."
Direct them to freemarketwatch.world for the data and the written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60020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The Hidden Cost</a:t>
            </a:r>
            <a:endParaRPr lang="en-US" sz="4000" dirty="0"/>
          </a:p>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of Money</a:t>
            </a:r>
            <a:endParaRPr lang="en-US" sz="4000" dirty="0"/>
          </a:p>
        </p:txBody>
      </p:sp>
      <p:sp>
        <p:nvSpPr>
          <p:cNvPr id="6" name="Text 4"/>
          <p:cNvSpPr/>
          <p:nvPr/>
        </p:nvSpPr>
        <p:spPr>
          <a:xfrm>
            <a:off x="548640" y="310896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What nobody taught us about how the economy really works</a:t>
            </a:r>
            <a:endParaRPr lang="en-US" sz="1500" dirty="0"/>
          </a:p>
        </p:txBody>
      </p:sp>
      <p:sp>
        <p:nvSpPr>
          <p:cNvPr id="7" name="Text 5"/>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
        <p:nvSpPr>
          <p:cNvPr id="8" name="Text 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We're Covering Tonight</a:t>
            </a:r>
            <a:endParaRPr lang="en-US" sz="2600" dirty="0"/>
          </a:p>
        </p:txBody>
      </p:sp>
      <p:sp>
        <p:nvSpPr>
          <p:cNvPr id="3" name="Shape 1"/>
          <p:cNvSpPr/>
          <p:nvPr/>
        </p:nvSpPr>
        <p:spPr>
          <a:xfrm>
            <a:off x="457200" y="1005840"/>
            <a:ext cx="4023360" cy="71323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457200" cy="713232"/>
          </a:xfrm>
          <a:prstGeom prst="rect">
            <a:avLst/>
          </a:prstGeom>
          <a:solidFill>
            <a:srgbClr val="1A2E5E"/>
          </a:solidFill>
          <a:ln w="12700">
            <a:solidFill>
              <a:srgbClr val="1A2E5E"/>
            </a:solidFill>
            <a:prstDash val="solid"/>
          </a:ln>
        </p:spPr>
      </p:sp>
      <p:sp>
        <p:nvSpPr>
          <p:cNvPr id="5" name="Text 3"/>
          <p:cNvSpPr/>
          <p:nvPr/>
        </p:nvSpPr>
        <p:spPr>
          <a:xfrm>
            <a:off x="457200" y="1024128"/>
            <a:ext cx="457200" cy="676656"/>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978408" y="1088136"/>
            <a:ext cx="3410712"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money exists</a:t>
            </a:r>
            <a:endParaRPr lang="en-US" sz="1200" dirty="0"/>
          </a:p>
        </p:txBody>
      </p:sp>
      <p:sp>
        <p:nvSpPr>
          <p:cNvPr id="7" name="Text 5"/>
          <p:cNvSpPr/>
          <p:nvPr/>
        </p:nvSpPr>
        <p:spPr>
          <a:xfrm>
            <a:off x="978408" y="1353312"/>
            <a:ext cx="3410712"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Trade, specialization, and the engine behind civilization</a:t>
            </a:r>
            <a:endParaRPr lang="en-US" sz="1000" dirty="0"/>
          </a:p>
        </p:txBody>
      </p:sp>
      <p:sp>
        <p:nvSpPr>
          <p:cNvPr id="8" name="Shape 6"/>
          <p:cNvSpPr/>
          <p:nvPr/>
        </p:nvSpPr>
        <p:spPr>
          <a:xfrm>
            <a:off x="457200" y="1828800"/>
            <a:ext cx="4023360" cy="71323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9" name="Shape 7"/>
          <p:cNvSpPr/>
          <p:nvPr/>
        </p:nvSpPr>
        <p:spPr>
          <a:xfrm>
            <a:off x="457200" y="1828800"/>
            <a:ext cx="457200" cy="713232"/>
          </a:xfrm>
          <a:prstGeom prst="rect">
            <a:avLst/>
          </a:prstGeom>
          <a:solidFill>
            <a:srgbClr val="1A2E5E"/>
          </a:solidFill>
          <a:ln w="12700">
            <a:solidFill>
              <a:srgbClr val="1A2E5E"/>
            </a:solidFill>
            <a:prstDash val="solid"/>
          </a:ln>
        </p:spPr>
      </p:sp>
      <p:sp>
        <p:nvSpPr>
          <p:cNvPr id="10" name="Text 8"/>
          <p:cNvSpPr/>
          <p:nvPr/>
        </p:nvSpPr>
        <p:spPr>
          <a:xfrm>
            <a:off x="457200" y="1847088"/>
            <a:ext cx="457200" cy="676656"/>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978408" y="1911096"/>
            <a:ext cx="3410712"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makes good money</a:t>
            </a:r>
            <a:endParaRPr lang="en-US" sz="1200" dirty="0"/>
          </a:p>
        </p:txBody>
      </p:sp>
      <p:sp>
        <p:nvSpPr>
          <p:cNvPr id="12" name="Text 10"/>
          <p:cNvSpPr/>
          <p:nvPr/>
        </p:nvSpPr>
        <p:spPr>
          <a:xfrm>
            <a:off x="978408" y="2176272"/>
            <a:ext cx="3410712"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The properties that separate honest money from a tool of control</a:t>
            </a:r>
            <a:endParaRPr lang="en-US" sz="1000" dirty="0"/>
          </a:p>
        </p:txBody>
      </p:sp>
      <p:sp>
        <p:nvSpPr>
          <p:cNvPr id="13" name="Shape 11"/>
          <p:cNvSpPr/>
          <p:nvPr/>
        </p:nvSpPr>
        <p:spPr>
          <a:xfrm>
            <a:off x="457200" y="2651760"/>
            <a:ext cx="4023360" cy="71323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457200" y="2651760"/>
            <a:ext cx="457200" cy="713232"/>
          </a:xfrm>
          <a:prstGeom prst="rect">
            <a:avLst/>
          </a:prstGeom>
          <a:solidFill>
            <a:srgbClr val="1A2E5E"/>
          </a:solidFill>
          <a:ln w="12700">
            <a:solidFill>
              <a:srgbClr val="1A2E5E"/>
            </a:solidFill>
            <a:prstDash val="solid"/>
          </a:ln>
        </p:spPr>
      </p:sp>
      <p:sp>
        <p:nvSpPr>
          <p:cNvPr id="15" name="Text 13"/>
          <p:cNvSpPr/>
          <p:nvPr/>
        </p:nvSpPr>
        <p:spPr>
          <a:xfrm>
            <a:off x="457200" y="2670048"/>
            <a:ext cx="457200" cy="676656"/>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978408" y="2734056"/>
            <a:ext cx="3410712"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blast radius</a:t>
            </a:r>
            <a:endParaRPr lang="en-US" sz="1200" dirty="0"/>
          </a:p>
        </p:txBody>
      </p:sp>
      <p:sp>
        <p:nvSpPr>
          <p:cNvPr id="17" name="Text 15"/>
          <p:cNvSpPr/>
          <p:nvPr/>
        </p:nvSpPr>
        <p:spPr>
          <a:xfrm>
            <a:off x="978408" y="2999232"/>
            <a:ext cx="3410712"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Debasement, inequality, war, debt, and degrading quality</a:t>
            </a:r>
            <a:endParaRPr lang="en-US" sz="1000" dirty="0"/>
          </a:p>
        </p:txBody>
      </p:sp>
      <p:sp>
        <p:nvSpPr>
          <p:cNvPr id="18" name="Shape 16"/>
          <p:cNvSpPr/>
          <p:nvPr/>
        </p:nvSpPr>
        <p:spPr>
          <a:xfrm>
            <a:off x="4754880" y="1005840"/>
            <a:ext cx="4023360" cy="71323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9" name="Shape 17"/>
          <p:cNvSpPr/>
          <p:nvPr/>
        </p:nvSpPr>
        <p:spPr>
          <a:xfrm>
            <a:off x="4754880" y="1005840"/>
            <a:ext cx="457200" cy="713232"/>
          </a:xfrm>
          <a:prstGeom prst="rect">
            <a:avLst/>
          </a:prstGeom>
          <a:solidFill>
            <a:srgbClr val="1A2E5E"/>
          </a:solidFill>
          <a:ln w="12700">
            <a:solidFill>
              <a:srgbClr val="1A2E5E"/>
            </a:solidFill>
            <a:prstDash val="solid"/>
          </a:ln>
        </p:spPr>
      </p:sp>
      <p:sp>
        <p:nvSpPr>
          <p:cNvPr id="20" name="Text 18"/>
          <p:cNvSpPr/>
          <p:nvPr/>
        </p:nvSpPr>
        <p:spPr>
          <a:xfrm>
            <a:off x="4754880" y="1024128"/>
            <a:ext cx="457200" cy="676656"/>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5276088" y="1088136"/>
            <a:ext cx="3410712"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Hard money changes everything</a:t>
            </a:r>
            <a:endParaRPr lang="en-US" sz="1200" dirty="0"/>
          </a:p>
        </p:txBody>
      </p:sp>
      <p:sp>
        <p:nvSpPr>
          <p:cNvPr id="22" name="Text 20"/>
          <p:cNvSpPr/>
          <p:nvPr/>
        </p:nvSpPr>
        <p:spPr>
          <a:xfrm>
            <a:off x="5276088" y="1353312"/>
            <a:ext cx="3410712"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Time preference and what a different world looks like</a:t>
            </a:r>
            <a:endParaRPr lang="en-US" sz="1000" dirty="0"/>
          </a:p>
        </p:txBody>
      </p:sp>
      <p:sp>
        <p:nvSpPr>
          <p:cNvPr id="23" name="Shape 21"/>
          <p:cNvSpPr/>
          <p:nvPr/>
        </p:nvSpPr>
        <p:spPr>
          <a:xfrm>
            <a:off x="4754880" y="1828800"/>
            <a:ext cx="4023360" cy="71323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4" name="Shape 22"/>
          <p:cNvSpPr/>
          <p:nvPr/>
        </p:nvSpPr>
        <p:spPr>
          <a:xfrm>
            <a:off x="4754880" y="1828800"/>
            <a:ext cx="457200" cy="713232"/>
          </a:xfrm>
          <a:prstGeom prst="rect">
            <a:avLst/>
          </a:prstGeom>
          <a:solidFill>
            <a:srgbClr val="1A2E5E"/>
          </a:solidFill>
          <a:ln w="12700">
            <a:solidFill>
              <a:srgbClr val="1A2E5E"/>
            </a:solidFill>
            <a:prstDash val="solid"/>
          </a:ln>
        </p:spPr>
      </p:sp>
      <p:sp>
        <p:nvSpPr>
          <p:cNvPr id="25" name="Text 23"/>
          <p:cNvSpPr/>
          <p:nvPr/>
        </p:nvSpPr>
        <p:spPr>
          <a:xfrm>
            <a:off x="4754880" y="1847088"/>
            <a:ext cx="457200" cy="676656"/>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05</a:t>
            </a:r>
            <a:endParaRPr lang="en-US" sz="1300" dirty="0"/>
          </a:p>
        </p:txBody>
      </p:sp>
      <p:sp>
        <p:nvSpPr>
          <p:cNvPr id="26" name="Text 24"/>
          <p:cNvSpPr/>
          <p:nvPr/>
        </p:nvSpPr>
        <p:spPr>
          <a:xfrm>
            <a:off x="5276088" y="1911096"/>
            <a:ext cx="3410712"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Bitcoin</a:t>
            </a:r>
            <a:endParaRPr lang="en-US" sz="1200" dirty="0"/>
          </a:p>
        </p:txBody>
      </p:sp>
      <p:sp>
        <p:nvSpPr>
          <p:cNvPr id="27" name="Text 25"/>
          <p:cNvSpPr/>
          <p:nvPr/>
        </p:nvSpPr>
        <p:spPr>
          <a:xfrm>
            <a:off x="5276088" y="2176272"/>
            <a:ext cx="3410712"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The answer to the question gold could not solve</a:t>
            </a:r>
            <a:endParaRPr lang="en-US" sz="1000" dirty="0"/>
          </a:p>
        </p:txBody>
      </p:sp>
      <p:sp>
        <p:nvSpPr>
          <p:cNvPr id="28" name="Shape 26"/>
          <p:cNvSpPr/>
          <p:nvPr/>
        </p:nvSpPr>
        <p:spPr>
          <a:xfrm>
            <a:off x="4754880" y="2651760"/>
            <a:ext cx="4023360" cy="71323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9" name="Shape 27"/>
          <p:cNvSpPr/>
          <p:nvPr/>
        </p:nvSpPr>
        <p:spPr>
          <a:xfrm>
            <a:off x="4754880" y="2651760"/>
            <a:ext cx="457200" cy="713232"/>
          </a:xfrm>
          <a:prstGeom prst="rect">
            <a:avLst/>
          </a:prstGeom>
          <a:solidFill>
            <a:srgbClr val="1A2E5E"/>
          </a:solidFill>
          <a:ln w="12700">
            <a:solidFill>
              <a:srgbClr val="1A2E5E"/>
            </a:solidFill>
            <a:prstDash val="solid"/>
          </a:ln>
        </p:spPr>
      </p:sp>
      <p:sp>
        <p:nvSpPr>
          <p:cNvPr id="30" name="Text 28"/>
          <p:cNvSpPr/>
          <p:nvPr/>
        </p:nvSpPr>
        <p:spPr>
          <a:xfrm>
            <a:off x="4754880" y="2670048"/>
            <a:ext cx="457200" cy="676656"/>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06</a:t>
            </a:r>
            <a:endParaRPr lang="en-US" sz="1300" dirty="0"/>
          </a:p>
        </p:txBody>
      </p:sp>
      <p:sp>
        <p:nvSpPr>
          <p:cNvPr id="31" name="Text 29"/>
          <p:cNvSpPr/>
          <p:nvPr/>
        </p:nvSpPr>
        <p:spPr>
          <a:xfrm>
            <a:off x="5276088" y="2734056"/>
            <a:ext cx="3410712"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comes next</a:t>
            </a:r>
            <a:endParaRPr lang="en-US" sz="1200" dirty="0"/>
          </a:p>
        </p:txBody>
      </p:sp>
      <p:sp>
        <p:nvSpPr>
          <p:cNvPr id="32" name="Text 30"/>
          <p:cNvSpPr/>
          <p:nvPr/>
        </p:nvSpPr>
        <p:spPr>
          <a:xfrm>
            <a:off x="5276088" y="2999232"/>
            <a:ext cx="3410712"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Questions, resources, community</a:t>
            </a:r>
            <a:endParaRPr lang="en-US" sz="1000" dirty="0"/>
          </a:p>
        </p:txBody>
      </p:sp>
      <p:sp>
        <p:nvSpPr>
          <p:cNvPr id="33" name="Text 3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1 OF 6</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Why Money Exists</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And why it matters more than you think</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Specialization Through Trade</a:t>
            </a:r>
            <a:endParaRPr lang="en-US" sz="2600" dirty="0"/>
          </a:p>
        </p:txBody>
      </p:sp>
      <p:sp>
        <p:nvSpPr>
          <p:cNvPr id="3" name="Shape 1"/>
          <p:cNvSpPr/>
          <p:nvPr/>
        </p:nvSpPr>
        <p:spPr>
          <a:xfrm>
            <a:off x="457200" y="960120"/>
            <a:ext cx="4023360" cy="338328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640080" y="1097280"/>
            <a:ext cx="3657600" cy="2377440"/>
          </a:xfrm>
          <a:prstGeom prst="rect">
            <a:avLst/>
          </a:prstGeom>
          <a:noFill/>
          <a:ln/>
        </p:spPr>
        <p:txBody>
          <a:bodyPr wrap="square" rtlCol="0" anchor="ctr"/>
          <a:lstStyle/>
          <a:p>
            <a:pPr indent="0" marL="0">
              <a:lnSpc>
                <a:spcPct val="160000"/>
              </a:lnSpc>
              <a:buNone/>
            </a:pPr>
            <a:r>
              <a:rPr lang="en-US" sz="1350" i="1" dirty="0">
                <a:solidFill>
                  <a:srgbClr val="E8EAF6"/>
                </a:solidFill>
                <a:latin typeface="Georgia" pitchFamily="34" charset="0"/>
                <a:ea typeface="Georgia" pitchFamily="34" charset="-122"/>
                <a:cs typeface="Georgia" pitchFamily="34" charset="-120"/>
              </a:rPr>
              <a:t>“Every product you own, every service you use, every medicine that has ever saved a life — all of it exists because humans figured out how to trade with strangers they would never meet.”</a:t>
            </a:r>
            <a:endParaRPr lang="en-US" sz="1350" dirty="0"/>
          </a:p>
        </p:txBody>
      </p:sp>
      <p:sp>
        <p:nvSpPr>
          <p:cNvPr id="5" name="Shape 3"/>
          <p:cNvSpPr/>
          <p:nvPr/>
        </p:nvSpPr>
        <p:spPr>
          <a:xfrm>
            <a:off x="640080" y="3547872"/>
            <a:ext cx="365760" cy="36576"/>
          </a:xfrm>
          <a:prstGeom prst="rect">
            <a:avLst/>
          </a:prstGeom>
          <a:solidFill>
            <a:srgbClr val="C9A84C"/>
          </a:solidFill>
          <a:ln w="12700">
            <a:solidFill>
              <a:srgbClr val="C9A84C"/>
            </a:solidFill>
            <a:prstDash val="solid"/>
          </a:ln>
        </p:spPr>
      </p:sp>
      <p:sp>
        <p:nvSpPr>
          <p:cNvPr id="6" name="Text 4"/>
          <p:cNvSpPr/>
          <p:nvPr/>
        </p:nvSpPr>
        <p:spPr>
          <a:xfrm>
            <a:off x="640080" y="3611880"/>
            <a:ext cx="3657600" cy="201168"/>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freeMarketWatch Education Series</a:t>
            </a:r>
            <a:endParaRPr lang="en-US" sz="900" dirty="0"/>
          </a:p>
        </p:txBody>
      </p:sp>
      <p:sp>
        <p:nvSpPr>
          <p:cNvPr id="7" name="Shape 5"/>
          <p:cNvSpPr/>
          <p:nvPr/>
        </p:nvSpPr>
        <p:spPr>
          <a:xfrm>
            <a:off x="4754880" y="960120"/>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754880" y="960120"/>
            <a:ext cx="54864" cy="1051560"/>
          </a:xfrm>
          <a:prstGeom prst="rect">
            <a:avLst/>
          </a:prstGeom>
          <a:solidFill>
            <a:srgbClr val="C9A84C"/>
          </a:solidFill>
          <a:ln w="12700">
            <a:solidFill>
              <a:srgbClr val="C9A84C"/>
            </a:solidFill>
            <a:prstDash val="solid"/>
          </a:ln>
        </p:spPr>
      </p:sp>
      <p:sp>
        <p:nvSpPr>
          <p:cNvPr id="9" name="Text 7"/>
          <p:cNvSpPr/>
          <p:nvPr/>
        </p:nvSpPr>
        <p:spPr>
          <a:xfrm>
            <a:off x="4882896" y="1051560"/>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Lines of production lengthen</a:t>
            </a:r>
            <a:endParaRPr lang="en-US" sz="1200" dirty="0"/>
          </a:p>
        </p:txBody>
      </p:sp>
      <p:sp>
        <p:nvSpPr>
          <p:cNvPr id="10" name="Text 8"/>
          <p:cNvSpPr/>
          <p:nvPr/>
        </p:nvSpPr>
        <p:spPr>
          <a:xfrm>
            <a:off x="4882896" y="1344168"/>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Each trade adds a specialist. Economists call this lengthening the lines of production — the longer the chain, the more complex the output.</a:t>
            </a:r>
            <a:endParaRPr lang="en-US" sz="1050" dirty="0"/>
          </a:p>
        </p:txBody>
      </p:sp>
      <p:sp>
        <p:nvSpPr>
          <p:cNvPr id="11" name="Shape 9"/>
          <p:cNvSpPr/>
          <p:nvPr/>
        </p:nvSpPr>
        <p:spPr>
          <a:xfrm>
            <a:off x="4754880" y="2121408"/>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754880" y="2121408"/>
            <a:ext cx="54864" cy="1051560"/>
          </a:xfrm>
          <a:prstGeom prst="rect">
            <a:avLst/>
          </a:prstGeom>
          <a:solidFill>
            <a:srgbClr val="C9A84C"/>
          </a:solidFill>
          <a:ln w="12700">
            <a:solidFill>
              <a:srgbClr val="C9A84C"/>
            </a:solidFill>
            <a:prstDash val="solid"/>
          </a:ln>
        </p:spPr>
      </p:sp>
      <p:sp>
        <p:nvSpPr>
          <p:cNvPr id="13" name="Text 11"/>
          <p:cNvSpPr/>
          <p:nvPr/>
        </p:nvSpPr>
        <p:spPr>
          <a:xfrm>
            <a:off x="4882896" y="2212848"/>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Civilization emerges</a:t>
            </a:r>
            <a:endParaRPr lang="en-US" sz="1200" dirty="0"/>
          </a:p>
        </p:txBody>
      </p:sp>
      <p:sp>
        <p:nvSpPr>
          <p:cNvPr id="14" name="Text 12"/>
          <p:cNvSpPr/>
          <p:nvPr/>
        </p:nvSpPr>
        <p:spPr>
          <a:xfrm>
            <a:off x="4882896" y="2505456"/>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Hospitals, infrastructure, technology — all accumulated results of billions of trades compounding over centuries.</a:t>
            </a:r>
            <a:endParaRPr lang="en-US" sz="1050" dirty="0"/>
          </a:p>
        </p:txBody>
      </p:sp>
      <p:sp>
        <p:nvSpPr>
          <p:cNvPr id="15" name="Shape 13"/>
          <p:cNvSpPr/>
          <p:nvPr/>
        </p:nvSpPr>
        <p:spPr>
          <a:xfrm>
            <a:off x="4754880" y="3282696"/>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754880" y="3282696"/>
            <a:ext cx="54864" cy="1051560"/>
          </a:xfrm>
          <a:prstGeom prst="rect">
            <a:avLst/>
          </a:prstGeom>
          <a:solidFill>
            <a:srgbClr val="C9A84C"/>
          </a:solidFill>
          <a:ln w="12700">
            <a:solidFill>
              <a:srgbClr val="C9A84C"/>
            </a:solidFill>
            <a:prstDash val="solid"/>
          </a:ln>
        </p:spPr>
      </p:sp>
      <p:sp>
        <p:nvSpPr>
          <p:cNvPr id="17" name="Text 15"/>
          <p:cNvSpPr/>
          <p:nvPr/>
        </p:nvSpPr>
        <p:spPr>
          <a:xfrm>
            <a:off x="4882896" y="3374136"/>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But classic barter breaks down</a:t>
            </a:r>
            <a:endParaRPr lang="en-US" sz="1200" dirty="0"/>
          </a:p>
        </p:txBody>
      </p:sp>
      <p:sp>
        <p:nvSpPr>
          <p:cNvPr id="18" name="Text 16"/>
          <p:cNvSpPr/>
          <p:nvPr/>
        </p:nvSpPr>
        <p:spPr>
          <a:xfrm>
            <a:off x="4882896" y="3666744"/>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Barter requires a double coincidence of wants — you need someone who has what you need AND wants what you have, right now. Impossible at scale.</a:t>
            </a:r>
            <a:endParaRPr lang="en-US" sz="105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Money: A Human Invention</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“Money is as human as language. Both emerged from collective need, not central design.”</a:t>
            </a:r>
            <a:endParaRPr lang="en-US" sz="1350" dirty="0"/>
          </a:p>
        </p:txBody>
      </p:sp>
      <p:sp>
        <p:nvSpPr>
          <p:cNvPr id="6" name="Text 4"/>
          <p:cNvSpPr/>
          <p:nvPr/>
        </p:nvSpPr>
        <p:spPr>
          <a:xfrm>
            <a:off x="548640" y="2075688"/>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Money did not come from a government decree. It emerged naturally, from the bottom up, wherever people traded. Shells, cattle, salt, beads, and eventually metals — each community converged on whatever worked best as a go-between.</a:t>
            </a:r>
            <a:endParaRPr lang="en-US" sz="1300" dirty="0"/>
          </a:p>
        </p:txBody>
      </p:sp>
      <p:sp>
        <p:nvSpPr>
          <p:cNvPr id="7" name="Text 5"/>
          <p:cNvSpPr/>
          <p:nvPr/>
        </p:nvSpPr>
        <p:spPr>
          <a:xfrm>
            <a:off x="548640" y="3246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Every civilization on earth independently arrived at the same answer. That convergence is as close as economics gets to a controlled experiment. The monies that survived thousands of years of competition shared specific properties. The ones that failed were missing one or more.</a:t>
            </a:r>
            <a:endParaRPr lang="en-US" sz="1300" dirty="0"/>
          </a:p>
        </p:txBody>
      </p:sp>
      <p:sp>
        <p:nvSpPr>
          <p:cNvPr id="8" name="Text 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2 OF 6</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What Makes Good Money</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And what makes it a weapon</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Properties of Sound Money</a:t>
            </a:r>
            <a:endParaRPr lang="en-US" sz="2600" dirty="0"/>
          </a:p>
        </p:txBody>
      </p:sp>
      <p:sp>
        <p:nvSpPr>
          <p:cNvPr id="3" name="Shape 1"/>
          <p:cNvSpPr/>
          <p:nvPr/>
        </p:nvSpPr>
        <p:spPr>
          <a:xfrm>
            <a:off x="457200"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566928"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Scarce</a:t>
            </a:r>
            <a:endParaRPr lang="en-US" sz="1300" dirty="0"/>
          </a:p>
        </p:txBody>
      </p:sp>
      <p:sp>
        <p:nvSpPr>
          <p:cNvPr id="5" name="Text 3"/>
          <p:cNvSpPr/>
          <p:nvPr/>
        </p:nvSpPr>
        <p:spPr>
          <a:xfrm>
            <a:off x="566928"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Cannot be created freely. If anyone can make more, it loses value.</a:t>
            </a:r>
            <a:endParaRPr lang="en-US" sz="1050" dirty="0"/>
          </a:p>
        </p:txBody>
      </p:sp>
      <p:sp>
        <p:nvSpPr>
          <p:cNvPr id="6" name="Shape 4"/>
          <p:cNvSpPr/>
          <p:nvPr/>
        </p:nvSpPr>
        <p:spPr>
          <a:xfrm>
            <a:off x="2532888"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7" name="Text 5"/>
          <p:cNvSpPr/>
          <p:nvPr/>
        </p:nvSpPr>
        <p:spPr>
          <a:xfrm>
            <a:off x="2642616"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Durable</a:t>
            </a:r>
            <a:endParaRPr lang="en-US" sz="1300" dirty="0"/>
          </a:p>
        </p:txBody>
      </p:sp>
      <p:sp>
        <p:nvSpPr>
          <p:cNvPr id="8" name="Text 6"/>
          <p:cNvSpPr/>
          <p:nvPr/>
        </p:nvSpPr>
        <p:spPr>
          <a:xfrm>
            <a:off x="2642616"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Does not rot, rust, or degrade. Stores value across time.</a:t>
            </a:r>
            <a:endParaRPr lang="en-US" sz="1050" dirty="0"/>
          </a:p>
        </p:txBody>
      </p:sp>
      <p:sp>
        <p:nvSpPr>
          <p:cNvPr id="9" name="Shape 7"/>
          <p:cNvSpPr/>
          <p:nvPr/>
        </p:nvSpPr>
        <p:spPr>
          <a:xfrm>
            <a:off x="4608576"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4718304"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Divisible</a:t>
            </a:r>
            <a:endParaRPr lang="en-US" sz="1300" dirty="0"/>
          </a:p>
        </p:txBody>
      </p:sp>
      <p:sp>
        <p:nvSpPr>
          <p:cNvPr id="11" name="Text 9"/>
          <p:cNvSpPr/>
          <p:nvPr/>
        </p:nvSpPr>
        <p:spPr>
          <a:xfrm>
            <a:off x="4718304"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Can be split into units for any transaction size.</a:t>
            </a:r>
            <a:endParaRPr lang="en-US" sz="1050" dirty="0"/>
          </a:p>
        </p:txBody>
      </p:sp>
      <p:sp>
        <p:nvSpPr>
          <p:cNvPr id="12" name="Shape 10"/>
          <p:cNvSpPr/>
          <p:nvPr/>
        </p:nvSpPr>
        <p:spPr>
          <a:xfrm>
            <a:off x="6684264"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3" name="Text 11"/>
          <p:cNvSpPr/>
          <p:nvPr/>
        </p:nvSpPr>
        <p:spPr>
          <a:xfrm>
            <a:off x="6793992"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Fungible</a:t>
            </a:r>
            <a:endParaRPr lang="en-US" sz="1300" dirty="0"/>
          </a:p>
        </p:txBody>
      </p:sp>
      <p:sp>
        <p:nvSpPr>
          <p:cNvPr id="14" name="Text 12"/>
          <p:cNvSpPr/>
          <p:nvPr/>
        </p:nvSpPr>
        <p:spPr>
          <a:xfrm>
            <a:off x="6793992"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Each unit identical to every other. One dollar = any other dollar.</a:t>
            </a:r>
            <a:endParaRPr lang="en-US" sz="1050" dirty="0"/>
          </a:p>
        </p:txBody>
      </p:sp>
      <p:sp>
        <p:nvSpPr>
          <p:cNvPr id="15" name="Shape 13"/>
          <p:cNvSpPr/>
          <p:nvPr/>
        </p:nvSpPr>
        <p:spPr>
          <a:xfrm>
            <a:off x="457200" y="210312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6" name="Text 14"/>
          <p:cNvSpPr/>
          <p:nvPr/>
        </p:nvSpPr>
        <p:spPr>
          <a:xfrm>
            <a:off x="566928" y="219456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Portable</a:t>
            </a:r>
            <a:endParaRPr lang="en-US" sz="1300" dirty="0"/>
          </a:p>
        </p:txBody>
      </p:sp>
      <p:sp>
        <p:nvSpPr>
          <p:cNvPr id="17" name="Text 15"/>
          <p:cNvSpPr/>
          <p:nvPr/>
        </p:nvSpPr>
        <p:spPr>
          <a:xfrm>
            <a:off x="566928" y="246888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Easy to carry and transfer. Wealth must be able to move.</a:t>
            </a:r>
            <a:endParaRPr lang="en-US" sz="1050" dirty="0"/>
          </a:p>
        </p:txBody>
      </p:sp>
      <p:sp>
        <p:nvSpPr>
          <p:cNvPr id="18" name="Shape 16"/>
          <p:cNvSpPr/>
          <p:nvPr/>
        </p:nvSpPr>
        <p:spPr>
          <a:xfrm>
            <a:off x="2532888" y="210312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9" name="Text 17"/>
          <p:cNvSpPr/>
          <p:nvPr/>
        </p:nvSpPr>
        <p:spPr>
          <a:xfrm>
            <a:off x="2642616" y="219456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Verifiable</a:t>
            </a:r>
            <a:endParaRPr lang="en-US" sz="1300" dirty="0"/>
          </a:p>
        </p:txBody>
      </p:sp>
      <p:sp>
        <p:nvSpPr>
          <p:cNvPr id="20" name="Text 18"/>
          <p:cNvSpPr/>
          <p:nvPr/>
        </p:nvSpPr>
        <p:spPr>
          <a:xfrm>
            <a:off x="2642616" y="246888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Anyone can confirm its authenticity without special authority.</a:t>
            </a:r>
            <a:endParaRPr lang="en-US" sz="1050" dirty="0"/>
          </a:p>
        </p:txBody>
      </p:sp>
      <p:sp>
        <p:nvSpPr>
          <p:cNvPr id="21" name="Shape 19"/>
          <p:cNvSpPr/>
          <p:nvPr/>
        </p:nvSpPr>
        <p:spPr>
          <a:xfrm>
            <a:off x="4608576" y="210312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22" name="Text 20"/>
          <p:cNvSpPr/>
          <p:nvPr/>
        </p:nvSpPr>
        <p:spPr>
          <a:xfrm>
            <a:off x="4718304" y="219456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Decentralized</a:t>
            </a:r>
            <a:endParaRPr lang="en-US" sz="1300" dirty="0"/>
          </a:p>
        </p:txBody>
      </p:sp>
      <p:sp>
        <p:nvSpPr>
          <p:cNvPr id="23" name="Text 21"/>
          <p:cNvSpPr/>
          <p:nvPr/>
        </p:nvSpPr>
        <p:spPr>
          <a:xfrm>
            <a:off x="4718304" y="246888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No single entity controls it. Control invites manipulation.</a:t>
            </a:r>
            <a:endParaRPr lang="en-US" sz="1050" dirty="0"/>
          </a:p>
        </p:txBody>
      </p:sp>
      <p:sp>
        <p:nvSpPr>
          <p:cNvPr id="24" name="Text 22"/>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Gold Won the Competition</a:t>
            </a:r>
            <a:endParaRPr lang="en-US" sz="2600" dirty="0"/>
          </a:p>
        </p:txBody>
      </p:sp>
      <p:sp>
        <p:nvSpPr>
          <p:cNvPr id="3" name="Shape 1"/>
          <p:cNvSpPr/>
          <p:nvPr/>
        </p:nvSpPr>
        <p:spPr>
          <a:xfrm>
            <a:off x="457200" y="960120"/>
            <a:ext cx="4023360" cy="338328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640080" y="1097280"/>
            <a:ext cx="3657600" cy="2377440"/>
          </a:xfrm>
          <a:prstGeom prst="rect">
            <a:avLst/>
          </a:prstGeom>
          <a:noFill/>
          <a:ln/>
        </p:spPr>
        <p:txBody>
          <a:bodyPr wrap="square" rtlCol="0" anchor="ctr"/>
          <a:lstStyle/>
          <a:p>
            <a:pPr indent="0" marL="0">
              <a:lnSpc>
                <a:spcPct val="160000"/>
              </a:lnSpc>
              <a:buNone/>
            </a:pPr>
            <a:r>
              <a:rPr lang="en-US" sz="1350" i="1" dirty="0">
                <a:solidFill>
                  <a:srgbClr val="E8EAF6"/>
                </a:solidFill>
                <a:latin typeface="Georgia" pitchFamily="34" charset="0"/>
                <a:ea typeface="Georgia" pitchFamily="34" charset="-122"/>
                <a:cs typeface="Georgia" pitchFamily="34" charset="-120"/>
              </a:rPr>
              <a:t>“Gold did not become the world's reserve money because kings decreed it. It became reserve money because it kept winning the competition. Every civilization that encountered it independently arrived at the same conclusion.”</a:t>
            </a:r>
            <a:endParaRPr lang="en-US" sz="1350" dirty="0"/>
          </a:p>
        </p:txBody>
      </p:sp>
      <p:sp>
        <p:nvSpPr>
          <p:cNvPr id="5" name="Shape 3"/>
          <p:cNvSpPr/>
          <p:nvPr/>
        </p:nvSpPr>
        <p:spPr>
          <a:xfrm>
            <a:off x="640080" y="3547872"/>
            <a:ext cx="365760" cy="36576"/>
          </a:xfrm>
          <a:prstGeom prst="rect">
            <a:avLst/>
          </a:prstGeom>
          <a:solidFill>
            <a:srgbClr val="C9A84C"/>
          </a:solidFill>
          <a:ln w="12700">
            <a:solidFill>
              <a:srgbClr val="C9A84C"/>
            </a:solidFill>
            <a:prstDash val="solid"/>
          </a:ln>
        </p:spPr>
      </p:sp>
      <p:sp>
        <p:nvSpPr>
          <p:cNvPr id="6" name="Text 4"/>
          <p:cNvSpPr/>
          <p:nvPr/>
        </p:nvSpPr>
        <p:spPr>
          <a:xfrm>
            <a:off x="640080" y="3611880"/>
            <a:ext cx="3657600" cy="201168"/>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freeMarketWatch Education Series</a:t>
            </a:r>
            <a:endParaRPr lang="en-US" sz="900" dirty="0"/>
          </a:p>
        </p:txBody>
      </p:sp>
      <p:sp>
        <p:nvSpPr>
          <p:cNvPr id="7" name="Shape 5"/>
          <p:cNvSpPr/>
          <p:nvPr/>
        </p:nvSpPr>
        <p:spPr>
          <a:xfrm>
            <a:off x="4754880" y="960120"/>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754880" y="960120"/>
            <a:ext cx="54864" cy="1051560"/>
          </a:xfrm>
          <a:prstGeom prst="rect">
            <a:avLst/>
          </a:prstGeom>
          <a:solidFill>
            <a:srgbClr val="C9A84C"/>
          </a:solidFill>
          <a:ln w="12700">
            <a:solidFill>
              <a:srgbClr val="C9A84C"/>
            </a:solidFill>
            <a:prstDash val="solid"/>
          </a:ln>
        </p:spPr>
      </p:sp>
      <p:sp>
        <p:nvSpPr>
          <p:cNvPr id="9" name="Text 7"/>
          <p:cNvSpPr/>
          <p:nvPr/>
        </p:nvSpPr>
        <p:spPr>
          <a:xfrm>
            <a:off x="4882896" y="1051560"/>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Extraordinarily scarce</a:t>
            </a:r>
            <a:endParaRPr lang="en-US" sz="1200" dirty="0"/>
          </a:p>
        </p:txBody>
      </p:sp>
      <p:sp>
        <p:nvSpPr>
          <p:cNvPr id="10" name="Text 8"/>
          <p:cNvSpPr/>
          <p:nvPr/>
        </p:nvSpPr>
        <p:spPr>
          <a:xfrm>
            <a:off x="4882896" y="1344168"/>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All the gold ever mined in history would fill roughly 3.5 Olympic swimming pools. New supply is slow and limited.</a:t>
            </a:r>
            <a:endParaRPr lang="en-US" sz="1050" dirty="0"/>
          </a:p>
        </p:txBody>
      </p:sp>
      <p:sp>
        <p:nvSpPr>
          <p:cNvPr id="11" name="Shape 9"/>
          <p:cNvSpPr/>
          <p:nvPr/>
        </p:nvSpPr>
        <p:spPr>
          <a:xfrm>
            <a:off x="4754880" y="2121408"/>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754880" y="2121408"/>
            <a:ext cx="54864" cy="1051560"/>
          </a:xfrm>
          <a:prstGeom prst="rect">
            <a:avLst/>
          </a:prstGeom>
          <a:solidFill>
            <a:srgbClr val="C9A84C"/>
          </a:solidFill>
          <a:ln w="12700">
            <a:solidFill>
              <a:srgbClr val="C9A84C"/>
            </a:solidFill>
            <a:prstDash val="solid"/>
          </a:ln>
        </p:spPr>
      </p:sp>
      <p:sp>
        <p:nvSpPr>
          <p:cNvPr id="13" name="Text 11"/>
          <p:cNvSpPr/>
          <p:nvPr/>
        </p:nvSpPr>
        <p:spPr>
          <a:xfrm>
            <a:off x="4882896" y="2212848"/>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Durable, divisible, fungible</a:t>
            </a:r>
            <a:endParaRPr lang="en-US" sz="1200" dirty="0"/>
          </a:p>
        </p:txBody>
      </p:sp>
      <p:sp>
        <p:nvSpPr>
          <p:cNvPr id="14" name="Text 12"/>
          <p:cNvSpPr/>
          <p:nvPr/>
        </p:nvSpPr>
        <p:spPr>
          <a:xfrm>
            <a:off x="4882896" y="2505456"/>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Does not corrode. Recognizable and valued anywhere on earth. Divisible into smaller units.</a:t>
            </a:r>
            <a:endParaRPr lang="en-US" sz="1050" dirty="0"/>
          </a:p>
        </p:txBody>
      </p:sp>
      <p:sp>
        <p:nvSpPr>
          <p:cNvPr id="15" name="Shape 13"/>
          <p:cNvSpPr/>
          <p:nvPr/>
        </p:nvSpPr>
        <p:spPr>
          <a:xfrm>
            <a:off x="4754880" y="3282696"/>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754880" y="3282696"/>
            <a:ext cx="54864" cy="1051560"/>
          </a:xfrm>
          <a:prstGeom prst="rect">
            <a:avLst/>
          </a:prstGeom>
          <a:solidFill>
            <a:srgbClr val="C9A84C"/>
          </a:solidFill>
          <a:ln w="12700">
            <a:solidFill>
              <a:srgbClr val="C9A84C"/>
            </a:solidFill>
            <a:prstDash val="solid"/>
          </a:ln>
        </p:spPr>
      </p:sp>
      <p:sp>
        <p:nvSpPr>
          <p:cNvPr id="17" name="Text 15"/>
          <p:cNvSpPr/>
          <p:nvPr/>
        </p:nvSpPr>
        <p:spPr>
          <a:xfrm>
            <a:off x="4882896" y="3374136"/>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Gold's one fatal flaw</a:t>
            </a:r>
            <a:endParaRPr lang="en-US" sz="1200" dirty="0"/>
          </a:p>
        </p:txBody>
      </p:sp>
      <p:sp>
        <p:nvSpPr>
          <p:cNvPr id="18" name="Text 16"/>
          <p:cNvSpPr/>
          <p:nvPr/>
        </p:nvSpPr>
        <p:spPr>
          <a:xfrm>
            <a:off x="4882896" y="3666744"/>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It is heavy. Moving large amounts requires trusted custodians — and trust, over time, was always abused.</a:t>
            </a:r>
            <a:endParaRPr lang="en-US" sz="105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Crack in the Door</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practical solution</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Store gold with trusted custodians — banks — and carry paper certificates redeemable for gold. Convenient. Practical. Everyone wins.</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quiet abuse</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Custodians noticed most people never collected their gold at once. So they issued more certificates than gold existed. Quietly. Incrementally. This became fractional reserve banking.</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Central banks take over</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Governments institutionalized the system. Central banks became the trusted third party managing the money supply — empowered to create money to fund wars and bail out failures.</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1971: the last constraint removed</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On August 15, 1971, Nixon severed the last link between the dollar and gold. From that moment: no limit on money creation. The discipline was gone entirely.</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3 OF 6</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The Blast Radius</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What unlimited money creation does to the world</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Debasement — Not Inflation</a:t>
            </a:r>
            <a:endParaRPr lang="en-US" sz="2600" dirty="0"/>
          </a:p>
        </p:txBody>
      </p:sp>
      <p:sp>
        <p:nvSpPr>
          <p:cNvPr id="3" name="Text 1"/>
          <p:cNvSpPr/>
          <p:nvPr/>
        </p:nvSpPr>
        <p:spPr>
          <a:xfrm>
            <a:off x="548640" y="960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Technology makes production cheaper every year. Computers, phones, and televisions cost less in real terms than a decade ago because we got better at making them. If that logic held across the economy, most things should be getting cheaper over time.</a:t>
            </a:r>
            <a:endParaRPr lang="en-US" sz="1300" dirty="0"/>
          </a:p>
        </p:txBody>
      </p:sp>
      <p:sp>
        <p:nvSpPr>
          <p:cNvPr id="4" name="Text 2"/>
          <p:cNvSpPr/>
          <p:nvPr/>
        </p:nvSpPr>
        <p:spPr>
          <a:xfrm>
            <a:off x="548640" y="2130552"/>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fact that they are not points to something else. Prices rise not because goods are gaining value — but because the money measuring them is losing it. A better word for this is debasement — the deliberate dilution of money's purchasing power through the creation of more of it.</a:t>
            </a:r>
            <a:endParaRPr lang="en-US" sz="1300" dirty="0"/>
          </a:p>
        </p:txBody>
      </p:sp>
      <p:sp>
        <p:nvSpPr>
          <p:cNvPr id="5" name="Text 3"/>
          <p:cNvSpPr/>
          <p:nvPr/>
        </p:nvSpPr>
        <p:spPr>
          <a:xfrm>
            <a:off x="548640" y="3300984"/>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And crucially: the value savers lose does not disappear. It is transferred — to those who created the new money and spent it first.</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Numbers Are Not Abstract</a:t>
            </a:r>
            <a:endParaRPr lang="en-US" sz="2600" dirty="0"/>
          </a:p>
        </p:txBody>
      </p:sp>
      <p:sp>
        <p:nvSpPr>
          <p:cNvPr id="3" name="Shape 1"/>
          <p:cNvSpPr/>
          <p:nvPr/>
        </p:nvSpPr>
        <p:spPr>
          <a:xfrm>
            <a:off x="4572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4572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97%</a:t>
            </a:r>
            <a:endParaRPr lang="en-US" sz="3600" dirty="0"/>
          </a:p>
        </p:txBody>
      </p:sp>
      <p:sp>
        <p:nvSpPr>
          <p:cNvPr id="5" name="Text 3"/>
          <p:cNvSpPr/>
          <p:nvPr/>
        </p:nvSpPr>
        <p:spPr>
          <a:xfrm>
            <a:off x="5943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Loss in US dollar purchasing power since the Federal Reserve was created in 1913</a:t>
            </a:r>
            <a:endParaRPr lang="en-US" sz="1100" dirty="0"/>
          </a:p>
        </p:txBody>
      </p:sp>
      <p:sp>
        <p:nvSpPr>
          <p:cNvPr id="6" name="Shape 4"/>
          <p:cNvSpPr/>
          <p:nvPr/>
        </p:nvSpPr>
        <p:spPr>
          <a:xfrm>
            <a:off x="32004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7" name="Text 5"/>
          <p:cNvSpPr/>
          <p:nvPr/>
        </p:nvSpPr>
        <p:spPr>
          <a:xfrm>
            <a:off x="32004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1971</a:t>
            </a:r>
            <a:endParaRPr lang="en-US" sz="3600" dirty="0"/>
          </a:p>
        </p:txBody>
      </p:sp>
      <p:sp>
        <p:nvSpPr>
          <p:cNvPr id="8" name="Text 6"/>
          <p:cNvSpPr/>
          <p:nvPr/>
        </p:nvSpPr>
        <p:spPr>
          <a:xfrm>
            <a:off x="33375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Year the last link between the dollar and gold was severed — money creation became unlimited</a:t>
            </a:r>
            <a:endParaRPr lang="en-US" sz="1100" dirty="0"/>
          </a:p>
        </p:txBody>
      </p:sp>
      <p:sp>
        <p:nvSpPr>
          <p:cNvPr id="9" name="Shape 7"/>
          <p:cNvSpPr/>
          <p:nvPr/>
        </p:nvSpPr>
        <p:spPr>
          <a:xfrm>
            <a:off x="59436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59436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85×</a:t>
            </a:r>
            <a:endParaRPr lang="en-US" sz="3600" dirty="0"/>
          </a:p>
        </p:txBody>
      </p:sp>
      <p:sp>
        <p:nvSpPr>
          <p:cNvPr id="11" name="Text 9"/>
          <p:cNvSpPr/>
          <p:nvPr/>
        </p:nvSpPr>
        <p:spPr>
          <a:xfrm>
            <a:off x="60807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Increase in US national debt since 1971 — from $400B to over $34 trillion</a:t>
            </a:r>
            <a:endParaRPr lang="en-US" sz="1100" dirty="0"/>
          </a:p>
        </p:txBody>
      </p:sp>
      <p:sp>
        <p:nvSpPr>
          <p:cNvPr id="12" name="Text 10"/>
          <p:cNvSpPr/>
          <p:nvPr/>
        </p:nvSpPr>
        <p:spPr>
          <a:xfrm>
            <a:off x="548640" y="2743200"/>
            <a:ext cx="8046720" cy="1645920"/>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Economists call the mechanism behind this the Cantillon effect — new money flows to those closest to its source first, before prices rise. Those early recipients deliberately buy assets they know will appreciate. By the time new money reaches ordinary wage earners, prices have already adjusted. Workers see rising costs, not rising wages.</a:t>
            </a:r>
            <a:endParaRPr lang="en-US" sz="1300" dirty="0"/>
          </a:p>
        </p:txBody>
      </p:sp>
      <p:sp>
        <p:nvSpPr>
          <p:cNvPr id="13" name="Text 1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Blast Radius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War becomes affordable</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Under hard money, wars required visible taxes. Under fiat, they are financed by printing — the cost socialized invisibly across every citizen's savings and wages, without a vote.</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Wealth inequality accelerates</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Those with means buy assets that inflate with the money supply. Those relying on wages fall behind. Not a failure of capitalism — a predictable consequence of the money itself.</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Product quality degrades</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When inflation squeezes purchasing power, consumers buy on price. Producers cut costs. Quality falls. Planned obsolescence becomes the rational strategy — not greed, incentives.</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Debt becomes a way of life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fiat system cannot function without debt — money is created when banks issue loans. Saving is punished; borrowing is subsidized. Debt is the rational response to bad money.</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4 OF 6</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Hard Money Changes Everything</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Including how you think</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Time Preference</a:t>
            </a:r>
            <a:endParaRPr lang="en-US" sz="2600" dirty="0"/>
          </a:p>
        </p:txBody>
      </p:sp>
      <p:sp>
        <p:nvSpPr>
          <p:cNvPr id="3" name="Text 1"/>
          <p:cNvSpPr/>
          <p:nvPr/>
        </p:nvSpPr>
        <p:spPr>
          <a:xfrm>
            <a:off x="548640" y="960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Why do we build things that last? Medieval cathedrals took generations to complete. The builders who laid the foundation knew they would never see the finished spire. Craftsmen carved intricate details into stonework hundreds of feet up — details no eye would clearly see. They built anyway, to last centuries.</a:t>
            </a:r>
            <a:endParaRPr lang="en-US" sz="1300" dirty="0"/>
          </a:p>
        </p:txBody>
      </p:sp>
      <p:sp>
        <p:nvSpPr>
          <p:cNvPr id="4" name="Text 2"/>
          <p:cNvSpPr/>
          <p:nvPr/>
        </p:nvSpPr>
        <p:spPr>
          <a:xfrm>
            <a:off x="548640" y="2130552"/>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That was not just piety. When money holds its value, the future feels real and worth investing in. When money loses value, the future feels discounted. Why build for a hundred years when you cannot reliably plan for ten?</a:t>
            </a:r>
            <a:endParaRPr lang="en-US" sz="1300" dirty="0"/>
          </a:p>
        </p:txBody>
      </p:sp>
      <p:sp>
        <p:nvSpPr>
          <p:cNvPr id="5" name="Text 3"/>
          <p:cNvSpPr/>
          <p:nvPr/>
        </p:nvSpPr>
        <p:spPr>
          <a:xfrm>
            <a:off x="548640" y="3099816"/>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Economists call this time preference — how much people value the present over the future. The structure of money shapes this collectively, across an entire society. Hard money lowers time preference. Soft money does the opposite — it shortens the horizon and nudges everyone to borrow from the future to consume now.</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Two Worlds</a:t>
            </a:r>
            <a:endParaRPr lang="en-US" sz="2600" dirty="0"/>
          </a:p>
        </p:txBody>
      </p:sp>
      <p:sp>
        <p:nvSpPr>
          <p:cNvPr id="3" name="Shape 1"/>
          <p:cNvSpPr/>
          <p:nvPr/>
        </p:nvSpPr>
        <p:spPr>
          <a:xfrm>
            <a:off x="457200" y="960120"/>
            <a:ext cx="4069080" cy="347472"/>
          </a:xfrm>
          <a:prstGeom prst="rect">
            <a:avLst/>
          </a:prstGeom>
          <a:solidFill>
            <a:srgbClr val="FCEBEB"/>
          </a:solidFill>
          <a:ln w="12700">
            <a:solidFill>
              <a:srgbClr val="FCEBEB"/>
            </a:solidFill>
            <a:prstDash val="solid"/>
          </a:ln>
        </p:spPr>
      </p:sp>
      <p:sp>
        <p:nvSpPr>
          <p:cNvPr id="4" name="Text 2"/>
          <p:cNvSpPr/>
          <p:nvPr/>
        </p:nvSpPr>
        <p:spPr>
          <a:xfrm>
            <a:off x="457200" y="960120"/>
            <a:ext cx="4069080" cy="347472"/>
          </a:xfrm>
          <a:prstGeom prst="rect">
            <a:avLst/>
          </a:prstGeom>
          <a:noFill/>
          <a:ln/>
        </p:spPr>
        <p:txBody>
          <a:bodyPr wrap="square" rtlCol="0" anchor="ctr"/>
          <a:lstStyle/>
          <a:p>
            <a:pPr algn="ctr" indent="0" marL="0">
              <a:buNone/>
            </a:pPr>
            <a:r>
              <a:rPr lang="en-US" sz="1200" b="1" dirty="0">
                <a:solidFill>
                  <a:srgbClr val="A32D2D"/>
                </a:solidFill>
                <a:latin typeface="Calibri" pitchFamily="34" charset="0"/>
                <a:ea typeface="Calibri" pitchFamily="34" charset="-122"/>
                <a:cs typeface="Calibri" pitchFamily="34" charset="-120"/>
              </a:rPr>
              <a:t>Soft Money World</a:t>
            </a:r>
            <a:endParaRPr lang="en-US" sz="1200" dirty="0"/>
          </a:p>
        </p:txBody>
      </p:sp>
      <p:sp>
        <p:nvSpPr>
          <p:cNvPr id="5" name="Shape 3"/>
          <p:cNvSpPr/>
          <p:nvPr/>
        </p:nvSpPr>
        <p:spPr>
          <a:xfrm>
            <a:off x="4617720" y="960120"/>
            <a:ext cx="4069080" cy="347472"/>
          </a:xfrm>
          <a:prstGeom prst="rect">
            <a:avLst/>
          </a:prstGeom>
          <a:solidFill>
            <a:srgbClr val="EAF3DE"/>
          </a:solidFill>
          <a:ln w="12700">
            <a:solidFill>
              <a:srgbClr val="EAF3DE"/>
            </a:solidFill>
            <a:prstDash val="solid"/>
          </a:ln>
        </p:spPr>
      </p:sp>
      <p:sp>
        <p:nvSpPr>
          <p:cNvPr id="6" name="Text 4"/>
          <p:cNvSpPr/>
          <p:nvPr/>
        </p:nvSpPr>
        <p:spPr>
          <a:xfrm>
            <a:off x="4617720" y="960120"/>
            <a:ext cx="4069080" cy="347472"/>
          </a:xfrm>
          <a:prstGeom prst="rect">
            <a:avLst/>
          </a:prstGeom>
          <a:noFill/>
          <a:ln/>
        </p:spPr>
        <p:txBody>
          <a:bodyPr wrap="square" rtlCol="0" anchor="ctr"/>
          <a:lstStyle/>
          <a:p>
            <a:pPr algn="ctr" indent="0" marL="0">
              <a:buNone/>
            </a:pPr>
            <a:r>
              <a:rPr lang="en-US" sz="1200" b="1" dirty="0">
                <a:solidFill>
                  <a:srgbClr val="3B6D11"/>
                </a:solidFill>
                <a:latin typeface="Calibri" pitchFamily="34" charset="0"/>
                <a:ea typeface="Calibri" pitchFamily="34" charset="-122"/>
                <a:cs typeface="Calibri" pitchFamily="34" charset="-120"/>
              </a:rPr>
              <a:t>Hard Money World</a:t>
            </a:r>
            <a:endParaRPr lang="en-US" sz="1200" dirty="0"/>
          </a:p>
        </p:txBody>
      </p:sp>
      <p:sp>
        <p:nvSpPr>
          <p:cNvPr id="7" name="Shape 5"/>
          <p:cNvSpPr/>
          <p:nvPr/>
        </p:nvSpPr>
        <p:spPr>
          <a:xfrm>
            <a:off x="457200" y="1307592"/>
            <a:ext cx="4069080" cy="680314"/>
          </a:xfrm>
          <a:prstGeom prst="rect">
            <a:avLst/>
          </a:prstGeom>
          <a:solidFill>
            <a:srgbClr val="FFFFFF"/>
          </a:solidFill>
          <a:ln w="12700">
            <a:solidFill>
              <a:srgbClr val="D1D9E6"/>
            </a:solidFill>
            <a:prstDash val="solid"/>
          </a:ln>
        </p:spPr>
      </p:sp>
      <p:sp>
        <p:nvSpPr>
          <p:cNvPr id="8" name="Text 6"/>
          <p:cNvSpPr/>
          <p:nvPr/>
        </p:nvSpPr>
        <p:spPr>
          <a:xfrm>
            <a:off x="548640" y="1344168"/>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irrational — money loses value sitting still</a:t>
            </a:r>
            <a:endParaRPr lang="en-US" sz="1100" dirty="0"/>
          </a:p>
        </p:txBody>
      </p:sp>
      <p:sp>
        <p:nvSpPr>
          <p:cNvPr id="9" name="Shape 7"/>
          <p:cNvSpPr/>
          <p:nvPr/>
        </p:nvSpPr>
        <p:spPr>
          <a:xfrm>
            <a:off x="4617720" y="1307592"/>
            <a:ext cx="4069080" cy="680314"/>
          </a:xfrm>
          <a:prstGeom prst="rect">
            <a:avLst/>
          </a:prstGeom>
          <a:solidFill>
            <a:srgbClr val="FFFFFF"/>
          </a:solidFill>
          <a:ln w="12700">
            <a:solidFill>
              <a:srgbClr val="D1D9E6"/>
            </a:solidFill>
            <a:prstDash val="solid"/>
          </a:ln>
        </p:spPr>
      </p:sp>
      <p:sp>
        <p:nvSpPr>
          <p:cNvPr id="10" name="Text 8"/>
          <p:cNvSpPr/>
          <p:nvPr/>
        </p:nvSpPr>
        <p:spPr>
          <a:xfrm>
            <a:off x="4709160" y="1344168"/>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rewarded — purchasing power holds or grows</a:t>
            </a:r>
            <a:endParaRPr lang="en-US" sz="1100" dirty="0"/>
          </a:p>
        </p:txBody>
      </p:sp>
      <p:sp>
        <p:nvSpPr>
          <p:cNvPr id="11" name="Shape 9"/>
          <p:cNvSpPr/>
          <p:nvPr/>
        </p:nvSpPr>
        <p:spPr>
          <a:xfrm>
            <a:off x="457200" y="1987906"/>
            <a:ext cx="4069080" cy="680314"/>
          </a:xfrm>
          <a:prstGeom prst="rect">
            <a:avLst/>
          </a:prstGeom>
          <a:solidFill>
            <a:srgbClr val="F9FAFB"/>
          </a:solidFill>
          <a:ln w="12700">
            <a:solidFill>
              <a:srgbClr val="D1D9E6"/>
            </a:solidFill>
            <a:prstDash val="solid"/>
          </a:ln>
        </p:spPr>
      </p:sp>
      <p:sp>
        <p:nvSpPr>
          <p:cNvPr id="12" name="Text 10"/>
          <p:cNvSpPr/>
          <p:nvPr/>
        </p:nvSpPr>
        <p:spPr>
          <a:xfrm>
            <a:off x="548640" y="202448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Debt is rational — repay with cheaper future dollars</a:t>
            </a:r>
            <a:endParaRPr lang="en-US" sz="1100" dirty="0"/>
          </a:p>
        </p:txBody>
      </p:sp>
      <p:sp>
        <p:nvSpPr>
          <p:cNvPr id="13" name="Shape 11"/>
          <p:cNvSpPr/>
          <p:nvPr/>
        </p:nvSpPr>
        <p:spPr>
          <a:xfrm>
            <a:off x="4617720" y="1987906"/>
            <a:ext cx="4069080" cy="680314"/>
          </a:xfrm>
          <a:prstGeom prst="rect">
            <a:avLst/>
          </a:prstGeom>
          <a:solidFill>
            <a:srgbClr val="F9FAFB"/>
          </a:solidFill>
          <a:ln w="12700">
            <a:solidFill>
              <a:srgbClr val="D1D9E6"/>
            </a:solidFill>
            <a:prstDash val="solid"/>
          </a:ln>
        </p:spPr>
      </p:sp>
      <p:sp>
        <p:nvSpPr>
          <p:cNvPr id="14" name="Text 12"/>
          <p:cNvSpPr/>
          <p:nvPr/>
        </p:nvSpPr>
        <p:spPr>
          <a:xfrm>
            <a:off x="4709160" y="202448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Debt is a serious commitment — costs what it costs</a:t>
            </a:r>
            <a:endParaRPr lang="en-US" sz="1100" dirty="0"/>
          </a:p>
        </p:txBody>
      </p:sp>
      <p:sp>
        <p:nvSpPr>
          <p:cNvPr id="15" name="Shape 13"/>
          <p:cNvSpPr/>
          <p:nvPr/>
        </p:nvSpPr>
        <p:spPr>
          <a:xfrm>
            <a:off x="457200" y="2668219"/>
            <a:ext cx="4069080" cy="680314"/>
          </a:xfrm>
          <a:prstGeom prst="rect">
            <a:avLst/>
          </a:prstGeom>
          <a:solidFill>
            <a:srgbClr val="FFFFFF"/>
          </a:solidFill>
          <a:ln w="12700">
            <a:solidFill>
              <a:srgbClr val="D1D9E6"/>
            </a:solidFill>
            <a:prstDash val="solid"/>
          </a:ln>
        </p:spPr>
      </p:sp>
      <p:sp>
        <p:nvSpPr>
          <p:cNvPr id="16" name="Text 14"/>
          <p:cNvSpPr/>
          <p:nvPr/>
        </p:nvSpPr>
        <p:spPr>
          <a:xfrm>
            <a:off x="548640" y="2704795"/>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Build to be replaced — planned obsolescence wins</a:t>
            </a:r>
            <a:endParaRPr lang="en-US" sz="1100" dirty="0"/>
          </a:p>
        </p:txBody>
      </p:sp>
      <p:sp>
        <p:nvSpPr>
          <p:cNvPr id="17" name="Shape 15"/>
          <p:cNvSpPr/>
          <p:nvPr/>
        </p:nvSpPr>
        <p:spPr>
          <a:xfrm>
            <a:off x="4617720" y="2668219"/>
            <a:ext cx="4069080" cy="680314"/>
          </a:xfrm>
          <a:prstGeom prst="rect">
            <a:avLst/>
          </a:prstGeom>
          <a:solidFill>
            <a:srgbClr val="FFFFFF"/>
          </a:solidFill>
          <a:ln w="12700">
            <a:solidFill>
              <a:srgbClr val="D1D9E6"/>
            </a:solidFill>
            <a:prstDash val="solid"/>
          </a:ln>
        </p:spPr>
      </p:sp>
      <p:sp>
        <p:nvSpPr>
          <p:cNvPr id="18" name="Text 16"/>
          <p:cNvSpPr/>
          <p:nvPr/>
        </p:nvSpPr>
        <p:spPr>
          <a:xfrm>
            <a:off x="4709160" y="2704795"/>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Build to last — reputation compounds over generations</a:t>
            </a:r>
            <a:endParaRPr lang="en-US" sz="1100" dirty="0"/>
          </a:p>
        </p:txBody>
      </p:sp>
      <p:sp>
        <p:nvSpPr>
          <p:cNvPr id="19" name="Shape 17"/>
          <p:cNvSpPr/>
          <p:nvPr/>
        </p:nvSpPr>
        <p:spPr>
          <a:xfrm>
            <a:off x="457200" y="3348533"/>
            <a:ext cx="4069080" cy="680314"/>
          </a:xfrm>
          <a:prstGeom prst="rect">
            <a:avLst/>
          </a:prstGeom>
          <a:solidFill>
            <a:srgbClr val="F9FAFB"/>
          </a:solidFill>
          <a:ln w="12700">
            <a:solidFill>
              <a:srgbClr val="D1D9E6"/>
            </a:solidFill>
            <a:prstDash val="solid"/>
          </a:ln>
        </p:spPr>
      </p:sp>
      <p:sp>
        <p:nvSpPr>
          <p:cNvPr id="20" name="Text 18"/>
          <p:cNvSpPr/>
          <p:nvPr/>
        </p:nvSpPr>
        <p:spPr>
          <a:xfrm>
            <a:off x="548640" y="3385109"/>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borrow indefinitely — cost socialized through inflation</a:t>
            </a:r>
            <a:endParaRPr lang="en-US" sz="1100" dirty="0"/>
          </a:p>
        </p:txBody>
      </p:sp>
      <p:sp>
        <p:nvSpPr>
          <p:cNvPr id="21" name="Shape 19"/>
          <p:cNvSpPr/>
          <p:nvPr/>
        </p:nvSpPr>
        <p:spPr>
          <a:xfrm>
            <a:off x="4617720" y="3348533"/>
            <a:ext cx="4069080" cy="680314"/>
          </a:xfrm>
          <a:prstGeom prst="rect">
            <a:avLst/>
          </a:prstGeom>
          <a:solidFill>
            <a:srgbClr val="F9FAFB"/>
          </a:solidFill>
          <a:ln w="12700">
            <a:solidFill>
              <a:srgbClr val="D1D9E6"/>
            </a:solidFill>
            <a:prstDash val="solid"/>
          </a:ln>
        </p:spPr>
      </p:sp>
      <p:sp>
        <p:nvSpPr>
          <p:cNvPr id="22" name="Text 20"/>
          <p:cNvSpPr/>
          <p:nvPr/>
        </p:nvSpPr>
        <p:spPr>
          <a:xfrm>
            <a:off x="4709160" y="3385109"/>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must balance — no free money to conjure</a:t>
            </a:r>
            <a:endParaRPr lang="en-US" sz="1100" dirty="0"/>
          </a:p>
        </p:txBody>
      </p:sp>
      <p:sp>
        <p:nvSpPr>
          <p:cNvPr id="23" name="Shape 21"/>
          <p:cNvSpPr/>
          <p:nvPr/>
        </p:nvSpPr>
        <p:spPr>
          <a:xfrm>
            <a:off x="457200" y="4028846"/>
            <a:ext cx="4069080" cy="680314"/>
          </a:xfrm>
          <a:prstGeom prst="rect">
            <a:avLst/>
          </a:prstGeom>
          <a:solidFill>
            <a:srgbClr val="FFFFFF"/>
          </a:solidFill>
          <a:ln w="12700">
            <a:solidFill>
              <a:srgbClr val="D1D9E6"/>
            </a:solidFill>
            <a:prstDash val="solid"/>
          </a:ln>
        </p:spPr>
      </p:sp>
      <p:sp>
        <p:nvSpPr>
          <p:cNvPr id="24" name="Text 22"/>
          <p:cNvSpPr/>
          <p:nvPr/>
        </p:nvSpPr>
        <p:spPr>
          <a:xfrm>
            <a:off x="548640" y="406542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Culture optimizes for the immediate and disposable</a:t>
            </a:r>
            <a:endParaRPr lang="en-US" sz="1100" dirty="0"/>
          </a:p>
        </p:txBody>
      </p:sp>
      <p:sp>
        <p:nvSpPr>
          <p:cNvPr id="25" name="Shape 23"/>
          <p:cNvSpPr/>
          <p:nvPr/>
        </p:nvSpPr>
        <p:spPr>
          <a:xfrm>
            <a:off x="4617720" y="4028846"/>
            <a:ext cx="4069080" cy="680314"/>
          </a:xfrm>
          <a:prstGeom prst="rect">
            <a:avLst/>
          </a:prstGeom>
          <a:solidFill>
            <a:srgbClr val="FFFFFF"/>
          </a:solidFill>
          <a:ln w="12700">
            <a:solidFill>
              <a:srgbClr val="D1D9E6"/>
            </a:solidFill>
            <a:prstDash val="solid"/>
          </a:ln>
        </p:spPr>
      </p:sp>
      <p:sp>
        <p:nvSpPr>
          <p:cNvPr id="26" name="Text 24"/>
          <p:cNvSpPr/>
          <p:nvPr/>
        </p:nvSpPr>
        <p:spPr>
          <a:xfrm>
            <a:off x="4709160" y="406542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Culture invests in the enduring — built to outlast its makers</a:t>
            </a:r>
            <a:endParaRPr lang="en-US" sz="1100" dirty="0"/>
          </a:p>
        </p:txBody>
      </p:sp>
      <p:sp>
        <p:nvSpPr>
          <p:cNvPr id="27" name="Text 25"/>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5 OF 6</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Bitcoin</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The answer to the question gold could not solve</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Why We Can't Just Go Back to Gold</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“What the world needed was something with all of gold's monetary properties — but that could be sent anywhere, verified by anyone, and controlled by no one. For most of history, that was simply impossible. Then, in 2009, it was not.”</a:t>
            </a:r>
            <a:endParaRPr lang="en-US" sz="1350" dirty="0"/>
          </a:p>
        </p:txBody>
      </p:sp>
      <p:sp>
        <p:nvSpPr>
          <p:cNvPr id="6" name="Text 4"/>
          <p:cNvSpPr/>
          <p:nvPr/>
        </p:nvSpPr>
        <p:spPr>
          <a:xfrm>
            <a:off x="548640" y="2075688"/>
            <a:ext cx="8046720" cy="1261872"/>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To return to a gold standard would be to repeat the same cycle. The flaw is structural, not political. Governments, banks, and institutions entrusted to issue certificates equal to their gold holdings found ways — quietly, incrementally, without most people realizing it was happening — to issue more claims on gold than gold existed.</a:t>
            </a:r>
            <a:endParaRPr lang="en-US" sz="1300" dirty="0"/>
          </a:p>
        </p:txBody>
      </p:sp>
      <p:sp>
        <p:nvSpPr>
          <p:cNvPr id="7" name="Text 5"/>
          <p:cNvSpPr/>
          <p:nvPr/>
        </p:nvSpPr>
        <p:spPr>
          <a:xfrm>
            <a:off x="548640" y="3447288"/>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No amount of good intentions fixes the fact that gold is heavy, hard to verify, and impossible to move across the world instantly without trusting someone.</a:t>
            </a:r>
            <a:endParaRPr lang="en-US" sz="1300" dirty="0"/>
          </a:p>
        </p:txBody>
      </p:sp>
      <p:sp>
        <p:nvSpPr>
          <p:cNvPr id="8" name="Text 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Bitcoin Is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A peer-to-peer system</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Introduced in 2009 by Satoshi Nakamoto. Sends value directly between two people anywhere in the world — without any trusted third party. Not a bank. Not an exchange. Not a payment processor.</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Fixed supply: 21 million</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Hard capped. The last bitcoin will be mined around 2140. No government, no central bank, no institution can change this. The first monetary asset in history with a provably fixed supply.</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Enforced by mathematics</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Rules are enforced by mathematics and a globally distributed network — not by trust in any person or organization. It has operated continuously for fifteen years without failure.</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Not issued by anyone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 company. No CEO. No board. No headquarters. A protocol — like email or the internet — running on thousands of computers worldwide simultaneously.</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Bitcoin vs Gold — The Key Properties</a:t>
            </a:r>
            <a:endParaRPr lang="en-US" sz="2600" dirty="0"/>
          </a:p>
        </p:txBody>
      </p:sp>
      <p:sp>
        <p:nvSpPr>
          <p:cNvPr id="3" name="Shape 1"/>
          <p:cNvSpPr/>
          <p:nvPr/>
        </p:nvSpPr>
        <p:spPr>
          <a:xfrm>
            <a:off x="457200" y="96012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566928" y="105156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Scarcity</a:t>
            </a:r>
            <a:endParaRPr lang="en-US" sz="1200" dirty="0"/>
          </a:p>
        </p:txBody>
      </p:sp>
      <p:sp>
        <p:nvSpPr>
          <p:cNvPr id="5" name="Text 3"/>
          <p:cNvSpPr/>
          <p:nvPr/>
        </p:nvSpPr>
        <p:spPr>
          <a:xfrm>
            <a:off x="566928" y="134416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6" name="Text 4"/>
          <p:cNvSpPr/>
          <p:nvPr/>
        </p:nvSpPr>
        <p:spPr>
          <a:xfrm>
            <a:off x="566928" y="152704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Finite but unknown supply. New gold mined continuously.</a:t>
            </a:r>
            <a:endParaRPr lang="en-US" sz="1000" dirty="0"/>
          </a:p>
        </p:txBody>
      </p:sp>
      <p:sp>
        <p:nvSpPr>
          <p:cNvPr id="7" name="Text 5"/>
          <p:cNvSpPr/>
          <p:nvPr/>
        </p:nvSpPr>
        <p:spPr>
          <a:xfrm>
            <a:off x="566928" y="202082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8" name="Text 6"/>
          <p:cNvSpPr/>
          <p:nvPr/>
        </p:nvSpPr>
        <p:spPr>
          <a:xfrm>
            <a:off x="566928" y="220370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Hard cap: 21M. Unchangeable by anyone.</a:t>
            </a:r>
            <a:endParaRPr lang="en-US" sz="1000" dirty="0"/>
          </a:p>
        </p:txBody>
      </p:sp>
      <p:sp>
        <p:nvSpPr>
          <p:cNvPr id="9" name="Shape 7"/>
          <p:cNvSpPr/>
          <p:nvPr/>
        </p:nvSpPr>
        <p:spPr>
          <a:xfrm>
            <a:off x="3273552" y="96012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3383280" y="105156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Portability</a:t>
            </a:r>
            <a:endParaRPr lang="en-US" sz="1200" dirty="0"/>
          </a:p>
        </p:txBody>
      </p:sp>
      <p:sp>
        <p:nvSpPr>
          <p:cNvPr id="11" name="Text 9"/>
          <p:cNvSpPr/>
          <p:nvPr/>
        </p:nvSpPr>
        <p:spPr>
          <a:xfrm>
            <a:off x="3383280" y="134416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12" name="Text 10"/>
          <p:cNvSpPr/>
          <p:nvPr/>
        </p:nvSpPr>
        <p:spPr>
          <a:xfrm>
            <a:off x="3383280" y="152704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Heavy and slow. Requires trusted intermediaries.</a:t>
            </a:r>
            <a:endParaRPr lang="en-US" sz="1000" dirty="0"/>
          </a:p>
        </p:txBody>
      </p:sp>
      <p:sp>
        <p:nvSpPr>
          <p:cNvPr id="13" name="Text 11"/>
          <p:cNvSpPr/>
          <p:nvPr/>
        </p:nvSpPr>
        <p:spPr>
          <a:xfrm>
            <a:off x="3383280" y="202082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14" name="Text 12"/>
          <p:cNvSpPr/>
          <p:nvPr/>
        </p:nvSpPr>
        <p:spPr>
          <a:xfrm>
            <a:off x="3383280" y="220370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Sent anywhere in minutes. A billion dollars moves as easily as a dollar.</a:t>
            </a:r>
            <a:endParaRPr lang="en-US" sz="1000" dirty="0"/>
          </a:p>
        </p:txBody>
      </p:sp>
      <p:sp>
        <p:nvSpPr>
          <p:cNvPr id="15" name="Shape 13"/>
          <p:cNvSpPr/>
          <p:nvPr/>
        </p:nvSpPr>
        <p:spPr>
          <a:xfrm>
            <a:off x="6089904" y="96012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Text 14"/>
          <p:cNvSpPr/>
          <p:nvPr/>
        </p:nvSpPr>
        <p:spPr>
          <a:xfrm>
            <a:off x="6199632" y="105156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Verifiability</a:t>
            </a:r>
            <a:endParaRPr lang="en-US" sz="1200" dirty="0"/>
          </a:p>
        </p:txBody>
      </p:sp>
      <p:sp>
        <p:nvSpPr>
          <p:cNvPr id="17" name="Text 15"/>
          <p:cNvSpPr/>
          <p:nvPr/>
        </p:nvSpPr>
        <p:spPr>
          <a:xfrm>
            <a:off x="6199632" y="134416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18" name="Text 16"/>
          <p:cNvSpPr/>
          <p:nvPr/>
        </p:nvSpPr>
        <p:spPr>
          <a:xfrm>
            <a:off x="6199632" y="152704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Requires physical testing. Certificates require trust.</a:t>
            </a:r>
            <a:endParaRPr lang="en-US" sz="1000" dirty="0"/>
          </a:p>
        </p:txBody>
      </p:sp>
      <p:sp>
        <p:nvSpPr>
          <p:cNvPr id="19" name="Text 17"/>
          <p:cNvSpPr/>
          <p:nvPr/>
        </p:nvSpPr>
        <p:spPr>
          <a:xfrm>
            <a:off x="6199632" y="202082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20" name="Text 18"/>
          <p:cNvSpPr/>
          <p:nvPr/>
        </p:nvSpPr>
        <p:spPr>
          <a:xfrm>
            <a:off x="6199632" y="220370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Every transaction verified instantly by the network. Counterfeiting is mathematically impossible.</a:t>
            </a:r>
            <a:endParaRPr lang="en-US" sz="1000" dirty="0"/>
          </a:p>
        </p:txBody>
      </p:sp>
      <p:sp>
        <p:nvSpPr>
          <p:cNvPr id="21" name="Shape 19"/>
          <p:cNvSpPr/>
          <p:nvPr/>
        </p:nvSpPr>
        <p:spPr>
          <a:xfrm>
            <a:off x="457200" y="297180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2" name="Text 20"/>
          <p:cNvSpPr/>
          <p:nvPr/>
        </p:nvSpPr>
        <p:spPr>
          <a:xfrm>
            <a:off x="566928" y="306324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Decentralization</a:t>
            </a:r>
            <a:endParaRPr lang="en-US" sz="1200" dirty="0"/>
          </a:p>
        </p:txBody>
      </p:sp>
      <p:sp>
        <p:nvSpPr>
          <p:cNvPr id="23" name="Text 21"/>
          <p:cNvSpPr/>
          <p:nvPr/>
        </p:nvSpPr>
        <p:spPr>
          <a:xfrm>
            <a:off x="566928" y="335584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24" name="Text 22"/>
          <p:cNvSpPr/>
          <p:nvPr/>
        </p:nvSpPr>
        <p:spPr>
          <a:xfrm>
            <a:off x="566928" y="353872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Storage concentrates in vaults. Custodians become control points.</a:t>
            </a:r>
            <a:endParaRPr lang="en-US" sz="1000" dirty="0"/>
          </a:p>
        </p:txBody>
      </p:sp>
      <p:sp>
        <p:nvSpPr>
          <p:cNvPr id="25" name="Text 23"/>
          <p:cNvSpPr/>
          <p:nvPr/>
        </p:nvSpPr>
        <p:spPr>
          <a:xfrm>
            <a:off x="566928" y="403250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26" name="Text 24"/>
          <p:cNvSpPr/>
          <p:nvPr/>
        </p:nvSpPr>
        <p:spPr>
          <a:xfrm>
            <a:off x="566928" y="421538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Thousands of independent nodes. No single point of control.</a:t>
            </a:r>
            <a:endParaRPr lang="en-US" sz="1000" dirty="0"/>
          </a:p>
        </p:txBody>
      </p:sp>
      <p:sp>
        <p:nvSpPr>
          <p:cNvPr id="27" name="Shape 25"/>
          <p:cNvSpPr/>
          <p:nvPr/>
        </p:nvSpPr>
        <p:spPr>
          <a:xfrm>
            <a:off x="3273552" y="297180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8" name="Text 26"/>
          <p:cNvSpPr/>
          <p:nvPr/>
        </p:nvSpPr>
        <p:spPr>
          <a:xfrm>
            <a:off x="3383280" y="306324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Durability</a:t>
            </a:r>
            <a:endParaRPr lang="en-US" sz="1200" dirty="0"/>
          </a:p>
        </p:txBody>
      </p:sp>
      <p:sp>
        <p:nvSpPr>
          <p:cNvPr id="29" name="Text 27"/>
          <p:cNvSpPr/>
          <p:nvPr/>
        </p:nvSpPr>
        <p:spPr>
          <a:xfrm>
            <a:off x="3383280" y="335584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30" name="Text 28"/>
          <p:cNvSpPr/>
          <p:nvPr/>
        </p:nvSpPr>
        <p:spPr>
          <a:xfrm>
            <a:off x="3383280" y="353872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Does not corrode. Durable over millennia.</a:t>
            </a:r>
            <a:endParaRPr lang="en-US" sz="1000" dirty="0"/>
          </a:p>
        </p:txBody>
      </p:sp>
      <p:sp>
        <p:nvSpPr>
          <p:cNvPr id="31" name="Text 29"/>
          <p:cNvSpPr/>
          <p:nvPr/>
        </p:nvSpPr>
        <p:spPr>
          <a:xfrm>
            <a:off x="3383280" y="403250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32" name="Text 30"/>
          <p:cNvSpPr/>
          <p:nvPr/>
        </p:nvSpPr>
        <p:spPr>
          <a:xfrm>
            <a:off x="3383280" y="421538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Indestructible as long as the network exists.</a:t>
            </a:r>
            <a:endParaRPr lang="en-US" sz="1000" dirty="0"/>
          </a:p>
        </p:txBody>
      </p:sp>
      <p:sp>
        <p:nvSpPr>
          <p:cNvPr id="33" name="Shape 31"/>
          <p:cNvSpPr/>
          <p:nvPr/>
        </p:nvSpPr>
        <p:spPr>
          <a:xfrm>
            <a:off x="6089904" y="297180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34" name="Text 32"/>
          <p:cNvSpPr/>
          <p:nvPr/>
        </p:nvSpPr>
        <p:spPr>
          <a:xfrm>
            <a:off x="6199632" y="306324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Divisibility</a:t>
            </a:r>
            <a:endParaRPr lang="en-US" sz="1200" dirty="0"/>
          </a:p>
        </p:txBody>
      </p:sp>
      <p:sp>
        <p:nvSpPr>
          <p:cNvPr id="35" name="Text 33"/>
          <p:cNvSpPr/>
          <p:nvPr/>
        </p:nvSpPr>
        <p:spPr>
          <a:xfrm>
            <a:off x="6199632" y="335584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36" name="Text 34"/>
          <p:cNvSpPr/>
          <p:nvPr/>
        </p:nvSpPr>
        <p:spPr>
          <a:xfrm>
            <a:off x="6199632" y="353872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Requires physical manipulation. Small transactions impractical.</a:t>
            </a:r>
            <a:endParaRPr lang="en-US" sz="1000" dirty="0"/>
          </a:p>
        </p:txBody>
      </p:sp>
      <p:sp>
        <p:nvSpPr>
          <p:cNvPr id="37" name="Text 35"/>
          <p:cNvSpPr/>
          <p:nvPr/>
        </p:nvSpPr>
        <p:spPr>
          <a:xfrm>
            <a:off x="6199632" y="403250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38" name="Text 36"/>
          <p:cNvSpPr/>
          <p:nvPr/>
        </p:nvSpPr>
        <p:spPr>
          <a:xfrm>
            <a:off x="6199632" y="421538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Divisible to 8 decimal places. Any transaction size.</a:t>
            </a:r>
            <a:endParaRPr lang="en-US" sz="1000" dirty="0"/>
          </a:p>
        </p:txBody>
      </p:sp>
      <p:sp>
        <p:nvSpPr>
          <p:cNvPr id="39" name="Text 3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6 OF 6</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What Comes Next</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Questions, resources, and the path forward</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You Now See Differently</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housing feels out of reach</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Housing is not more expensive because it became more valuable. It's more expensive because money became less valuable — and the wealthy use real estate to protect wealth from debasement.</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wages never catch up</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Wage earners sit at the furthest end of the Cantillon chain. By the time new money reaches salaries, prices have already risen. Workers see rising costs, not rising wages.</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debt feels inescapable</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fiat system cannot function without debt — money is created through loans. Saving is punished; borrowing is subsidized. Debt is structurally required, not a personal failure.</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everything feels disposable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greed. Not cheap manufacturing. Incentives set by the monetary system. When inflation erodes purchasing power, consumers buy on price, producers cut costs, quality falls.</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Common Questions — Honest Answers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Isn't it just speculation?</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Volatility reflects early adoption stage. Gold was also volatile early. What matters is whether the underlying monetary properties hold. They do — fifteen years of continuous operation.</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Can't governments ban it?</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They can restrict. They cannot shut down a global distributed network. Every outright ban attempt has been extremely difficult to enforce. The network has never been shut down.</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about other cryptocurrencies?</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Most have no fixed supply and central teams who can change the rules. Bitcoin is categorically different — provably fixed supply, no controlling authority, fifteen years of unbroken operation.</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Isn't it too late?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Global adoption is still in low single digits. The transition from fiat to sound money is measured in decades, not years. Understanding is more valuable than timing.</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Where to Go From Here</a:t>
            </a:r>
            <a:endParaRPr lang="en-US" sz="2600" dirty="0"/>
          </a:p>
        </p:txBody>
      </p:sp>
      <p:sp>
        <p:nvSpPr>
          <p:cNvPr id="3" name="Shape 1"/>
          <p:cNvSpPr/>
          <p:nvPr/>
        </p:nvSpPr>
        <p:spPr>
          <a:xfrm>
            <a:off x="457200" y="1005840"/>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54864" cy="768096"/>
          </a:xfrm>
          <a:prstGeom prst="rect">
            <a:avLst/>
          </a:prstGeom>
          <a:solidFill>
            <a:srgbClr val="C9A84C"/>
          </a:solidFill>
          <a:ln w="12700">
            <a:solidFill>
              <a:srgbClr val="C9A84C"/>
            </a:solidFill>
            <a:prstDash val="solid"/>
          </a:ln>
        </p:spPr>
      </p:sp>
      <p:sp>
        <p:nvSpPr>
          <p:cNvPr id="5" name="Text 3"/>
          <p:cNvSpPr/>
          <p:nvPr/>
        </p:nvSpPr>
        <p:spPr>
          <a:xfrm>
            <a:off x="585216" y="1078992"/>
            <a:ext cx="2377440" cy="274320"/>
          </a:xfrm>
          <a:prstGeom prst="rect">
            <a:avLst/>
          </a:prstGeom>
          <a:noFill/>
          <a:ln/>
        </p:spPr>
        <p:txBody>
          <a:bodyPr wrap="square" lIns="0" tIns="0" rIns="0" bIns="0" rtlCol="0" anchor="ctr"/>
          <a:lstStyle/>
          <a:p>
            <a:pPr indent="0" marL="0">
              <a:buNone/>
            </a:pPr>
            <a:r>
              <a:rPr lang="en-US" sz="1100" b="1" i="1" dirty="0">
                <a:solidFill>
                  <a:srgbClr val="1C1C2E"/>
                </a:solidFill>
                <a:latin typeface="Calibri" pitchFamily="34" charset="0"/>
                <a:ea typeface="Calibri" pitchFamily="34" charset="-122"/>
                <a:cs typeface="Calibri" pitchFamily="34" charset="-120"/>
              </a:rPr>
              <a:t>The Bitcoin Standard</a:t>
            </a:r>
            <a:endParaRPr lang="en-US" sz="1100" dirty="0"/>
          </a:p>
        </p:txBody>
      </p:sp>
      <p:sp>
        <p:nvSpPr>
          <p:cNvPr id="6" name="Text 4"/>
          <p:cNvSpPr/>
          <p:nvPr/>
        </p:nvSpPr>
        <p:spPr>
          <a:xfrm>
            <a:off x="585216" y="1389888"/>
            <a:ext cx="1645920" cy="201168"/>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Saifedean Ammous</a:t>
            </a:r>
            <a:endParaRPr lang="en-US" sz="950" dirty="0"/>
          </a:p>
        </p:txBody>
      </p:sp>
      <p:sp>
        <p:nvSpPr>
          <p:cNvPr id="7" name="Shape 5"/>
          <p:cNvSpPr/>
          <p:nvPr/>
        </p:nvSpPr>
        <p:spPr>
          <a:xfrm>
            <a:off x="2468880" y="1353312"/>
            <a:ext cx="640080" cy="237744"/>
          </a:xfrm>
          <a:prstGeom prst="rect">
            <a:avLst/>
          </a:prstGeom>
          <a:solidFill>
            <a:srgbClr val="D6E4F7"/>
          </a:solidFill>
          <a:ln w="12700">
            <a:solidFill>
              <a:srgbClr val="D1D9E6"/>
            </a:solidFill>
            <a:prstDash val="solid"/>
          </a:ln>
        </p:spPr>
      </p:sp>
      <p:sp>
        <p:nvSpPr>
          <p:cNvPr id="8" name="Text 6"/>
          <p:cNvSpPr/>
          <p:nvPr/>
        </p:nvSpPr>
        <p:spPr>
          <a:xfrm>
            <a:off x="2468880" y="1353312"/>
            <a:ext cx="640080" cy="237744"/>
          </a:xfrm>
          <a:prstGeom prst="rect">
            <a:avLst/>
          </a:prstGeom>
          <a:noFill/>
          <a:ln/>
        </p:spPr>
        <p:txBody>
          <a:bodyPr wrap="square" rtlCol="0" anchor="ctr"/>
          <a:lstStyle/>
          <a:p>
            <a:pPr algn="ctr" indent="0" marL="0">
              <a:buNone/>
            </a:pPr>
            <a:r>
              <a:rPr lang="en-US" sz="850" dirty="0">
                <a:solidFill>
                  <a:srgbClr val="1A56A0"/>
                </a:solidFill>
                <a:latin typeface="Calibri" pitchFamily="34" charset="0"/>
                <a:ea typeface="Calibri" pitchFamily="34" charset="-122"/>
                <a:cs typeface="Calibri" pitchFamily="34" charset="-120"/>
              </a:rPr>
              <a:t>Start here</a:t>
            </a:r>
            <a:endParaRPr lang="en-US" sz="850" dirty="0"/>
          </a:p>
        </p:txBody>
      </p:sp>
      <p:sp>
        <p:nvSpPr>
          <p:cNvPr id="9" name="Shape 7"/>
          <p:cNvSpPr/>
          <p:nvPr/>
        </p:nvSpPr>
        <p:spPr>
          <a:xfrm>
            <a:off x="3310128" y="1005840"/>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3310128" y="1005840"/>
            <a:ext cx="54864" cy="768096"/>
          </a:xfrm>
          <a:prstGeom prst="rect">
            <a:avLst/>
          </a:prstGeom>
          <a:solidFill>
            <a:srgbClr val="C9A84C"/>
          </a:solidFill>
          <a:ln w="12700">
            <a:solidFill>
              <a:srgbClr val="C9A84C"/>
            </a:solidFill>
            <a:prstDash val="solid"/>
          </a:ln>
        </p:spPr>
      </p:sp>
      <p:sp>
        <p:nvSpPr>
          <p:cNvPr id="11" name="Text 9"/>
          <p:cNvSpPr/>
          <p:nvPr/>
        </p:nvSpPr>
        <p:spPr>
          <a:xfrm>
            <a:off x="3438144" y="1078992"/>
            <a:ext cx="2377440" cy="274320"/>
          </a:xfrm>
          <a:prstGeom prst="rect">
            <a:avLst/>
          </a:prstGeom>
          <a:noFill/>
          <a:ln/>
        </p:spPr>
        <p:txBody>
          <a:bodyPr wrap="square" lIns="0" tIns="0" rIns="0" bIns="0" rtlCol="0" anchor="ctr"/>
          <a:lstStyle/>
          <a:p>
            <a:pPr indent="0" marL="0">
              <a:buNone/>
            </a:pPr>
            <a:r>
              <a:rPr lang="en-US" sz="1100" b="1" i="1" dirty="0">
                <a:solidFill>
                  <a:srgbClr val="1C1C2E"/>
                </a:solidFill>
                <a:latin typeface="Calibri" pitchFamily="34" charset="0"/>
                <a:ea typeface="Calibri" pitchFamily="34" charset="-122"/>
                <a:cs typeface="Calibri" pitchFamily="34" charset="-120"/>
              </a:rPr>
              <a:t>The Fiat Standard</a:t>
            </a:r>
            <a:endParaRPr lang="en-US" sz="1100" dirty="0"/>
          </a:p>
        </p:txBody>
      </p:sp>
      <p:sp>
        <p:nvSpPr>
          <p:cNvPr id="12" name="Text 10"/>
          <p:cNvSpPr/>
          <p:nvPr/>
        </p:nvSpPr>
        <p:spPr>
          <a:xfrm>
            <a:off x="3438144" y="1389888"/>
            <a:ext cx="1645920" cy="201168"/>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Saifedean Ammous</a:t>
            </a:r>
            <a:endParaRPr lang="en-US" sz="950" dirty="0"/>
          </a:p>
        </p:txBody>
      </p:sp>
      <p:sp>
        <p:nvSpPr>
          <p:cNvPr id="13" name="Shape 11"/>
          <p:cNvSpPr/>
          <p:nvPr/>
        </p:nvSpPr>
        <p:spPr>
          <a:xfrm>
            <a:off x="5321808" y="1353312"/>
            <a:ext cx="640080" cy="237744"/>
          </a:xfrm>
          <a:prstGeom prst="rect">
            <a:avLst/>
          </a:prstGeom>
          <a:solidFill>
            <a:srgbClr val="D6E4F7"/>
          </a:solidFill>
          <a:ln w="12700">
            <a:solidFill>
              <a:srgbClr val="D1D9E6"/>
            </a:solidFill>
            <a:prstDash val="solid"/>
          </a:ln>
        </p:spPr>
      </p:sp>
      <p:sp>
        <p:nvSpPr>
          <p:cNvPr id="14" name="Text 12"/>
          <p:cNvSpPr/>
          <p:nvPr/>
        </p:nvSpPr>
        <p:spPr>
          <a:xfrm>
            <a:off x="5321808" y="1353312"/>
            <a:ext cx="640080" cy="237744"/>
          </a:xfrm>
          <a:prstGeom prst="rect">
            <a:avLst/>
          </a:prstGeom>
          <a:noFill/>
          <a:ln/>
        </p:spPr>
        <p:txBody>
          <a:bodyPr wrap="square" rtlCol="0" anchor="ctr"/>
          <a:lstStyle/>
          <a:p>
            <a:pPr algn="ctr" indent="0" marL="0">
              <a:buNone/>
            </a:pPr>
            <a:r>
              <a:rPr lang="en-US" sz="850" dirty="0">
                <a:solidFill>
                  <a:srgbClr val="1A56A0"/>
                </a:solidFill>
                <a:latin typeface="Calibri" pitchFamily="34" charset="0"/>
                <a:ea typeface="Calibri" pitchFamily="34" charset="-122"/>
                <a:cs typeface="Calibri" pitchFamily="34" charset="-120"/>
              </a:rPr>
              <a:t>Monetary</a:t>
            </a:r>
            <a:endParaRPr lang="en-US" sz="850" dirty="0"/>
          </a:p>
        </p:txBody>
      </p:sp>
      <p:sp>
        <p:nvSpPr>
          <p:cNvPr id="15" name="Shape 13"/>
          <p:cNvSpPr/>
          <p:nvPr/>
        </p:nvSpPr>
        <p:spPr>
          <a:xfrm>
            <a:off x="6163056" y="1005840"/>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6163056" y="1005840"/>
            <a:ext cx="54864" cy="768096"/>
          </a:xfrm>
          <a:prstGeom prst="rect">
            <a:avLst/>
          </a:prstGeom>
          <a:solidFill>
            <a:srgbClr val="C9A84C"/>
          </a:solidFill>
          <a:ln w="12700">
            <a:solidFill>
              <a:srgbClr val="C9A84C"/>
            </a:solidFill>
            <a:prstDash val="solid"/>
          </a:ln>
        </p:spPr>
      </p:sp>
      <p:sp>
        <p:nvSpPr>
          <p:cNvPr id="17" name="Text 15"/>
          <p:cNvSpPr/>
          <p:nvPr/>
        </p:nvSpPr>
        <p:spPr>
          <a:xfrm>
            <a:off x="6291072" y="1078992"/>
            <a:ext cx="2377440" cy="274320"/>
          </a:xfrm>
          <a:prstGeom prst="rect">
            <a:avLst/>
          </a:prstGeom>
          <a:noFill/>
          <a:ln/>
        </p:spPr>
        <p:txBody>
          <a:bodyPr wrap="square" lIns="0" tIns="0" rIns="0" bIns="0" rtlCol="0" anchor="ctr"/>
          <a:lstStyle/>
          <a:p>
            <a:pPr indent="0" marL="0">
              <a:buNone/>
            </a:pPr>
            <a:r>
              <a:rPr lang="en-US" sz="1100" b="1" i="1" dirty="0">
                <a:solidFill>
                  <a:srgbClr val="1C1C2E"/>
                </a:solidFill>
                <a:latin typeface="Calibri" pitchFamily="34" charset="0"/>
                <a:ea typeface="Calibri" pitchFamily="34" charset="-122"/>
                <a:cs typeface="Calibri" pitchFamily="34" charset="-120"/>
              </a:rPr>
              <a:t>What Has Government Done to Our Money?</a:t>
            </a:r>
            <a:endParaRPr lang="en-US" sz="1100" dirty="0"/>
          </a:p>
        </p:txBody>
      </p:sp>
      <p:sp>
        <p:nvSpPr>
          <p:cNvPr id="18" name="Text 16"/>
          <p:cNvSpPr/>
          <p:nvPr/>
        </p:nvSpPr>
        <p:spPr>
          <a:xfrm>
            <a:off x="6291072" y="1389888"/>
            <a:ext cx="1645920" cy="201168"/>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Murray Rothbard</a:t>
            </a:r>
            <a:endParaRPr lang="en-US" sz="950" dirty="0"/>
          </a:p>
        </p:txBody>
      </p:sp>
      <p:sp>
        <p:nvSpPr>
          <p:cNvPr id="19" name="Shape 17"/>
          <p:cNvSpPr/>
          <p:nvPr/>
        </p:nvSpPr>
        <p:spPr>
          <a:xfrm>
            <a:off x="8174736" y="1353312"/>
            <a:ext cx="640080" cy="237744"/>
          </a:xfrm>
          <a:prstGeom prst="rect">
            <a:avLst/>
          </a:prstGeom>
          <a:solidFill>
            <a:srgbClr val="D6E4F7"/>
          </a:solidFill>
          <a:ln w="12700">
            <a:solidFill>
              <a:srgbClr val="D1D9E6"/>
            </a:solidFill>
            <a:prstDash val="solid"/>
          </a:ln>
        </p:spPr>
      </p:sp>
      <p:sp>
        <p:nvSpPr>
          <p:cNvPr id="20" name="Text 18"/>
          <p:cNvSpPr/>
          <p:nvPr/>
        </p:nvSpPr>
        <p:spPr>
          <a:xfrm>
            <a:off x="8174736" y="1353312"/>
            <a:ext cx="640080" cy="237744"/>
          </a:xfrm>
          <a:prstGeom prst="rect">
            <a:avLst/>
          </a:prstGeom>
          <a:noFill/>
          <a:ln/>
        </p:spPr>
        <p:txBody>
          <a:bodyPr wrap="square" rtlCol="0" anchor="ctr"/>
          <a:lstStyle/>
          <a:p>
            <a:pPr algn="ctr" indent="0" marL="0">
              <a:buNone/>
            </a:pPr>
            <a:r>
              <a:rPr lang="en-US" sz="850" dirty="0">
                <a:solidFill>
                  <a:srgbClr val="1A56A0"/>
                </a:solidFill>
                <a:latin typeface="Calibri" pitchFamily="34" charset="0"/>
                <a:ea typeface="Calibri" pitchFamily="34" charset="-122"/>
                <a:cs typeface="Calibri" pitchFamily="34" charset="-120"/>
              </a:rPr>
              <a:t>Foundation</a:t>
            </a:r>
            <a:endParaRPr lang="en-US" sz="850" dirty="0"/>
          </a:p>
        </p:txBody>
      </p:sp>
      <p:sp>
        <p:nvSpPr>
          <p:cNvPr id="21" name="Shape 19"/>
          <p:cNvSpPr/>
          <p:nvPr/>
        </p:nvSpPr>
        <p:spPr>
          <a:xfrm>
            <a:off x="457200" y="1883664"/>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2" name="Shape 20"/>
          <p:cNvSpPr/>
          <p:nvPr/>
        </p:nvSpPr>
        <p:spPr>
          <a:xfrm>
            <a:off x="457200" y="1883664"/>
            <a:ext cx="54864" cy="768096"/>
          </a:xfrm>
          <a:prstGeom prst="rect">
            <a:avLst/>
          </a:prstGeom>
          <a:solidFill>
            <a:srgbClr val="C9A84C"/>
          </a:solidFill>
          <a:ln w="12700">
            <a:solidFill>
              <a:srgbClr val="C9A84C"/>
            </a:solidFill>
            <a:prstDash val="solid"/>
          </a:ln>
        </p:spPr>
      </p:sp>
      <p:sp>
        <p:nvSpPr>
          <p:cNvPr id="23" name="Text 21"/>
          <p:cNvSpPr/>
          <p:nvPr/>
        </p:nvSpPr>
        <p:spPr>
          <a:xfrm>
            <a:off x="585216" y="1956816"/>
            <a:ext cx="2377440" cy="274320"/>
          </a:xfrm>
          <a:prstGeom prst="rect">
            <a:avLst/>
          </a:prstGeom>
          <a:noFill/>
          <a:ln/>
        </p:spPr>
        <p:txBody>
          <a:bodyPr wrap="square" lIns="0" tIns="0" rIns="0" bIns="0" rtlCol="0" anchor="ctr"/>
          <a:lstStyle/>
          <a:p>
            <a:pPr indent="0" marL="0">
              <a:buNone/>
            </a:pPr>
            <a:r>
              <a:rPr lang="en-US" sz="1100" b="1" i="1" dirty="0">
                <a:solidFill>
                  <a:srgbClr val="1C1C2E"/>
                </a:solidFill>
                <a:latin typeface="Calibri" pitchFamily="34" charset="0"/>
                <a:ea typeface="Calibri" pitchFamily="34" charset="-122"/>
                <a:cs typeface="Calibri" pitchFamily="34" charset="-120"/>
              </a:rPr>
              <a:t>Price of Tomorrow</a:t>
            </a:r>
            <a:endParaRPr lang="en-US" sz="1100" dirty="0"/>
          </a:p>
        </p:txBody>
      </p:sp>
      <p:sp>
        <p:nvSpPr>
          <p:cNvPr id="24" name="Text 22"/>
          <p:cNvSpPr/>
          <p:nvPr/>
        </p:nvSpPr>
        <p:spPr>
          <a:xfrm>
            <a:off x="585216" y="2267712"/>
            <a:ext cx="1645920" cy="201168"/>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Jeff Booth</a:t>
            </a:r>
            <a:endParaRPr lang="en-US" sz="950" dirty="0"/>
          </a:p>
        </p:txBody>
      </p:sp>
      <p:sp>
        <p:nvSpPr>
          <p:cNvPr id="25" name="Shape 23"/>
          <p:cNvSpPr/>
          <p:nvPr/>
        </p:nvSpPr>
        <p:spPr>
          <a:xfrm>
            <a:off x="2468880" y="2231136"/>
            <a:ext cx="640080" cy="237744"/>
          </a:xfrm>
          <a:prstGeom prst="rect">
            <a:avLst/>
          </a:prstGeom>
          <a:solidFill>
            <a:srgbClr val="D6E4F7"/>
          </a:solidFill>
          <a:ln w="12700">
            <a:solidFill>
              <a:srgbClr val="D1D9E6"/>
            </a:solidFill>
            <a:prstDash val="solid"/>
          </a:ln>
        </p:spPr>
      </p:sp>
      <p:sp>
        <p:nvSpPr>
          <p:cNvPr id="26" name="Text 24"/>
          <p:cNvSpPr/>
          <p:nvPr/>
        </p:nvSpPr>
        <p:spPr>
          <a:xfrm>
            <a:off x="2468880" y="2231136"/>
            <a:ext cx="640080" cy="237744"/>
          </a:xfrm>
          <a:prstGeom prst="rect">
            <a:avLst/>
          </a:prstGeom>
          <a:noFill/>
          <a:ln/>
        </p:spPr>
        <p:txBody>
          <a:bodyPr wrap="square" rtlCol="0" anchor="ctr"/>
          <a:lstStyle/>
          <a:p>
            <a:pPr algn="ctr" indent="0" marL="0">
              <a:buNone/>
            </a:pPr>
            <a:r>
              <a:rPr lang="en-US" sz="850" dirty="0">
                <a:solidFill>
                  <a:srgbClr val="1A56A0"/>
                </a:solidFill>
                <a:latin typeface="Calibri" pitchFamily="34" charset="0"/>
                <a:ea typeface="Calibri" pitchFamily="34" charset="-122"/>
                <a:cs typeface="Calibri" pitchFamily="34" charset="-120"/>
              </a:rPr>
              <a:t>Monetary</a:t>
            </a:r>
            <a:endParaRPr lang="en-US" sz="850" dirty="0"/>
          </a:p>
        </p:txBody>
      </p:sp>
      <p:sp>
        <p:nvSpPr>
          <p:cNvPr id="27" name="Shape 25"/>
          <p:cNvSpPr/>
          <p:nvPr/>
        </p:nvSpPr>
        <p:spPr>
          <a:xfrm>
            <a:off x="3310128" y="1883664"/>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8" name="Shape 26"/>
          <p:cNvSpPr/>
          <p:nvPr/>
        </p:nvSpPr>
        <p:spPr>
          <a:xfrm>
            <a:off x="3310128" y="1883664"/>
            <a:ext cx="54864" cy="768096"/>
          </a:xfrm>
          <a:prstGeom prst="rect">
            <a:avLst/>
          </a:prstGeom>
          <a:solidFill>
            <a:srgbClr val="C9A84C"/>
          </a:solidFill>
          <a:ln w="12700">
            <a:solidFill>
              <a:srgbClr val="C9A84C"/>
            </a:solidFill>
            <a:prstDash val="solid"/>
          </a:ln>
        </p:spPr>
      </p:sp>
      <p:sp>
        <p:nvSpPr>
          <p:cNvPr id="29" name="Text 27"/>
          <p:cNvSpPr/>
          <p:nvPr/>
        </p:nvSpPr>
        <p:spPr>
          <a:xfrm>
            <a:off x="3438144" y="1956816"/>
            <a:ext cx="2377440" cy="274320"/>
          </a:xfrm>
          <a:prstGeom prst="rect">
            <a:avLst/>
          </a:prstGeom>
          <a:noFill/>
          <a:ln/>
        </p:spPr>
        <p:txBody>
          <a:bodyPr wrap="square" lIns="0" tIns="0" rIns="0" bIns="0" rtlCol="0" anchor="ctr"/>
          <a:lstStyle/>
          <a:p>
            <a:pPr indent="0" marL="0">
              <a:buNone/>
            </a:pPr>
            <a:r>
              <a:rPr lang="en-US" sz="1100" b="1" i="1" dirty="0">
                <a:solidFill>
                  <a:srgbClr val="1C1C2E"/>
                </a:solidFill>
                <a:latin typeface="Calibri" pitchFamily="34" charset="0"/>
                <a:ea typeface="Calibri" pitchFamily="34" charset="-122"/>
                <a:cs typeface="Calibri" pitchFamily="34" charset="-120"/>
              </a:rPr>
              <a:t>Broken Money</a:t>
            </a:r>
            <a:endParaRPr lang="en-US" sz="1100" dirty="0"/>
          </a:p>
        </p:txBody>
      </p:sp>
      <p:sp>
        <p:nvSpPr>
          <p:cNvPr id="30" name="Text 28"/>
          <p:cNvSpPr/>
          <p:nvPr/>
        </p:nvSpPr>
        <p:spPr>
          <a:xfrm>
            <a:off x="3438144" y="2267712"/>
            <a:ext cx="1645920" cy="201168"/>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Lyn Alden</a:t>
            </a:r>
            <a:endParaRPr lang="en-US" sz="950" dirty="0"/>
          </a:p>
        </p:txBody>
      </p:sp>
      <p:sp>
        <p:nvSpPr>
          <p:cNvPr id="31" name="Shape 29"/>
          <p:cNvSpPr/>
          <p:nvPr/>
        </p:nvSpPr>
        <p:spPr>
          <a:xfrm>
            <a:off x="5321808" y="2231136"/>
            <a:ext cx="640080" cy="237744"/>
          </a:xfrm>
          <a:prstGeom prst="rect">
            <a:avLst/>
          </a:prstGeom>
          <a:solidFill>
            <a:srgbClr val="D6E4F7"/>
          </a:solidFill>
          <a:ln w="12700">
            <a:solidFill>
              <a:srgbClr val="D1D9E6"/>
            </a:solidFill>
            <a:prstDash val="solid"/>
          </a:ln>
        </p:spPr>
      </p:sp>
      <p:sp>
        <p:nvSpPr>
          <p:cNvPr id="32" name="Text 30"/>
          <p:cNvSpPr/>
          <p:nvPr/>
        </p:nvSpPr>
        <p:spPr>
          <a:xfrm>
            <a:off x="5321808" y="2231136"/>
            <a:ext cx="640080" cy="237744"/>
          </a:xfrm>
          <a:prstGeom prst="rect">
            <a:avLst/>
          </a:prstGeom>
          <a:noFill/>
          <a:ln/>
        </p:spPr>
        <p:txBody>
          <a:bodyPr wrap="square" rtlCol="0" anchor="ctr"/>
          <a:lstStyle/>
          <a:p>
            <a:pPr algn="ctr" indent="0" marL="0">
              <a:buNone/>
            </a:pPr>
            <a:r>
              <a:rPr lang="en-US" sz="850" dirty="0">
                <a:solidFill>
                  <a:srgbClr val="1A56A0"/>
                </a:solidFill>
                <a:latin typeface="Calibri" pitchFamily="34" charset="0"/>
                <a:ea typeface="Calibri" pitchFamily="34" charset="-122"/>
                <a:cs typeface="Calibri" pitchFamily="34" charset="-120"/>
              </a:rPr>
              <a:t>Monetary</a:t>
            </a:r>
            <a:endParaRPr lang="en-US" sz="850" dirty="0"/>
          </a:p>
        </p:txBody>
      </p:sp>
      <p:sp>
        <p:nvSpPr>
          <p:cNvPr id="33" name="Shape 31"/>
          <p:cNvSpPr/>
          <p:nvPr/>
        </p:nvSpPr>
        <p:spPr>
          <a:xfrm>
            <a:off x="6163056" y="1883664"/>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34" name="Shape 32"/>
          <p:cNvSpPr/>
          <p:nvPr/>
        </p:nvSpPr>
        <p:spPr>
          <a:xfrm>
            <a:off x="6163056" y="1883664"/>
            <a:ext cx="54864" cy="768096"/>
          </a:xfrm>
          <a:prstGeom prst="rect">
            <a:avLst/>
          </a:prstGeom>
          <a:solidFill>
            <a:srgbClr val="C9A84C"/>
          </a:solidFill>
          <a:ln w="12700">
            <a:solidFill>
              <a:srgbClr val="C9A84C"/>
            </a:solidFill>
            <a:prstDash val="solid"/>
          </a:ln>
        </p:spPr>
      </p:sp>
      <p:sp>
        <p:nvSpPr>
          <p:cNvPr id="35" name="Text 33"/>
          <p:cNvSpPr/>
          <p:nvPr/>
        </p:nvSpPr>
        <p:spPr>
          <a:xfrm>
            <a:off x="6291072" y="1956816"/>
            <a:ext cx="2377440" cy="274320"/>
          </a:xfrm>
          <a:prstGeom prst="rect">
            <a:avLst/>
          </a:prstGeom>
          <a:noFill/>
          <a:ln/>
        </p:spPr>
        <p:txBody>
          <a:bodyPr wrap="square" lIns="0" tIns="0" rIns="0" bIns="0" rtlCol="0" anchor="ctr"/>
          <a:lstStyle/>
          <a:p>
            <a:pPr indent="0" marL="0">
              <a:buNone/>
            </a:pPr>
            <a:r>
              <a:rPr lang="en-US" sz="1100" b="1" i="1" dirty="0">
                <a:solidFill>
                  <a:srgbClr val="1C1C2E"/>
                </a:solidFill>
                <a:latin typeface="Calibri" pitchFamily="34" charset="0"/>
                <a:ea typeface="Calibri" pitchFamily="34" charset="-122"/>
                <a:cs typeface="Calibri" pitchFamily="34" charset="-120"/>
              </a:rPr>
              <a:t>A Little History of Money</a:t>
            </a:r>
            <a:endParaRPr lang="en-US" sz="1100" dirty="0"/>
          </a:p>
        </p:txBody>
      </p:sp>
      <p:sp>
        <p:nvSpPr>
          <p:cNvPr id="36" name="Text 34"/>
          <p:cNvSpPr/>
          <p:nvPr/>
        </p:nvSpPr>
        <p:spPr>
          <a:xfrm>
            <a:off x="6291072" y="2267712"/>
            <a:ext cx="1645920" cy="201168"/>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Lawrence Lepard</a:t>
            </a:r>
            <a:endParaRPr lang="en-US" sz="950" dirty="0"/>
          </a:p>
        </p:txBody>
      </p:sp>
      <p:sp>
        <p:nvSpPr>
          <p:cNvPr id="37" name="Shape 35"/>
          <p:cNvSpPr/>
          <p:nvPr/>
        </p:nvSpPr>
        <p:spPr>
          <a:xfrm>
            <a:off x="8174736" y="2231136"/>
            <a:ext cx="640080" cy="237744"/>
          </a:xfrm>
          <a:prstGeom prst="rect">
            <a:avLst/>
          </a:prstGeom>
          <a:solidFill>
            <a:srgbClr val="D6E4F7"/>
          </a:solidFill>
          <a:ln w="12700">
            <a:solidFill>
              <a:srgbClr val="D1D9E6"/>
            </a:solidFill>
            <a:prstDash val="solid"/>
          </a:ln>
        </p:spPr>
      </p:sp>
      <p:sp>
        <p:nvSpPr>
          <p:cNvPr id="38" name="Text 36"/>
          <p:cNvSpPr/>
          <p:nvPr/>
        </p:nvSpPr>
        <p:spPr>
          <a:xfrm>
            <a:off x="8174736" y="2231136"/>
            <a:ext cx="640080" cy="237744"/>
          </a:xfrm>
          <a:prstGeom prst="rect">
            <a:avLst/>
          </a:prstGeom>
          <a:noFill/>
          <a:ln/>
        </p:spPr>
        <p:txBody>
          <a:bodyPr wrap="square" rtlCol="0" anchor="ctr"/>
          <a:lstStyle/>
          <a:p>
            <a:pPr algn="ctr" indent="0" marL="0">
              <a:buNone/>
            </a:pPr>
            <a:r>
              <a:rPr lang="en-US" sz="850" dirty="0">
                <a:solidFill>
                  <a:srgbClr val="1A56A0"/>
                </a:solidFill>
                <a:latin typeface="Calibri" pitchFamily="34" charset="0"/>
                <a:ea typeface="Calibri" pitchFamily="34" charset="-122"/>
                <a:cs typeface="Calibri" pitchFamily="34" charset="-120"/>
              </a:rPr>
              <a:t>Foundation</a:t>
            </a:r>
            <a:endParaRPr lang="en-US" sz="850" dirty="0"/>
          </a:p>
        </p:txBody>
      </p:sp>
      <p:sp>
        <p:nvSpPr>
          <p:cNvPr id="39" name="Text 37"/>
          <p:cNvSpPr/>
          <p:nvPr/>
        </p:nvSpPr>
        <p:spPr>
          <a:xfrm>
            <a:off x="548640" y="2852928"/>
            <a:ext cx="8046720" cy="27432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Also explore: freemarketwatch.world/learn  ·  The six-session deep dive series is available for groups</a:t>
            </a:r>
            <a:endParaRPr lang="en-US" sz="1100" dirty="0"/>
          </a:p>
        </p:txBody>
      </p:sp>
      <p:sp>
        <p:nvSpPr>
          <p:cNvPr id="40" name="Shape 38"/>
          <p:cNvSpPr/>
          <p:nvPr/>
        </p:nvSpPr>
        <p:spPr>
          <a:xfrm>
            <a:off x="457200" y="3200400"/>
            <a:ext cx="4023360" cy="1097280"/>
          </a:xfrm>
          <a:prstGeom prst="rect">
            <a:avLst/>
          </a:prstGeom>
          <a:solidFill>
            <a:srgbClr val="1A2E5E"/>
          </a:solidFill>
          <a:ln w="12700">
            <a:solidFill>
              <a:srgbClr val="1A2E5E"/>
            </a:solidFill>
            <a:prstDash val="solid"/>
          </a:ln>
        </p:spPr>
      </p:sp>
      <p:sp>
        <p:nvSpPr>
          <p:cNvPr id="41" name="Text 39"/>
          <p:cNvSpPr/>
          <p:nvPr/>
        </p:nvSpPr>
        <p:spPr>
          <a:xfrm>
            <a:off x="594360" y="3291840"/>
            <a:ext cx="3749040" cy="256032"/>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Abundance Architecture</a:t>
            </a:r>
            <a:endParaRPr lang="en-US" sz="1200" dirty="0"/>
          </a:p>
        </p:txBody>
      </p:sp>
      <p:sp>
        <p:nvSpPr>
          <p:cNvPr id="42" name="Text 40"/>
          <p:cNvSpPr/>
          <p:nvPr/>
        </p:nvSpPr>
        <p:spPr>
          <a:xfrm>
            <a:off x="594360" y="3566160"/>
            <a:ext cx="3749040" cy="54864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Coming soon — a framework for building personal and community prosperity on a sound money foundation.</a:t>
            </a:r>
            <a:endParaRPr lang="en-US" sz="1000" dirty="0"/>
          </a:p>
        </p:txBody>
      </p:sp>
      <p:sp>
        <p:nvSpPr>
          <p:cNvPr id="43" name="Shape 41"/>
          <p:cNvSpPr/>
          <p:nvPr/>
        </p:nvSpPr>
        <p:spPr>
          <a:xfrm>
            <a:off x="4663440" y="3200400"/>
            <a:ext cx="4023360" cy="1097280"/>
          </a:xfrm>
          <a:prstGeom prst="rect">
            <a:avLst/>
          </a:prstGeom>
          <a:solidFill>
            <a:srgbClr val="1A2E5E"/>
          </a:solidFill>
          <a:ln w="12700">
            <a:solidFill>
              <a:srgbClr val="1A2E5E"/>
            </a:solidFill>
            <a:prstDash val="solid"/>
          </a:ln>
        </p:spPr>
      </p:sp>
      <p:sp>
        <p:nvSpPr>
          <p:cNvPr id="44" name="Text 42"/>
          <p:cNvSpPr/>
          <p:nvPr/>
        </p:nvSpPr>
        <p:spPr>
          <a:xfrm>
            <a:off x="4800600" y="3291840"/>
            <a:ext cx="3749040" cy="256032"/>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Health Unveiled</a:t>
            </a:r>
            <a:endParaRPr lang="en-US" sz="1200" dirty="0"/>
          </a:p>
        </p:txBody>
      </p:sp>
      <p:sp>
        <p:nvSpPr>
          <p:cNvPr id="45" name="Text 43"/>
          <p:cNvSpPr/>
          <p:nvPr/>
        </p:nvSpPr>
        <p:spPr>
          <a:xfrm>
            <a:off x="4800600" y="3566160"/>
            <a:ext cx="3749040" cy="54864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Coming soon — exploring the intersection of monetary policy, incentive structures, and public health outcomes.</a:t>
            </a:r>
            <a:endParaRPr lang="en-US" sz="1000" dirty="0"/>
          </a:p>
        </p:txBody>
      </p:sp>
      <p:sp>
        <p:nvSpPr>
          <p:cNvPr id="46" name="Text 4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Discussion</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What's one thing you see differently?</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Think about your business, your savings, your community. What makes more sense now than it did two hours ago?</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Where do you push back?</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What are we getting wrong? What's the strongest argument against this framework you can make?</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would change?</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If savings actually held value in your community — what decisions would look different? What would you build?</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What's your next step?</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a financial decision — an educational one. What do you want to understand more deeply before the next conversation?</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Question Worth Sitting With</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“The monetary system is not a law of nature. It is a human invention — and human inventions can be changed. Understanding is where that change begins.”</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see purchasing power, currencies, and monetary data in real time</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Go deeper</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freemarketwatch.world/learn — the six-act written series and six-session deep dive</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Find your community</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Communities worldwide are already building circular bitcoin economies — the transition happens together</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Hidden Cost of Money — FreeMarketWatch Overview</dc:title>
  <dc:subject>PptxGenJS Presentation</dc:subject>
  <dc:creator>PptxGenJS</dc:creator>
  <cp:lastModifiedBy>PptxGenJS</cp:lastModifiedBy>
  <cp:revision>1</cp:revision>
  <dcterms:created xsi:type="dcterms:W3CDTF">2026-05-25T15:15:56Z</dcterms:created>
  <dcterms:modified xsi:type="dcterms:W3CDTF">2026-05-25T15:15:56Z</dcterms:modified>
</cp:coreProperties>
</file>