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6 — THE LANDING.
Full series recap — take 15 minutes. This is worth the time.
Walk all five sessions: trade → money → gold → flaw → 1971 → blast radius → time preference → hard money era → Bitcoin as the solution.
"Tonight we land the plane. What does this mean for you, your family, your business, your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pull quote slowly. This is the thesis of the entire series in two sentences.
"If someone who wasn't here asks you what you've been doing for six sessions — this is what you tell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random outcomes. They have causes. Knowing the causes changes how you respond — you stop blaming yourself for things that aren't your fault. And you start making decisions based on the real system, not the one you were told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on whatever the group's remaining questions are. These four are the most common — but your group may have others by now.
CBDC point is important: "A government digital currency backed by the same institutions that debased our money is not a solution. It is the same problem in digital clothes."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if you're wrong" answer models the intellectual honesty that makes this series credible. Don't skip it.
The 401k question will come up. Be clear: not financial advice. But validate the concern — it is a real and important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people to The Bitcoin Standard as the single most important next read.
Rothbard is short and free online — good for someone who wants the foundation quickly.
Your own works: "These are in development — placeholders for resources we are building for this community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discussion that matters most. Take the full 25-30 minutes.
The best outcomes are not people buying Bitcoin — they are people understanding their world more clearly and making better decisions as a result.
Q5: "What's your next step?" — if the group wants to continue meeting, the next natural topic is: what does individual and community adoption of sound money principles actually look like, practically? That is a separate conversation worth 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group genuinely. Six sessions, two hours each — that is real commitment.
"The fact that you showed up for all six of these says something about you and about this community. These ideas matter. Passing them on to your families, your neighbors, your networks is one of the most useful things you can do with what you've learned."
The best sign the series worked: people are still talking in the parking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6583680" y="0"/>
            <a:ext cx="2560320" cy="5143500"/>
          </a:xfrm>
          <a:prstGeom prst="rect">
            <a:avLst/>
          </a:prstGeom>
          <a:solidFill>
            <a:srgbClr val="111827"/>
          </a:solidFill>
          <a:ln w="12700">
            <a:solidFill>
              <a:srgbClr val="111827"/>
            </a:solidFill>
            <a:prstDash val="solid"/>
          </a:ln>
        </p:spPr>
      </p:sp>
      <p:sp>
        <p:nvSpPr>
          <p:cNvPr id="3" name="Shape 1"/>
          <p:cNvSpPr/>
          <p:nvPr/>
        </p:nvSpPr>
        <p:spPr>
          <a:xfrm>
            <a:off x="6583680" y="0"/>
            <a:ext cx="54864" cy="5143500"/>
          </a:xfrm>
          <a:prstGeom prst="rect">
            <a:avLst/>
          </a:prstGeom>
          <a:solidFill>
            <a:srgbClr val="C9A84C"/>
          </a:solidFill>
          <a:ln w="12700">
            <a:solidFill>
              <a:srgbClr val="C9A84C"/>
            </a:solidFill>
            <a:prstDash val="solid"/>
          </a:ln>
        </p:spPr>
      </p:sp>
      <p:sp>
        <p:nvSpPr>
          <p:cNvPr id="4" name="Text 2"/>
          <p:cNvSpPr/>
          <p:nvPr/>
        </p:nvSpPr>
        <p:spPr>
          <a:xfrm>
            <a:off x="548640" y="1188720"/>
            <a:ext cx="5669280" cy="274320"/>
          </a:xfrm>
          <a:prstGeom prst="rect">
            <a:avLst/>
          </a:prstGeom>
          <a:noFill/>
          <a:ln/>
        </p:spPr>
        <p:txBody>
          <a:bodyPr wrap="square" lIns="0" tIns="0" rIns="0" bIns="0" rtlCol="0" anchor="ctr"/>
          <a:lstStyle/>
          <a:p>
            <a:pPr indent="0" marL="0">
              <a:buNone/>
            </a:pPr>
            <a:r>
              <a:rPr lang="en-US" sz="1000" b="1" spc="400" kern="0" dirty="0">
                <a:solidFill>
                  <a:srgbClr val="C9A84C"/>
                </a:solidFill>
                <a:latin typeface="Calibri" pitchFamily="34" charset="0"/>
                <a:ea typeface="Calibri" pitchFamily="34" charset="-122"/>
                <a:cs typeface="Calibri" pitchFamily="34" charset="-120"/>
              </a:rPr>
              <a:t>FREEMARKETWATCH.WORLD</a:t>
            </a:r>
            <a:endParaRPr lang="en-US" sz="1000" dirty="0"/>
          </a:p>
        </p:txBody>
      </p:sp>
      <p:sp>
        <p:nvSpPr>
          <p:cNvPr id="5" name="Text 3"/>
          <p:cNvSpPr/>
          <p:nvPr/>
        </p:nvSpPr>
        <p:spPr>
          <a:xfrm>
            <a:off x="548640" y="1508760"/>
            <a:ext cx="5669280" cy="228600"/>
          </a:xfrm>
          <a:prstGeom prst="rect">
            <a:avLst/>
          </a:prstGeom>
          <a:noFill/>
          <a:ln/>
        </p:spPr>
        <p:txBody>
          <a:bodyPr wrap="square" lIns="0" tIns="0" rIns="0" bIns="0" rtlCol="0" anchor="ctr"/>
          <a:lstStyle/>
          <a:p>
            <a:pPr indent="0" marL="0">
              <a:buNone/>
            </a:pPr>
            <a:r>
              <a:rPr lang="en-US" sz="1100" dirty="0">
                <a:solidFill>
                  <a:srgbClr val="7A8EA8"/>
                </a:solidFill>
                <a:latin typeface="Calibri" pitchFamily="34" charset="0"/>
                <a:ea typeface="Calibri" pitchFamily="34" charset="-122"/>
                <a:cs typeface="Calibri" pitchFamily="34" charset="-120"/>
              </a:rPr>
              <a:t>Session 6 of 6  ·  ~2 hours including discussion</a:t>
            </a:r>
            <a:endParaRPr lang="en-US" sz="1100" dirty="0"/>
          </a:p>
        </p:txBody>
      </p:sp>
      <p:sp>
        <p:nvSpPr>
          <p:cNvPr id="6" name="Text 4"/>
          <p:cNvSpPr/>
          <p:nvPr/>
        </p:nvSpPr>
        <p:spPr>
          <a:xfrm>
            <a:off x="548640" y="1783080"/>
            <a:ext cx="5669280" cy="1463040"/>
          </a:xfrm>
          <a:prstGeom prst="rect">
            <a:avLst/>
          </a:prstGeom>
          <a:noFill/>
          <a:ln/>
        </p:spPr>
        <p:txBody>
          <a:bodyPr wrap="square" rtlCol="0" anchor="ctr"/>
          <a:lstStyle/>
          <a:p>
            <a:pPr indent="0" marL="0">
              <a:lnSpc>
                <a:spcPct val="115000"/>
              </a:lnSpc>
              <a:buNone/>
            </a:pPr>
            <a:r>
              <a:rPr lang="en-US" sz="4000" b="1" dirty="0">
                <a:solidFill>
                  <a:srgbClr val="FFFFFF"/>
                </a:solidFill>
                <a:latin typeface="Georgia" pitchFamily="34" charset="0"/>
                <a:ea typeface="Georgia" pitchFamily="34" charset="-122"/>
                <a:cs typeface="Georgia" pitchFamily="34" charset="-120"/>
              </a:rPr>
              <a:t>What You Now Understand</a:t>
            </a:r>
            <a:endParaRPr lang="en-US" sz="4000" dirty="0"/>
          </a:p>
        </p:txBody>
      </p:sp>
      <p:sp>
        <p:nvSpPr>
          <p:cNvPr id="7" name="Text 5"/>
          <p:cNvSpPr/>
          <p:nvPr/>
        </p:nvSpPr>
        <p:spPr>
          <a:xfrm>
            <a:off x="548640" y="3291840"/>
            <a:ext cx="5669280" cy="640080"/>
          </a:xfrm>
          <a:prstGeom prst="rect">
            <a:avLst/>
          </a:prstGeom>
          <a:noFill/>
          <a:ln/>
        </p:spPr>
        <p:txBody>
          <a:bodyPr wrap="square" rtlCol="0" anchor="ctr"/>
          <a:lstStyle/>
          <a:p>
            <a:pPr indent="0" marL="0">
              <a:lnSpc>
                <a:spcPct val="140000"/>
              </a:lnSpc>
              <a:buNone/>
            </a:pPr>
            <a:r>
              <a:rPr lang="en-US" sz="1500" dirty="0">
                <a:solidFill>
                  <a:srgbClr val="A0AEC0"/>
                </a:solidFill>
                <a:latin typeface="Calibri" pitchFamily="34" charset="0"/>
                <a:ea typeface="Calibri" pitchFamily="34" charset="-122"/>
                <a:cs typeface="Calibri" pitchFamily="34" charset="-120"/>
              </a:rPr>
              <a:t>And what comes next</a:t>
            </a:r>
            <a:endParaRPr lang="en-US" sz="1500" dirty="0"/>
          </a:p>
        </p:txBody>
      </p:sp>
      <p:sp>
        <p:nvSpPr>
          <p:cNvPr id="8" name="Text 6"/>
          <p:cNvSpPr/>
          <p:nvPr/>
        </p:nvSpPr>
        <p:spPr>
          <a:xfrm>
            <a:off x="548640" y="4773168"/>
            <a:ext cx="5669280" cy="201168"/>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Version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The Story So Far</a:t>
            </a:r>
            <a:endParaRPr lang="en-US" sz="2600" dirty="0"/>
          </a:p>
        </p:txBody>
      </p:sp>
      <p:sp>
        <p:nvSpPr>
          <p:cNvPr id="3" name="Shape 1"/>
          <p:cNvSpPr/>
          <p:nvPr/>
        </p:nvSpPr>
        <p:spPr>
          <a:xfrm>
            <a:off x="457200" y="960120"/>
            <a:ext cx="64008" cy="1005840"/>
          </a:xfrm>
          <a:prstGeom prst="rect">
            <a:avLst/>
          </a:prstGeom>
          <a:solidFill>
            <a:srgbClr val="C9A84C"/>
          </a:solidFill>
          <a:ln w="12700">
            <a:solidFill>
              <a:srgbClr val="C9A84C"/>
            </a:solidFill>
            <a:prstDash val="solid"/>
          </a:ln>
        </p:spPr>
      </p:sp>
      <p:sp>
        <p:nvSpPr>
          <p:cNvPr id="4" name="Shape 2"/>
          <p:cNvSpPr/>
          <p:nvPr/>
        </p:nvSpPr>
        <p:spPr>
          <a:xfrm>
            <a:off x="457200" y="960120"/>
            <a:ext cx="8229600" cy="1005840"/>
          </a:xfrm>
          <a:prstGeom prst="rect">
            <a:avLst/>
          </a:prstGeom>
          <a:solidFill>
            <a:srgbClr val="1A2E5E"/>
          </a:solidFill>
          <a:ln w="12700">
            <a:solidFill>
              <a:srgbClr val="1A2E5E"/>
            </a:solidFill>
            <a:prstDash val="solid"/>
          </a:ln>
        </p:spPr>
      </p:sp>
      <p:sp>
        <p:nvSpPr>
          <p:cNvPr id="5" name="Text 3"/>
          <p:cNvSpPr/>
          <p:nvPr/>
        </p:nvSpPr>
        <p:spPr>
          <a:xfrm>
            <a:off x="685800" y="1051560"/>
            <a:ext cx="7772400" cy="822960"/>
          </a:xfrm>
          <a:prstGeom prst="rect">
            <a:avLst/>
          </a:prstGeom>
          <a:noFill/>
          <a:ln/>
        </p:spPr>
        <p:txBody>
          <a:bodyPr wrap="square" rtlCol="0" anchor="ctr"/>
          <a:lstStyle/>
          <a:p>
            <a:pPr indent="0" marL="0">
              <a:lnSpc>
                <a:spcPct val="150000"/>
              </a:lnSpc>
              <a:buNone/>
            </a:pPr>
            <a:r>
              <a:rPr lang="en-US" sz="1350" i="1" dirty="0">
                <a:solidFill>
                  <a:srgbClr val="E8EAF6"/>
                </a:solidFill>
                <a:latin typeface="Georgia" pitchFamily="34" charset="0"/>
                <a:ea typeface="Georgia" pitchFamily="34" charset="-122"/>
                <a:cs typeface="Georgia" pitchFamily="34" charset="-120"/>
              </a:rPr>
              <a:t>“The most important thing to understand is not Bitcoin. It is the economic foundation — what easy money costs, what hard money restores, and why the money we use shapes the world we live in. Bitcoin is the solution that follows from that understanding.”</a:t>
            </a:r>
            <a:endParaRPr lang="en-US" sz="1350" dirty="0"/>
          </a:p>
        </p:txBody>
      </p:sp>
      <p:sp>
        <p:nvSpPr>
          <p:cNvPr id="6" name="Text 4"/>
          <p:cNvSpPr/>
          <p:nvPr/>
        </p:nvSpPr>
        <p:spPr>
          <a:xfrm>
            <a:off x="548640" y="2075688"/>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You started with trade — the most fundamental human behavior. You followed that thread through specialization, civilization, and the emergence of money. You learned what makes money good, traced the long dominance of gold, and understood exactly why gold's one structural flaw was enough to unravel the entire system.</a:t>
            </a:r>
            <a:endParaRPr lang="en-US" sz="1300" dirty="0"/>
          </a:p>
        </p:txBody>
      </p:sp>
      <p:sp>
        <p:nvSpPr>
          <p:cNvPr id="7" name="Text 5"/>
          <p:cNvSpPr/>
          <p:nvPr/>
        </p:nvSpPr>
        <p:spPr>
          <a:xfrm>
            <a:off x="548640" y="3246120"/>
            <a:ext cx="8046720" cy="1060704"/>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You saw what unlimited money creation does — not just to prices, but to wars, inequality, incentives, and the texture of daily life. You learned how hard money changes time preference, and how the gold standard era produced broad prosperity that we have largely lost.</a:t>
            </a:r>
            <a:endParaRPr lang="en-US" sz="1300" dirty="0"/>
          </a:p>
        </p:txBody>
      </p:sp>
      <p:sp>
        <p:nvSpPr>
          <p:cNvPr id="8" name="Text 6"/>
          <p:cNvSpPr/>
          <p:nvPr/>
        </p:nvSpPr>
        <p:spPr>
          <a:xfrm>
            <a:off x="548640" y="4416552"/>
            <a:ext cx="8046720" cy="658368"/>
          </a:xfrm>
          <a:prstGeom prst="rect">
            <a:avLst/>
          </a:prstGeom>
          <a:noFill/>
          <a:ln/>
        </p:spPr>
        <p:txBody>
          <a:bodyPr wrap="square" rtlCol="0" anchor="ctr"/>
          <a:lstStyle/>
          <a:p>
            <a:pPr indent="0" marL="0">
              <a:lnSpc>
                <a:spcPct val="155000"/>
              </a:lnSpc>
              <a:buNone/>
            </a:pPr>
            <a:r>
              <a:rPr lang="en-US" sz="1300" dirty="0">
                <a:solidFill>
                  <a:srgbClr val="4A5568"/>
                </a:solidFill>
                <a:latin typeface="Calibri" pitchFamily="34" charset="0"/>
                <a:ea typeface="Calibri" pitchFamily="34" charset="-122"/>
                <a:cs typeface="Calibri" pitchFamily="34" charset="-120"/>
              </a:rPr>
              <a:t>And you arrived at Bitcoin not through hype, but through logic.</a:t>
            </a:r>
            <a:endParaRPr lang="en-US" sz="1300" dirty="0"/>
          </a:p>
        </p:txBody>
      </p:sp>
      <p:sp>
        <p:nvSpPr>
          <p:cNvPr id="9" name="Text 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What You Now See Differently</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housing feels out of reach</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because housing became more valuable — because money became less valuable. The wealthy use real estate to protect wealth from debasement, bidding up the price of shelter for everyone else.</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wages never catch up</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Wage earners sit at the furthest end of the Cantillon chain. New money reaches assets before it reaches salaries. Workers see rising costs, not rising wages.</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debt feels inescapable</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The fiat system requires debt to function — money is created through loans. Saving is punished; borrowing subsidized. Debt is structurally required, not a personal failure.</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Why everything feels disposable</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greed. Not cheap manufacturing. Incentives set by the monetary system. Inflation erodes purchasing power, consumers buy on price, producers cut costs, quality falls.</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Extended Q&amp;A — Common Objections</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Technical: Is Bitcoin just speculation?</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Volatility ≠ lack of utility. The monetary properties hold regardless of price. Fifteen years of continuous operation with no failure.</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Technical: What about energy use?</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Real tradeoff. Compare to cost of gold mining, banking system, armored transport. Whether sound money is worth the energy is a legitimate question.</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Political: Can governments ban it?</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Can restrict. Cannot shut down a global distributed network. No central point of failure. Network has never been shut down.</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Political: What about CBDCs?</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Government digital currency is the opposite of Bitcoin — programmable, controllable, unlimited. Does not solve the scarcity problem. It deepens it.</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4864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More Objections — Philosophical</a:t>
            </a:r>
            <a:endParaRPr lang="en-US" sz="2600" dirty="0"/>
          </a:p>
        </p:txBody>
      </p:sp>
      <p:sp>
        <p:nvSpPr>
          <p:cNvPr id="3" name="Shape 1"/>
          <p:cNvSpPr/>
          <p:nvPr/>
        </p:nvSpPr>
        <p:spPr>
          <a:xfrm>
            <a:off x="45720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64008" cy="1691640"/>
          </a:xfrm>
          <a:prstGeom prst="rect">
            <a:avLst/>
          </a:prstGeom>
          <a:solidFill>
            <a:srgbClr val="C9A84C"/>
          </a:solidFill>
          <a:ln w="12700">
            <a:solidFill>
              <a:srgbClr val="C9A84C"/>
            </a:solidFill>
            <a:prstDash val="solid"/>
          </a:ln>
        </p:spPr>
      </p:sp>
      <p:sp>
        <p:nvSpPr>
          <p:cNvPr id="5" name="Text 3"/>
          <p:cNvSpPr/>
          <p:nvPr/>
        </p:nvSpPr>
        <p:spPr>
          <a:xfrm>
            <a:off x="59436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Isn't it too late?</a:t>
            </a:r>
            <a:endParaRPr lang="en-US" sz="1200" dirty="0"/>
          </a:p>
        </p:txBody>
      </p:sp>
      <p:sp>
        <p:nvSpPr>
          <p:cNvPr id="6" name="Text 4"/>
          <p:cNvSpPr/>
          <p:nvPr/>
        </p:nvSpPr>
        <p:spPr>
          <a:xfrm>
            <a:off x="59436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Global adoption is still low single digits. The transition from fiat to sound money is measured in decades. Understanding is more valuable than timing.</a:t>
            </a:r>
            <a:endParaRPr lang="en-US" sz="1100" dirty="0"/>
          </a:p>
        </p:txBody>
      </p:sp>
      <p:sp>
        <p:nvSpPr>
          <p:cNvPr id="7" name="Shape 5"/>
          <p:cNvSpPr/>
          <p:nvPr/>
        </p:nvSpPr>
        <p:spPr>
          <a:xfrm>
            <a:off x="4617720" y="1005840"/>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4617720" y="1005840"/>
            <a:ext cx="64008" cy="1691640"/>
          </a:xfrm>
          <a:prstGeom prst="rect">
            <a:avLst/>
          </a:prstGeom>
          <a:solidFill>
            <a:srgbClr val="C9A84C"/>
          </a:solidFill>
          <a:ln w="12700">
            <a:solidFill>
              <a:srgbClr val="C9A84C"/>
            </a:solidFill>
            <a:prstDash val="solid"/>
          </a:ln>
        </p:spPr>
      </p:sp>
      <p:sp>
        <p:nvSpPr>
          <p:cNvPr id="9" name="Text 7"/>
          <p:cNvSpPr/>
          <p:nvPr/>
        </p:nvSpPr>
        <p:spPr>
          <a:xfrm>
            <a:off x="4754880" y="1115568"/>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if you're wrong?</a:t>
            </a:r>
            <a:endParaRPr lang="en-US" sz="1200" dirty="0"/>
          </a:p>
        </p:txBody>
      </p:sp>
      <p:sp>
        <p:nvSpPr>
          <p:cNvPr id="10" name="Text 8"/>
          <p:cNvSpPr/>
          <p:nvPr/>
        </p:nvSpPr>
        <p:spPr>
          <a:xfrm>
            <a:off x="4754880" y="1426464"/>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An honest answer: you can disagree with the conclusion while accepting the historical record. The wealth gap, debt explosion, and purchasing power erosion since 1971 are documented facts. Form your own view.</a:t>
            </a:r>
            <a:endParaRPr lang="en-US" sz="1100" dirty="0"/>
          </a:p>
        </p:txBody>
      </p:sp>
      <p:sp>
        <p:nvSpPr>
          <p:cNvPr id="11" name="Shape 9"/>
          <p:cNvSpPr/>
          <p:nvPr/>
        </p:nvSpPr>
        <p:spPr>
          <a:xfrm>
            <a:off x="45720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2" name="Shape 10"/>
          <p:cNvSpPr/>
          <p:nvPr/>
        </p:nvSpPr>
        <p:spPr>
          <a:xfrm>
            <a:off x="457200" y="2807208"/>
            <a:ext cx="64008" cy="1691640"/>
          </a:xfrm>
          <a:prstGeom prst="rect">
            <a:avLst/>
          </a:prstGeom>
          <a:solidFill>
            <a:srgbClr val="C9A84C"/>
          </a:solidFill>
          <a:ln w="12700">
            <a:solidFill>
              <a:srgbClr val="C9A84C"/>
            </a:solidFill>
            <a:prstDash val="solid"/>
          </a:ln>
        </p:spPr>
      </p:sp>
      <p:sp>
        <p:nvSpPr>
          <p:cNvPr id="13" name="Text 11"/>
          <p:cNvSpPr/>
          <p:nvPr/>
        </p:nvSpPr>
        <p:spPr>
          <a:xfrm>
            <a:off x="59436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about other cryptos?</a:t>
            </a:r>
            <a:endParaRPr lang="en-US" sz="1200" dirty="0"/>
          </a:p>
        </p:txBody>
      </p:sp>
      <p:sp>
        <p:nvSpPr>
          <p:cNvPr id="14" name="Text 12"/>
          <p:cNvSpPr/>
          <p:nvPr/>
        </p:nvSpPr>
        <p:spPr>
          <a:xfrm>
            <a:off x="59436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Most have no fixed supply and central teams who can change the rules. Bitcoin is categorically different. The distinction matters enormously.</a:t>
            </a:r>
            <a:endParaRPr lang="en-US" sz="1100" dirty="0"/>
          </a:p>
        </p:txBody>
      </p:sp>
      <p:sp>
        <p:nvSpPr>
          <p:cNvPr id="15" name="Shape 13"/>
          <p:cNvSpPr/>
          <p:nvPr/>
        </p:nvSpPr>
        <p:spPr>
          <a:xfrm>
            <a:off x="4617720" y="2807208"/>
            <a:ext cx="4069080" cy="1691640"/>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6" name="Shape 14"/>
          <p:cNvSpPr/>
          <p:nvPr/>
        </p:nvSpPr>
        <p:spPr>
          <a:xfrm>
            <a:off x="4617720" y="2807208"/>
            <a:ext cx="64008" cy="1691640"/>
          </a:xfrm>
          <a:prstGeom prst="rect">
            <a:avLst/>
          </a:prstGeom>
          <a:solidFill>
            <a:srgbClr val="C9A84C"/>
          </a:solidFill>
          <a:ln w="12700">
            <a:solidFill>
              <a:srgbClr val="C9A84C"/>
            </a:solidFill>
            <a:prstDash val="solid"/>
          </a:ln>
        </p:spPr>
      </p:sp>
      <p:sp>
        <p:nvSpPr>
          <p:cNvPr id="17" name="Text 15"/>
          <p:cNvSpPr/>
          <p:nvPr/>
        </p:nvSpPr>
        <p:spPr>
          <a:xfrm>
            <a:off x="4754880" y="2916936"/>
            <a:ext cx="3840480" cy="274320"/>
          </a:xfrm>
          <a:prstGeom prst="rect">
            <a:avLst/>
          </a:prstGeom>
          <a:noFill/>
          <a:ln/>
        </p:spPr>
        <p:txBody>
          <a:bodyPr wrap="square" lIns="0" tIns="0" rIns="0" bIns="0" rtlCol="0" anchor="ctr"/>
          <a:lstStyle/>
          <a:p>
            <a:pPr indent="0" marL="0">
              <a:buNone/>
            </a:pPr>
            <a:r>
              <a:rPr lang="en-US" sz="1200" b="1" dirty="0">
                <a:solidFill>
                  <a:srgbClr val="1C1C2E"/>
                </a:solidFill>
                <a:latin typeface="Calibri" pitchFamily="34" charset="0"/>
                <a:ea typeface="Calibri" pitchFamily="34" charset="-122"/>
                <a:cs typeface="Calibri" pitchFamily="34" charset="-120"/>
              </a:rPr>
              <a:t>What about my 401k / retirement?</a:t>
            </a:r>
            <a:endParaRPr lang="en-US" sz="1200" dirty="0"/>
          </a:p>
        </p:txBody>
      </p:sp>
      <p:sp>
        <p:nvSpPr>
          <p:cNvPr id="18" name="Text 16"/>
          <p:cNvSpPr/>
          <p:nvPr/>
        </p:nvSpPr>
        <p:spPr>
          <a:xfrm>
            <a:off x="4754880" y="3227832"/>
            <a:ext cx="3840480" cy="1124712"/>
          </a:xfrm>
          <a:prstGeom prst="rect">
            <a:avLst/>
          </a:prstGeom>
          <a:noFill/>
          <a:ln/>
        </p:spPr>
        <p:txBody>
          <a:bodyPr wrap="square" lIns="0" tIns="0" rIns="0" bIns="0" rtlCol="0" anchor="ctr"/>
          <a:lstStyle/>
          <a:p>
            <a:pPr indent="0" marL="0">
              <a:lnSpc>
                <a:spcPct val="145000"/>
              </a:lnSpc>
              <a:buNone/>
            </a:pPr>
            <a:r>
              <a:rPr lang="en-US" sz="1100" dirty="0">
                <a:solidFill>
                  <a:srgbClr val="4A5568"/>
                </a:solidFill>
                <a:latin typeface="Calibri" pitchFamily="34" charset="0"/>
                <a:ea typeface="Calibri" pitchFamily="34" charset="-122"/>
                <a:cs typeface="Calibri" pitchFamily="34" charset="-120"/>
              </a:rPr>
              <a:t>Not financial advice. But understanding the monetary system you are saving within changes how you think about what you're saving in. That is a conversation for you and a trusted advisor.</a:t>
            </a:r>
            <a:endParaRPr lang="en-US" sz="1100" dirty="0"/>
          </a:p>
        </p:txBody>
      </p:sp>
      <p:sp>
        <p:nvSpPr>
          <p:cNvPr id="19" name="Text 17"/>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274320"/>
            <a:ext cx="8046720" cy="502920"/>
          </a:xfrm>
          <a:prstGeom prst="rect">
            <a:avLst/>
          </a:prstGeom>
          <a:noFill/>
          <a:ln/>
        </p:spPr>
        <p:txBody>
          <a:bodyPr wrap="square" rtlCol="0" anchor="ctr"/>
          <a:lstStyle/>
          <a:p>
            <a:pPr indent="0" marL="0">
              <a:buNone/>
            </a:pPr>
            <a:r>
              <a:rPr lang="en-US" sz="2600" b="1" dirty="0">
                <a:solidFill>
                  <a:srgbClr val="1C1C2E"/>
                </a:solidFill>
                <a:latin typeface="Georgia" pitchFamily="34" charset="0"/>
                <a:ea typeface="Georgia" pitchFamily="34" charset="-122"/>
                <a:cs typeface="Georgia" pitchFamily="34" charset="-120"/>
              </a:rPr>
              <a:t>Essential Reading</a:t>
            </a:r>
            <a:endParaRPr lang="en-US" sz="2600" dirty="0"/>
          </a:p>
        </p:txBody>
      </p:sp>
      <p:sp>
        <p:nvSpPr>
          <p:cNvPr id="3" name="Shape 1"/>
          <p:cNvSpPr/>
          <p:nvPr/>
        </p:nvSpPr>
        <p:spPr>
          <a:xfrm>
            <a:off x="457200"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4" name="Shape 2"/>
          <p:cNvSpPr/>
          <p:nvPr/>
        </p:nvSpPr>
        <p:spPr>
          <a:xfrm>
            <a:off x="457200" y="1005840"/>
            <a:ext cx="54864" cy="768096"/>
          </a:xfrm>
          <a:prstGeom prst="rect">
            <a:avLst/>
          </a:prstGeom>
          <a:solidFill>
            <a:srgbClr val="C9A84C"/>
          </a:solidFill>
          <a:ln w="12700">
            <a:solidFill>
              <a:srgbClr val="C9A84C"/>
            </a:solidFill>
            <a:prstDash val="solid"/>
          </a:ln>
        </p:spPr>
      </p:sp>
      <p:sp>
        <p:nvSpPr>
          <p:cNvPr id="5" name="Text 3"/>
          <p:cNvSpPr/>
          <p:nvPr/>
        </p:nvSpPr>
        <p:spPr>
          <a:xfrm>
            <a:off x="585216" y="1078992"/>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The Bitcoin Standard</a:t>
            </a:r>
            <a:endParaRPr lang="en-US" sz="1050" dirty="0"/>
          </a:p>
        </p:txBody>
      </p:sp>
      <p:sp>
        <p:nvSpPr>
          <p:cNvPr id="6" name="Text 4"/>
          <p:cNvSpPr/>
          <p:nvPr/>
        </p:nvSpPr>
        <p:spPr>
          <a:xfrm>
            <a:off x="585216" y="1353312"/>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Saifedean Ammous</a:t>
            </a:r>
            <a:endParaRPr lang="en-US" sz="950" dirty="0"/>
          </a:p>
        </p:txBody>
      </p:sp>
      <p:sp>
        <p:nvSpPr>
          <p:cNvPr id="7" name="Shape 5"/>
          <p:cNvSpPr/>
          <p:nvPr/>
        </p:nvSpPr>
        <p:spPr>
          <a:xfrm>
            <a:off x="2450592" y="1325880"/>
            <a:ext cx="676656" cy="228600"/>
          </a:xfrm>
          <a:prstGeom prst="rect">
            <a:avLst/>
          </a:prstGeom>
          <a:solidFill>
            <a:srgbClr val="D6E4F7"/>
          </a:solidFill>
          <a:ln w="12700">
            <a:solidFill>
              <a:srgbClr val="D1D9E6"/>
            </a:solidFill>
            <a:prstDash val="solid"/>
          </a:ln>
        </p:spPr>
      </p:sp>
      <p:sp>
        <p:nvSpPr>
          <p:cNvPr id="8" name="Text 6"/>
          <p:cNvSpPr/>
          <p:nvPr/>
        </p:nvSpPr>
        <p:spPr>
          <a:xfrm>
            <a:off x="2450592" y="1325880"/>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Start here</a:t>
            </a:r>
            <a:endParaRPr lang="en-US" sz="800" dirty="0"/>
          </a:p>
        </p:txBody>
      </p:sp>
      <p:sp>
        <p:nvSpPr>
          <p:cNvPr id="9" name="Text 7"/>
          <p:cNvSpPr/>
          <p:nvPr/>
        </p:nvSpPr>
        <p:spPr>
          <a:xfrm>
            <a:off x="585216" y="1536192"/>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The definitive case. Start here.</a:t>
            </a:r>
            <a:endParaRPr lang="en-US" sz="900" dirty="0"/>
          </a:p>
        </p:txBody>
      </p:sp>
      <p:sp>
        <p:nvSpPr>
          <p:cNvPr id="10" name="Shape 8"/>
          <p:cNvSpPr/>
          <p:nvPr/>
        </p:nvSpPr>
        <p:spPr>
          <a:xfrm>
            <a:off x="3310128"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3310128" y="1005840"/>
            <a:ext cx="54864" cy="768096"/>
          </a:xfrm>
          <a:prstGeom prst="rect">
            <a:avLst/>
          </a:prstGeom>
          <a:solidFill>
            <a:srgbClr val="C9A84C"/>
          </a:solidFill>
          <a:ln w="12700">
            <a:solidFill>
              <a:srgbClr val="C9A84C"/>
            </a:solidFill>
            <a:prstDash val="solid"/>
          </a:ln>
        </p:spPr>
      </p:sp>
      <p:sp>
        <p:nvSpPr>
          <p:cNvPr id="12" name="Text 10"/>
          <p:cNvSpPr/>
          <p:nvPr/>
        </p:nvSpPr>
        <p:spPr>
          <a:xfrm>
            <a:off x="3438144" y="1078992"/>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The Fiat Standard</a:t>
            </a:r>
            <a:endParaRPr lang="en-US" sz="1050" dirty="0"/>
          </a:p>
        </p:txBody>
      </p:sp>
      <p:sp>
        <p:nvSpPr>
          <p:cNvPr id="13" name="Text 11"/>
          <p:cNvSpPr/>
          <p:nvPr/>
        </p:nvSpPr>
        <p:spPr>
          <a:xfrm>
            <a:off x="3438144" y="1353312"/>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Saifedean Ammous</a:t>
            </a:r>
            <a:endParaRPr lang="en-US" sz="950" dirty="0"/>
          </a:p>
        </p:txBody>
      </p:sp>
      <p:sp>
        <p:nvSpPr>
          <p:cNvPr id="14" name="Shape 12"/>
          <p:cNvSpPr/>
          <p:nvPr/>
        </p:nvSpPr>
        <p:spPr>
          <a:xfrm>
            <a:off x="5303520" y="1325880"/>
            <a:ext cx="676656" cy="228600"/>
          </a:xfrm>
          <a:prstGeom prst="rect">
            <a:avLst/>
          </a:prstGeom>
          <a:solidFill>
            <a:srgbClr val="D6E4F7"/>
          </a:solidFill>
          <a:ln w="12700">
            <a:solidFill>
              <a:srgbClr val="D1D9E6"/>
            </a:solidFill>
            <a:prstDash val="solid"/>
          </a:ln>
        </p:spPr>
      </p:sp>
      <p:sp>
        <p:nvSpPr>
          <p:cNvPr id="15" name="Text 13"/>
          <p:cNvSpPr/>
          <p:nvPr/>
        </p:nvSpPr>
        <p:spPr>
          <a:xfrm>
            <a:off x="5303520" y="1325880"/>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Monetary</a:t>
            </a:r>
            <a:endParaRPr lang="en-US" sz="800" dirty="0"/>
          </a:p>
        </p:txBody>
      </p:sp>
      <p:sp>
        <p:nvSpPr>
          <p:cNvPr id="16" name="Text 14"/>
          <p:cNvSpPr/>
          <p:nvPr/>
        </p:nvSpPr>
        <p:spPr>
          <a:xfrm>
            <a:off x="3438144" y="1536192"/>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How fiat actually works — mechanics and consequences.</a:t>
            </a:r>
            <a:endParaRPr lang="en-US" sz="900" dirty="0"/>
          </a:p>
        </p:txBody>
      </p:sp>
      <p:sp>
        <p:nvSpPr>
          <p:cNvPr id="17" name="Shape 15"/>
          <p:cNvSpPr/>
          <p:nvPr/>
        </p:nvSpPr>
        <p:spPr>
          <a:xfrm>
            <a:off x="6163056" y="1005840"/>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6163056" y="1005840"/>
            <a:ext cx="54864" cy="768096"/>
          </a:xfrm>
          <a:prstGeom prst="rect">
            <a:avLst/>
          </a:prstGeom>
          <a:solidFill>
            <a:srgbClr val="C9A84C"/>
          </a:solidFill>
          <a:ln w="12700">
            <a:solidFill>
              <a:srgbClr val="C9A84C"/>
            </a:solidFill>
            <a:prstDash val="solid"/>
          </a:ln>
        </p:spPr>
      </p:sp>
      <p:sp>
        <p:nvSpPr>
          <p:cNvPr id="19" name="Text 17"/>
          <p:cNvSpPr/>
          <p:nvPr/>
        </p:nvSpPr>
        <p:spPr>
          <a:xfrm>
            <a:off x="6291072" y="1078992"/>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What Has Government Done to Our Money?</a:t>
            </a:r>
            <a:endParaRPr lang="en-US" sz="1050" dirty="0"/>
          </a:p>
        </p:txBody>
      </p:sp>
      <p:sp>
        <p:nvSpPr>
          <p:cNvPr id="20" name="Text 18"/>
          <p:cNvSpPr/>
          <p:nvPr/>
        </p:nvSpPr>
        <p:spPr>
          <a:xfrm>
            <a:off x="6291072" y="1353312"/>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Murray Rothbard</a:t>
            </a:r>
            <a:endParaRPr lang="en-US" sz="950" dirty="0"/>
          </a:p>
        </p:txBody>
      </p:sp>
      <p:sp>
        <p:nvSpPr>
          <p:cNvPr id="21" name="Shape 19"/>
          <p:cNvSpPr/>
          <p:nvPr/>
        </p:nvSpPr>
        <p:spPr>
          <a:xfrm>
            <a:off x="8156448" y="1325880"/>
            <a:ext cx="676656" cy="228600"/>
          </a:xfrm>
          <a:prstGeom prst="rect">
            <a:avLst/>
          </a:prstGeom>
          <a:solidFill>
            <a:srgbClr val="D6E4F7"/>
          </a:solidFill>
          <a:ln w="12700">
            <a:solidFill>
              <a:srgbClr val="D1D9E6"/>
            </a:solidFill>
            <a:prstDash val="solid"/>
          </a:ln>
        </p:spPr>
      </p:sp>
      <p:sp>
        <p:nvSpPr>
          <p:cNvPr id="22" name="Text 20"/>
          <p:cNvSpPr/>
          <p:nvPr/>
        </p:nvSpPr>
        <p:spPr>
          <a:xfrm>
            <a:off x="8156448" y="1325880"/>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Foundation</a:t>
            </a:r>
            <a:endParaRPr lang="en-US" sz="800" dirty="0"/>
          </a:p>
        </p:txBody>
      </p:sp>
      <p:sp>
        <p:nvSpPr>
          <p:cNvPr id="23" name="Text 21"/>
          <p:cNvSpPr/>
          <p:nvPr/>
        </p:nvSpPr>
        <p:spPr>
          <a:xfrm>
            <a:off x="6291072" y="1536192"/>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Short, readable classic. Free online.</a:t>
            </a:r>
            <a:endParaRPr lang="en-US" sz="900" dirty="0"/>
          </a:p>
        </p:txBody>
      </p:sp>
      <p:sp>
        <p:nvSpPr>
          <p:cNvPr id="24" name="Shape 22"/>
          <p:cNvSpPr/>
          <p:nvPr/>
        </p:nvSpPr>
        <p:spPr>
          <a:xfrm>
            <a:off x="457200"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25" name="Shape 23"/>
          <p:cNvSpPr/>
          <p:nvPr/>
        </p:nvSpPr>
        <p:spPr>
          <a:xfrm>
            <a:off x="457200" y="1883664"/>
            <a:ext cx="54864" cy="768096"/>
          </a:xfrm>
          <a:prstGeom prst="rect">
            <a:avLst/>
          </a:prstGeom>
          <a:solidFill>
            <a:srgbClr val="C9A84C"/>
          </a:solidFill>
          <a:ln w="12700">
            <a:solidFill>
              <a:srgbClr val="C9A84C"/>
            </a:solidFill>
            <a:prstDash val="solid"/>
          </a:ln>
        </p:spPr>
      </p:sp>
      <p:sp>
        <p:nvSpPr>
          <p:cNvPr id="26" name="Text 24"/>
          <p:cNvSpPr/>
          <p:nvPr/>
        </p:nvSpPr>
        <p:spPr>
          <a:xfrm>
            <a:off x="585216" y="1956816"/>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Price of Tomorrow</a:t>
            </a:r>
            <a:endParaRPr lang="en-US" sz="1050" dirty="0"/>
          </a:p>
        </p:txBody>
      </p:sp>
      <p:sp>
        <p:nvSpPr>
          <p:cNvPr id="27" name="Text 25"/>
          <p:cNvSpPr/>
          <p:nvPr/>
        </p:nvSpPr>
        <p:spPr>
          <a:xfrm>
            <a:off x="585216" y="2231136"/>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Jeff Booth</a:t>
            </a:r>
            <a:endParaRPr lang="en-US" sz="950" dirty="0"/>
          </a:p>
        </p:txBody>
      </p:sp>
      <p:sp>
        <p:nvSpPr>
          <p:cNvPr id="28" name="Shape 26"/>
          <p:cNvSpPr/>
          <p:nvPr/>
        </p:nvSpPr>
        <p:spPr>
          <a:xfrm>
            <a:off x="2450592" y="2203704"/>
            <a:ext cx="676656" cy="228600"/>
          </a:xfrm>
          <a:prstGeom prst="rect">
            <a:avLst/>
          </a:prstGeom>
          <a:solidFill>
            <a:srgbClr val="D6E4F7"/>
          </a:solidFill>
          <a:ln w="12700">
            <a:solidFill>
              <a:srgbClr val="D1D9E6"/>
            </a:solidFill>
            <a:prstDash val="solid"/>
          </a:ln>
        </p:spPr>
      </p:sp>
      <p:sp>
        <p:nvSpPr>
          <p:cNvPr id="29" name="Text 27"/>
          <p:cNvSpPr/>
          <p:nvPr/>
        </p:nvSpPr>
        <p:spPr>
          <a:xfrm>
            <a:off x="2450592" y="2203704"/>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Monetary</a:t>
            </a:r>
            <a:endParaRPr lang="en-US" sz="800" dirty="0"/>
          </a:p>
        </p:txBody>
      </p:sp>
      <p:sp>
        <p:nvSpPr>
          <p:cNvPr id="30" name="Text 28"/>
          <p:cNvSpPr/>
          <p:nvPr/>
        </p:nvSpPr>
        <p:spPr>
          <a:xfrm>
            <a:off x="585216" y="2414016"/>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Deflation, technology, and why fiat fights a losing battle.</a:t>
            </a:r>
            <a:endParaRPr lang="en-US" sz="900" dirty="0"/>
          </a:p>
        </p:txBody>
      </p:sp>
      <p:sp>
        <p:nvSpPr>
          <p:cNvPr id="31" name="Shape 29"/>
          <p:cNvSpPr/>
          <p:nvPr/>
        </p:nvSpPr>
        <p:spPr>
          <a:xfrm>
            <a:off x="3310128"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32" name="Shape 30"/>
          <p:cNvSpPr/>
          <p:nvPr/>
        </p:nvSpPr>
        <p:spPr>
          <a:xfrm>
            <a:off x="3310128" y="1883664"/>
            <a:ext cx="54864" cy="768096"/>
          </a:xfrm>
          <a:prstGeom prst="rect">
            <a:avLst/>
          </a:prstGeom>
          <a:solidFill>
            <a:srgbClr val="C9A84C"/>
          </a:solidFill>
          <a:ln w="12700">
            <a:solidFill>
              <a:srgbClr val="C9A84C"/>
            </a:solidFill>
            <a:prstDash val="solid"/>
          </a:ln>
        </p:spPr>
      </p:sp>
      <p:sp>
        <p:nvSpPr>
          <p:cNvPr id="33" name="Text 31"/>
          <p:cNvSpPr/>
          <p:nvPr/>
        </p:nvSpPr>
        <p:spPr>
          <a:xfrm>
            <a:off x="3438144" y="1956816"/>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Broken Money</a:t>
            </a:r>
            <a:endParaRPr lang="en-US" sz="1050" dirty="0"/>
          </a:p>
        </p:txBody>
      </p:sp>
      <p:sp>
        <p:nvSpPr>
          <p:cNvPr id="34" name="Text 32"/>
          <p:cNvSpPr/>
          <p:nvPr/>
        </p:nvSpPr>
        <p:spPr>
          <a:xfrm>
            <a:off x="3438144" y="2231136"/>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Lyn Alden</a:t>
            </a:r>
            <a:endParaRPr lang="en-US" sz="950" dirty="0"/>
          </a:p>
        </p:txBody>
      </p:sp>
      <p:sp>
        <p:nvSpPr>
          <p:cNvPr id="35" name="Shape 33"/>
          <p:cNvSpPr/>
          <p:nvPr/>
        </p:nvSpPr>
        <p:spPr>
          <a:xfrm>
            <a:off x="5303520" y="2203704"/>
            <a:ext cx="676656" cy="228600"/>
          </a:xfrm>
          <a:prstGeom prst="rect">
            <a:avLst/>
          </a:prstGeom>
          <a:solidFill>
            <a:srgbClr val="D6E4F7"/>
          </a:solidFill>
          <a:ln w="12700">
            <a:solidFill>
              <a:srgbClr val="D1D9E6"/>
            </a:solidFill>
            <a:prstDash val="solid"/>
          </a:ln>
        </p:spPr>
      </p:sp>
      <p:sp>
        <p:nvSpPr>
          <p:cNvPr id="36" name="Text 34"/>
          <p:cNvSpPr/>
          <p:nvPr/>
        </p:nvSpPr>
        <p:spPr>
          <a:xfrm>
            <a:off x="5303520" y="2203704"/>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Monetary</a:t>
            </a:r>
            <a:endParaRPr lang="en-US" sz="800" dirty="0"/>
          </a:p>
        </p:txBody>
      </p:sp>
      <p:sp>
        <p:nvSpPr>
          <p:cNvPr id="37" name="Text 35"/>
          <p:cNvSpPr/>
          <p:nvPr/>
        </p:nvSpPr>
        <p:spPr>
          <a:xfrm>
            <a:off x="3438144" y="2414016"/>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Comprehensive, data-rich, accessible.</a:t>
            </a:r>
            <a:endParaRPr lang="en-US" sz="900" dirty="0"/>
          </a:p>
        </p:txBody>
      </p:sp>
      <p:sp>
        <p:nvSpPr>
          <p:cNvPr id="38" name="Shape 36"/>
          <p:cNvSpPr/>
          <p:nvPr/>
        </p:nvSpPr>
        <p:spPr>
          <a:xfrm>
            <a:off x="6163056" y="1883664"/>
            <a:ext cx="2743200" cy="768096"/>
          </a:xfrm>
          <a:prstGeom prst="rect">
            <a:avLst/>
          </a:prstGeom>
          <a:solidFill>
            <a:srgbClr val="FFFFFF"/>
          </a:solidFill>
          <a:ln w="12700">
            <a:solidFill>
              <a:srgbClr val="D1D9E6"/>
            </a:solidFill>
            <a:prstDash val="solid"/>
          </a:ln>
          <a:effectLst>
            <a:outerShdw sx="100000" sy="100000" kx="0" ky="0" algn="bl" rotWithShape="0" blurRad="50800" dist="12700" dir="8100000">
              <a:srgbClr val="000000">
                <a:alpha val="8000"/>
              </a:srgbClr>
            </a:outerShdw>
          </a:effectLst>
        </p:spPr>
      </p:sp>
      <p:sp>
        <p:nvSpPr>
          <p:cNvPr id="39" name="Shape 37"/>
          <p:cNvSpPr/>
          <p:nvPr/>
        </p:nvSpPr>
        <p:spPr>
          <a:xfrm>
            <a:off x="6163056" y="1883664"/>
            <a:ext cx="54864" cy="768096"/>
          </a:xfrm>
          <a:prstGeom prst="rect">
            <a:avLst/>
          </a:prstGeom>
          <a:solidFill>
            <a:srgbClr val="C9A84C"/>
          </a:solidFill>
          <a:ln w="12700">
            <a:solidFill>
              <a:srgbClr val="C9A84C"/>
            </a:solidFill>
            <a:prstDash val="solid"/>
          </a:ln>
        </p:spPr>
      </p:sp>
      <p:sp>
        <p:nvSpPr>
          <p:cNvPr id="40" name="Text 38"/>
          <p:cNvSpPr/>
          <p:nvPr/>
        </p:nvSpPr>
        <p:spPr>
          <a:xfrm>
            <a:off x="6291072" y="1956816"/>
            <a:ext cx="2359152" cy="256032"/>
          </a:xfrm>
          <a:prstGeom prst="rect">
            <a:avLst/>
          </a:prstGeom>
          <a:noFill/>
          <a:ln/>
        </p:spPr>
        <p:txBody>
          <a:bodyPr wrap="square" lIns="0" tIns="0" rIns="0" bIns="0" rtlCol="0" anchor="ctr"/>
          <a:lstStyle/>
          <a:p>
            <a:pPr indent="0" marL="0">
              <a:buNone/>
            </a:pPr>
            <a:r>
              <a:rPr lang="en-US" sz="1050" b="1" i="1" dirty="0">
                <a:solidFill>
                  <a:srgbClr val="1C1C2E"/>
                </a:solidFill>
                <a:latin typeface="Calibri" pitchFamily="34" charset="0"/>
                <a:ea typeface="Calibri" pitchFamily="34" charset="-122"/>
                <a:cs typeface="Calibri" pitchFamily="34" charset="-120"/>
              </a:rPr>
              <a:t>A Little History of Money</a:t>
            </a:r>
            <a:endParaRPr lang="en-US" sz="1050" dirty="0"/>
          </a:p>
        </p:txBody>
      </p:sp>
      <p:sp>
        <p:nvSpPr>
          <p:cNvPr id="41" name="Text 39"/>
          <p:cNvSpPr/>
          <p:nvPr/>
        </p:nvSpPr>
        <p:spPr>
          <a:xfrm>
            <a:off x="6291072" y="2231136"/>
            <a:ext cx="1737360" cy="182880"/>
          </a:xfrm>
          <a:prstGeom prst="rect">
            <a:avLst/>
          </a:prstGeom>
          <a:noFill/>
          <a:ln/>
        </p:spPr>
        <p:txBody>
          <a:bodyPr wrap="square" lIns="0" tIns="0" rIns="0" bIns="0" rtlCol="0" anchor="ctr"/>
          <a:lstStyle/>
          <a:p>
            <a:pPr indent="0" marL="0">
              <a:buNone/>
            </a:pPr>
            <a:r>
              <a:rPr lang="en-US" sz="950" dirty="0">
                <a:solidFill>
                  <a:srgbClr val="888888"/>
                </a:solidFill>
                <a:latin typeface="Calibri" pitchFamily="34" charset="0"/>
                <a:ea typeface="Calibri" pitchFamily="34" charset="-122"/>
                <a:cs typeface="Calibri" pitchFamily="34" charset="-120"/>
              </a:rPr>
              <a:t>Lawrence Lepard</a:t>
            </a:r>
            <a:endParaRPr lang="en-US" sz="950" dirty="0"/>
          </a:p>
        </p:txBody>
      </p:sp>
      <p:sp>
        <p:nvSpPr>
          <p:cNvPr id="42" name="Shape 40"/>
          <p:cNvSpPr/>
          <p:nvPr/>
        </p:nvSpPr>
        <p:spPr>
          <a:xfrm>
            <a:off x="8156448" y="2203704"/>
            <a:ext cx="676656" cy="228600"/>
          </a:xfrm>
          <a:prstGeom prst="rect">
            <a:avLst/>
          </a:prstGeom>
          <a:solidFill>
            <a:srgbClr val="D6E4F7"/>
          </a:solidFill>
          <a:ln w="12700">
            <a:solidFill>
              <a:srgbClr val="D1D9E6"/>
            </a:solidFill>
            <a:prstDash val="solid"/>
          </a:ln>
        </p:spPr>
      </p:sp>
      <p:sp>
        <p:nvSpPr>
          <p:cNvPr id="43" name="Text 41"/>
          <p:cNvSpPr/>
          <p:nvPr/>
        </p:nvSpPr>
        <p:spPr>
          <a:xfrm>
            <a:off x="8156448" y="2203704"/>
            <a:ext cx="676656" cy="228600"/>
          </a:xfrm>
          <a:prstGeom prst="rect">
            <a:avLst/>
          </a:prstGeom>
          <a:noFill/>
          <a:ln/>
        </p:spPr>
        <p:txBody>
          <a:bodyPr wrap="square" rtlCol="0" anchor="ctr"/>
          <a:lstStyle/>
          <a:p>
            <a:pPr algn="ctr" indent="0" marL="0">
              <a:buNone/>
            </a:pPr>
            <a:r>
              <a:rPr lang="en-US" sz="800" dirty="0">
                <a:solidFill>
                  <a:srgbClr val="1A56A0"/>
                </a:solidFill>
                <a:latin typeface="Calibri" pitchFamily="34" charset="0"/>
                <a:ea typeface="Calibri" pitchFamily="34" charset="-122"/>
                <a:cs typeface="Calibri" pitchFamily="34" charset="-120"/>
              </a:rPr>
              <a:t>Foundation</a:t>
            </a:r>
            <a:endParaRPr lang="en-US" sz="800" dirty="0"/>
          </a:p>
        </p:txBody>
      </p:sp>
      <p:sp>
        <p:nvSpPr>
          <p:cNvPr id="44" name="Text 42"/>
          <p:cNvSpPr/>
          <p:nvPr/>
        </p:nvSpPr>
        <p:spPr>
          <a:xfrm>
            <a:off x="6291072" y="2414016"/>
            <a:ext cx="2542032"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Concise monetary history and the hard money case.</a:t>
            </a:r>
            <a:endParaRPr lang="en-US" sz="900" dirty="0"/>
          </a:p>
        </p:txBody>
      </p:sp>
      <p:sp>
        <p:nvSpPr>
          <p:cNvPr id="45" name="Shape 43"/>
          <p:cNvSpPr/>
          <p:nvPr/>
        </p:nvSpPr>
        <p:spPr>
          <a:xfrm>
            <a:off x="457200" y="2834640"/>
            <a:ext cx="4023360" cy="1051560"/>
          </a:xfrm>
          <a:prstGeom prst="rect">
            <a:avLst/>
          </a:prstGeom>
          <a:solidFill>
            <a:srgbClr val="1A2E5E"/>
          </a:solidFill>
          <a:ln w="12700">
            <a:solidFill>
              <a:srgbClr val="1A2E5E"/>
            </a:solidFill>
            <a:prstDash val="solid"/>
          </a:ln>
        </p:spPr>
      </p:sp>
      <p:sp>
        <p:nvSpPr>
          <p:cNvPr id="46" name="Text 44"/>
          <p:cNvSpPr/>
          <p:nvPr/>
        </p:nvSpPr>
        <p:spPr>
          <a:xfrm>
            <a:off x="594360" y="2944368"/>
            <a:ext cx="3749040" cy="256032"/>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Abundance Architecture  —  Coming soon</a:t>
            </a:r>
            <a:endParaRPr lang="en-US" sz="1100" dirty="0"/>
          </a:p>
        </p:txBody>
      </p:sp>
      <p:sp>
        <p:nvSpPr>
          <p:cNvPr id="47" name="Text 45"/>
          <p:cNvSpPr/>
          <p:nvPr/>
        </p:nvSpPr>
        <p:spPr>
          <a:xfrm>
            <a:off x="594360" y="3218688"/>
            <a:ext cx="3749040" cy="50292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A framework for building personal and community prosperity on a sound money foundation.</a:t>
            </a:r>
            <a:endParaRPr lang="en-US" sz="1000" dirty="0"/>
          </a:p>
        </p:txBody>
      </p:sp>
      <p:sp>
        <p:nvSpPr>
          <p:cNvPr id="48" name="Shape 46"/>
          <p:cNvSpPr/>
          <p:nvPr/>
        </p:nvSpPr>
        <p:spPr>
          <a:xfrm>
            <a:off x="4663440" y="2834640"/>
            <a:ext cx="4023360" cy="1051560"/>
          </a:xfrm>
          <a:prstGeom prst="rect">
            <a:avLst/>
          </a:prstGeom>
          <a:solidFill>
            <a:srgbClr val="1A2E5E"/>
          </a:solidFill>
          <a:ln w="12700">
            <a:solidFill>
              <a:srgbClr val="1A2E5E"/>
            </a:solidFill>
            <a:prstDash val="solid"/>
          </a:ln>
        </p:spPr>
      </p:sp>
      <p:sp>
        <p:nvSpPr>
          <p:cNvPr id="49" name="Text 47"/>
          <p:cNvSpPr/>
          <p:nvPr/>
        </p:nvSpPr>
        <p:spPr>
          <a:xfrm>
            <a:off x="4800600" y="2944368"/>
            <a:ext cx="3749040" cy="256032"/>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Health Unveiled  —  Coming soon</a:t>
            </a:r>
            <a:endParaRPr lang="en-US" sz="1100" dirty="0"/>
          </a:p>
        </p:txBody>
      </p:sp>
      <p:sp>
        <p:nvSpPr>
          <p:cNvPr id="50" name="Text 48"/>
          <p:cNvSpPr/>
          <p:nvPr/>
        </p:nvSpPr>
        <p:spPr>
          <a:xfrm>
            <a:off x="4800600" y="3218688"/>
            <a:ext cx="3749040" cy="502920"/>
          </a:xfrm>
          <a:prstGeom prst="rect">
            <a:avLst/>
          </a:prstGeom>
          <a:noFill/>
          <a:ln/>
        </p:spPr>
        <p:txBody>
          <a:bodyPr wrap="square" lIns="0" tIns="0" rIns="0" bIns="0" rtlCol="0" anchor="ctr"/>
          <a:lstStyle/>
          <a:p>
            <a:pPr indent="0" marL="0">
              <a:lnSpc>
                <a:spcPct val="130000"/>
              </a:lnSpc>
              <a:buNone/>
            </a:pPr>
            <a:r>
              <a:rPr lang="en-US" sz="1000" dirty="0">
                <a:solidFill>
                  <a:srgbClr val="8899AA"/>
                </a:solidFill>
                <a:latin typeface="Calibri" pitchFamily="34" charset="0"/>
                <a:ea typeface="Calibri" pitchFamily="34" charset="-122"/>
                <a:cs typeface="Calibri" pitchFamily="34" charset="-120"/>
              </a:rPr>
              <a:t>Exploring the intersection of monetary policy, incentive structures, and public health outcomes.</a:t>
            </a:r>
            <a:endParaRPr lang="en-US" sz="1000" dirty="0"/>
          </a:p>
        </p:txBody>
      </p:sp>
      <p:sp>
        <p:nvSpPr>
          <p:cNvPr id="51" name="Text 49"/>
          <p:cNvSpPr/>
          <p:nvPr/>
        </p:nvSpPr>
        <p:spPr>
          <a:xfrm>
            <a:off x="457200" y="4846320"/>
            <a:ext cx="8229600" cy="182880"/>
          </a:xfrm>
          <a:prstGeom prst="rect">
            <a:avLst/>
          </a:prstGeom>
          <a:noFill/>
          <a:ln/>
        </p:spPr>
        <p:txBody>
          <a:bodyPr wrap="square" rtlCol="0" anchor="ctr"/>
          <a:lstStyle/>
          <a:p>
            <a:pPr algn="l" indent="0" marL="0">
              <a:buNone/>
            </a:pPr>
            <a:r>
              <a:rPr lang="en-US" sz="900" dirty="0">
                <a:solidFill>
                  <a:srgbClr val="9AA5B4"/>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E5E"/>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457200"/>
            <a:ext cx="8229600" cy="41148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FINAL DISCUSSION — Session 6</a:t>
            </a:r>
            <a:endParaRPr lang="en-US" sz="2000" dirty="0"/>
          </a:p>
        </p:txBody>
      </p:sp>
      <p:sp>
        <p:nvSpPr>
          <p:cNvPr id="4" name="Shape 2"/>
          <p:cNvSpPr/>
          <p:nvPr/>
        </p:nvSpPr>
        <p:spPr>
          <a:xfrm>
            <a:off x="457200" y="896112"/>
            <a:ext cx="8229600" cy="640080"/>
          </a:xfrm>
          <a:prstGeom prst="rect">
            <a:avLst/>
          </a:prstGeom>
          <a:solidFill>
            <a:srgbClr val="1E3A6E"/>
          </a:solidFill>
          <a:ln w="12700">
            <a:solidFill>
              <a:srgbClr val="2A4A7E"/>
            </a:solidFill>
            <a:prstDash val="solid"/>
          </a:ln>
        </p:spPr>
      </p:sp>
      <p:sp>
        <p:nvSpPr>
          <p:cNvPr id="5" name="Text 3"/>
          <p:cNvSpPr/>
          <p:nvPr/>
        </p:nvSpPr>
        <p:spPr>
          <a:xfrm>
            <a:off x="640080" y="950976"/>
            <a:ext cx="7863840" cy="530352"/>
          </a:xfrm>
          <a:prstGeom prst="rect">
            <a:avLst/>
          </a:prstGeom>
          <a:noFill/>
          <a:ln/>
        </p:spPr>
        <p:txBody>
          <a:bodyPr wrap="square" rtlCol="0" anchor="ctr"/>
          <a:lstStyle/>
          <a:p>
            <a:pPr indent="0" marL="0">
              <a:lnSpc>
                <a:spcPct val="135000"/>
              </a:lnSpc>
              <a:buNone/>
            </a:pPr>
            <a:r>
              <a:rPr lang="en-US" sz="1200" dirty="0">
                <a:solidFill>
                  <a:srgbClr val="E8EAF6"/>
                </a:solidFill>
                <a:latin typeface="Calibri" pitchFamily="34" charset="0"/>
                <a:ea typeface="Calibri" pitchFamily="34" charset="-122"/>
                <a:cs typeface="Calibri" pitchFamily="34" charset="-120"/>
              </a:rPr>
              <a:t>1.  What is the single most important thing you are taking away from these six sessions?</a:t>
            </a:r>
            <a:endParaRPr lang="en-US" sz="1200" dirty="0"/>
          </a:p>
        </p:txBody>
      </p:sp>
      <p:sp>
        <p:nvSpPr>
          <p:cNvPr id="6" name="Shape 4"/>
          <p:cNvSpPr/>
          <p:nvPr/>
        </p:nvSpPr>
        <p:spPr>
          <a:xfrm>
            <a:off x="457200" y="1664208"/>
            <a:ext cx="8229600" cy="640080"/>
          </a:xfrm>
          <a:prstGeom prst="rect">
            <a:avLst/>
          </a:prstGeom>
          <a:solidFill>
            <a:srgbClr val="1E3A6E"/>
          </a:solidFill>
          <a:ln w="12700">
            <a:solidFill>
              <a:srgbClr val="2A4A7E"/>
            </a:solidFill>
            <a:prstDash val="solid"/>
          </a:ln>
        </p:spPr>
      </p:sp>
      <p:sp>
        <p:nvSpPr>
          <p:cNvPr id="7" name="Text 5"/>
          <p:cNvSpPr/>
          <p:nvPr/>
        </p:nvSpPr>
        <p:spPr>
          <a:xfrm>
            <a:off x="640080" y="1719072"/>
            <a:ext cx="7863840" cy="530352"/>
          </a:xfrm>
          <a:prstGeom prst="rect">
            <a:avLst/>
          </a:prstGeom>
          <a:noFill/>
          <a:ln/>
        </p:spPr>
        <p:txBody>
          <a:bodyPr wrap="square" rtlCol="0" anchor="ctr"/>
          <a:lstStyle/>
          <a:p>
            <a:pPr indent="0" marL="0">
              <a:lnSpc>
                <a:spcPct val="135000"/>
              </a:lnSpc>
              <a:buNone/>
            </a:pPr>
            <a:r>
              <a:rPr lang="en-US" sz="1200" dirty="0">
                <a:solidFill>
                  <a:srgbClr val="E8EAF6"/>
                </a:solidFill>
                <a:latin typeface="Calibri" pitchFamily="34" charset="0"/>
                <a:ea typeface="Calibri" pitchFamily="34" charset="-122"/>
                <a:cs typeface="Calibri" pitchFamily="34" charset="-120"/>
              </a:rPr>
              <a:t>2.  What do you still push back on? Where are you skeptical — and what would change your mind?</a:t>
            </a:r>
            <a:endParaRPr lang="en-US" sz="1200" dirty="0"/>
          </a:p>
        </p:txBody>
      </p:sp>
      <p:sp>
        <p:nvSpPr>
          <p:cNvPr id="8" name="Shape 6"/>
          <p:cNvSpPr/>
          <p:nvPr/>
        </p:nvSpPr>
        <p:spPr>
          <a:xfrm>
            <a:off x="457200" y="2432304"/>
            <a:ext cx="8229600" cy="640080"/>
          </a:xfrm>
          <a:prstGeom prst="rect">
            <a:avLst/>
          </a:prstGeom>
          <a:solidFill>
            <a:srgbClr val="1E3A6E"/>
          </a:solidFill>
          <a:ln w="12700">
            <a:solidFill>
              <a:srgbClr val="2A4A7E"/>
            </a:solidFill>
            <a:prstDash val="solid"/>
          </a:ln>
        </p:spPr>
      </p:sp>
      <p:sp>
        <p:nvSpPr>
          <p:cNvPr id="9" name="Text 7"/>
          <p:cNvSpPr/>
          <p:nvPr/>
        </p:nvSpPr>
        <p:spPr>
          <a:xfrm>
            <a:off x="640080" y="2487168"/>
            <a:ext cx="7863840" cy="530352"/>
          </a:xfrm>
          <a:prstGeom prst="rect">
            <a:avLst/>
          </a:prstGeom>
          <a:noFill/>
          <a:ln/>
        </p:spPr>
        <p:txBody>
          <a:bodyPr wrap="square" rtlCol="0" anchor="ctr"/>
          <a:lstStyle/>
          <a:p>
            <a:pPr indent="0" marL="0">
              <a:lnSpc>
                <a:spcPct val="135000"/>
              </a:lnSpc>
              <a:buNone/>
            </a:pPr>
            <a:r>
              <a:rPr lang="en-US" sz="1200" dirty="0">
                <a:solidFill>
                  <a:srgbClr val="E8EAF6"/>
                </a:solidFill>
                <a:latin typeface="Calibri" pitchFamily="34" charset="0"/>
                <a:ea typeface="Calibri" pitchFamily="34" charset="-122"/>
                <a:cs typeface="Calibri" pitchFamily="34" charset="-120"/>
              </a:rPr>
              <a:t>3.  What would you tell someone who asks why you spent six evenings talking about money?</a:t>
            </a:r>
            <a:endParaRPr lang="en-US" sz="1200" dirty="0"/>
          </a:p>
        </p:txBody>
      </p:sp>
      <p:sp>
        <p:nvSpPr>
          <p:cNvPr id="10" name="Shape 8"/>
          <p:cNvSpPr/>
          <p:nvPr/>
        </p:nvSpPr>
        <p:spPr>
          <a:xfrm>
            <a:off x="457200" y="3200400"/>
            <a:ext cx="8229600" cy="640080"/>
          </a:xfrm>
          <a:prstGeom prst="rect">
            <a:avLst/>
          </a:prstGeom>
          <a:solidFill>
            <a:srgbClr val="1E3A6E"/>
          </a:solidFill>
          <a:ln w="12700">
            <a:solidFill>
              <a:srgbClr val="2A4A7E"/>
            </a:solidFill>
            <a:prstDash val="solid"/>
          </a:ln>
        </p:spPr>
      </p:sp>
      <p:sp>
        <p:nvSpPr>
          <p:cNvPr id="11" name="Text 9"/>
          <p:cNvSpPr/>
          <p:nvPr/>
        </p:nvSpPr>
        <p:spPr>
          <a:xfrm>
            <a:off x="640080" y="3255264"/>
            <a:ext cx="7863840" cy="530352"/>
          </a:xfrm>
          <a:prstGeom prst="rect">
            <a:avLst/>
          </a:prstGeom>
          <a:noFill/>
          <a:ln/>
        </p:spPr>
        <p:txBody>
          <a:bodyPr wrap="square" rtlCol="0" anchor="ctr"/>
          <a:lstStyle/>
          <a:p>
            <a:pPr indent="0" marL="0">
              <a:lnSpc>
                <a:spcPct val="135000"/>
              </a:lnSpc>
              <a:buNone/>
            </a:pPr>
            <a:r>
              <a:rPr lang="en-US" sz="1200" dirty="0">
                <a:solidFill>
                  <a:srgbClr val="E8EAF6"/>
                </a:solidFill>
                <a:latin typeface="Calibri" pitchFamily="34" charset="0"/>
                <a:ea typeface="Calibri" pitchFamily="34" charset="-122"/>
                <a:cs typeface="Calibri" pitchFamily="34" charset="-120"/>
              </a:rPr>
              <a:t>4.  What does a community look like that has internalized these ideas? Is that something worth working toward here?</a:t>
            </a:r>
            <a:endParaRPr lang="en-US" sz="1200" dirty="0"/>
          </a:p>
        </p:txBody>
      </p:sp>
      <p:sp>
        <p:nvSpPr>
          <p:cNvPr id="12" name="Shape 10"/>
          <p:cNvSpPr/>
          <p:nvPr/>
        </p:nvSpPr>
        <p:spPr>
          <a:xfrm>
            <a:off x="457200" y="3968496"/>
            <a:ext cx="8229600" cy="640080"/>
          </a:xfrm>
          <a:prstGeom prst="rect">
            <a:avLst/>
          </a:prstGeom>
          <a:solidFill>
            <a:srgbClr val="1E3A6E"/>
          </a:solidFill>
          <a:ln w="12700">
            <a:solidFill>
              <a:srgbClr val="2A4A7E"/>
            </a:solidFill>
            <a:prstDash val="solid"/>
          </a:ln>
        </p:spPr>
      </p:sp>
      <p:sp>
        <p:nvSpPr>
          <p:cNvPr id="13" name="Text 11"/>
          <p:cNvSpPr/>
          <p:nvPr/>
        </p:nvSpPr>
        <p:spPr>
          <a:xfrm>
            <a:off x="640080" y="4023360"/>
            <a:ext cx="7863840" cy="530352"/>
          </a:xfrm>
          <a:prstGeom prst="rect">
            <a:avLst/>
          </a:prstGeom>
          <a:noFill/>
          <a:ln/>
        </p:spPr>
        <p:txBody>
          <a:bodyPr wrap="square" rtlCol="0" anchor="ctr"/>
          <a:lstStyle/>
          <a:p>
            <a:pPr indent="0" marL="0">
              <a:lnSpc>
                <a:spcPct val="135000"/>
              </a:lnSpc>
              <a:buNone/>
            </a:pPr>
            <a:r>
              <a:rPr lang="en-US" sz="1200" dirty="0">
                <a:solidFill>
                  <a:srgbClr val="E8EAF6"/>
                </a:solidFill>
                <a:latin typeface="Calibri" pitchFamily="34" charset="0"/>
                <a:ea typeface="Calibri" pitchFamily="34" charset="-122"/>
                <a:cs typeface="Calibri" pitchFamily="34" charset="-120"/>
              </a:rPr>
              <a:t>5.  What is your next step — personally, or for this group?</a:t>
            </a:r>
            <a:endParaRPr lang="en-US" sz="1200" dirty="0"/>
          </a:p>
        </p:txBody>
      </p:sp>
      <p:sp>
        <p:nvSpPr>
          <p:cNvPr id="14" name="Text 12"/>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9A84C"/>
          </a:solidFill>
          <a:ln w="12700">
            <a:solidFill>
              <a:srgbClr val="C9A84C"/>
            </a:solidFill>
            <a:prstDash val="solid"/>
          </a:ln>
        </p:spPr>
      </p:sp>
      <p:sp>
        <p:nvSpPr>
          <p:cNvPr id="3" name="Text 1"/>
          <p:cNvSpPr/>
          <p:nvPr/>
        </p:nvSpPr>
        <p:spPr>
          <a:xfrm>
            <a:off x="457200" y="548640"/>
            <a:ext cx="8229600" cy="5029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Thank You</a:t>
            </a:r>
            <a:endParaRPr lang="en-US" sz="2600" dirty="0"/>
          </a:p>
        </p:txBody>
      </p:sp>
      <p:sp>
        <p:nvSpPr>
          <p:cNvPr id="4" name="Shape 2"/>
          <p:cNvSpPr/>
          <p:nvPr/>
        </p:nvSpPr>
        <p:spPr>
          <a:xfrm>
            <a:off x="457200" y="1188720"/>
            <a:ext cx="8229600" cy="1371600"/>
          </a:xfrm>
          <a:prstGeom prst="rect">
            <a:avLst/>
          </a:prstGeom>
          <a:solidFill>
            <a:srgbClr val="1A2E5E"/>
          </a:solidFill>
          <a:ln w="12700">
            <a:solidFill>
              <a:srgbClr val="1A2E5E"/>
            </a:solidFill>
            <a:prstDash val="solid"/>
          </a:ln>
        </p:spPr>
      </p:sp>
      <p:sp>
        <p:nvSpPr>
          <p:cNvPr id="5" name="Text 3"/>
          <p:cNvSpPr/>
          <p:nvPr/>
        </p:nvSpPr>
        <p:spPr>
          <a:xfrm>
            <a:off x="640080" y="1280160"/>
            <a:ext cx="7863840" cy="1188720"/>
          </a:xfrm>
          <a:prstGeom prst="rect">
            <a:avLst/>
          </a:prstGeom>
          <a:noFill/>
          <a:ln/>
        </p:spPr>
        <p:txBody>
          <a:bodyPr wrap="square" rtlCol="0" anchor="ctr"/>
          <a:lstStyle/>
          <a:p>
            <a:pPr indent="0" marL="0">
              <a:lnSpc>
                <a:spcPct val="160000"/>
              </a:lnSpc>
              <a:buNone/>
            </a:pPr>
            <a:r>
              <a:rPr lang="en-US" sz="1500" i="1" dirty="0">
                <a:solidFill>
                  <a:srgbClr val="E8EAF6"/>
                </a:solidFill>
                <a:latin typeface="Georgia" pitchFamily="34" charset="0"/>
                <a:ea typeface="Georgia" pitchFamily="34" charset="-122"/>
                <a:cs typeface="Georgia" pitchFamily="34" charset="-120"/>
              </a:rPr>
              <a:t>“The monetary system is not a law of nature. It is a human invention — and human inventions can be changed. Understanding is where that change begins.”</a:t>
            </a:r>
            <a:endParaRPr lang="en-US" sz="1500" dirty="0"/>
          </a:p>
        </p:txBody>
      </p:sp>
      <p:sp>
        <p:nvSpPr>
          <p:cNvPr id="6" name="Shape 4"/>
          <p:cNvSpPr/>
          <p:nvPr/>
        </p:nvSpPr>
        <p:spPr>
          <a:xfrm>
            <a:off x="457200" y="2834640"/>
            <a:ext cx="2651760" cy="1463040"/>
          </a:xfrm>
          <a:prstGeom prst="rect">
            <a:avLst/>
          </a:prstGeom>
          <a:solidFill>
            <a:srgbClr val="111827"/>
          </a:solidFill>
          <a:ln w="12700">
            <a:solidFill>
              <a:srgbClr val="1F2937"/>
            </a:solidFill>
            <a:prstDash val="solid"/>
          </a:ln>
        </p:spPr>
      </p:sp>
      <p:sp>
        <p:nvSpPr>
          <p:cNvPr id="7" name="Text 5"/>
          <p:cNvSpPr/>
          <p:nvPr/>
        </p:nvSpPr>
        <p:spPr>
          <a:xfrm>
            <a:off x="59436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Explore the data</a:t>
            </a:r>
            <a:endParaRPr lang="en-US" sz="1200" dirty="0"/>
          </a:p>
        </p:txBody>
      </p:sp>
      <p:sp>
        <p:nvSpPr>
          <p:cNvPr id="8" name="Text 6"/>
          <p:cNvSpPr/>
          <p:nvPr/>
        </p:nvSpPr>
        <p:spPr>
          <a:xfrm>
            <a:off x="59436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 — currencies, purchasing power, and monetary data in real time</a:t>
            </a:r>
            <a:endParaRPr lang="en-US" sz="1050" dirty="0"/>
          </a:p>
        </p:txBody>
      </p:sp>
      <p:sp>
        <p:nvSpPr>
          <p:cNvPr id="9" name="Shape 7"/>
          <p:cNvSpPr/>
          <p:nvPr/>
        </p:nvSpPr>
        <p:spPr>
          <a:xfrm>
            <a:off x="3291840" y="2834640"/>
            <a:ext cx="2651760" cy="1463040"/>
          </a:xfrm>
          <a:prstGeom prst="rect">
            <a:avLst/>
          </a:prstGeom>
          <a:solidFill>
            <a:srgbClr val="111827"/>
          </a:solidFill>
          <a:ln w="12700">
            <a:solidFill>
              <a:srgbClr val="1F2937"/>
            </a:solidFill>
            <a:prstDash val="solid"/>
          </a:ln>
        </p:spPr>
      </p:sp>
      <p:sp>
        <p:nvSpPr>
          <p:cNvPr id="10" name="Text 8"/>
          <p:cNvSpPr/>
          <p:nvPr/>
        </p:nvSpPr>
        <p:spPr>
          <a:xfrm>
            <a:off x="342900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Go deeper</a:t>
            </a:r>
            <a:endParaRPr lang="en-US" sz="1200" dirty="0"/>
          </a:p>
        </p:txBody>
      </p:sp>
      <p:sp>
        <p:nvSpPr>
          <p:cNvPr id="11" name="Text 9"/>
          <p:cNvSpPr/>
          <p:nvPr/>
        </p:nvSpPr>
        <p:spPr>
          <a:xfrm>
            <a:off x="342900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freemarketwatch.world/learn — the six-act written series and resources</a:t>
            </a:r>
            <a:endParaRPr lang="en-US" sz="1050" dirty="0"/>
          </a:p>
        </p:txBody>
      </p:sp>
      <p:sp>
        <p:nvSpPr>
          <p:cNvPr id="12" name="Shape 10"/>
          <p:cNvSpPr/>
          <p:nvPr/>
        </p:nvSpPr>
        <p:spPr>
          <a:xfrm>
            <a:off x="6126480" y="2834640"/>
            <a:ext cx="2651760" cy="1463040"/>
          </a:xfrm>
          <a:prstGeom prst="rect">
            <a:avLst/>
          </a:prstGeom>
          <a:solidFill>
            <a:srgbClr val="111827"/>
          </a:solidFill>
          <a:ln w="12700">
            <a:solidFill>
              <a:srgbClr val="1F2937"/>
            </a:solidFill>
            <a:prstDash val="solid"/>
          </a:ln>
        </p:spPr>
      </p:sp>
      <p:sp>
        <p:nvSpPr>
          <p:cNvPr id="13" name="Text 11"/>
          <p:cNvSpPr/>
          <p:nvPr/>
        </p:nvSpPr>
        <p:spPr>
          <a:xfrm>
            <a:off x="6263640" y="2944368"/>
            <a:ext cx="2377440" cy="274320"/>
          </a:xfrm>
          <a:prstGeom prst="rect">
            <a:avLst/>
          </a:prstGeom>
          <a:noFill/>
          <a:ln/>
        </p:spPr>
        <p:txBody>
          <a:bodyPr wrap="square" lIns="0" tIns="0" rIns="0" bIns="0" rtlCol="0" anchor="ctr"/>
          <a:lstStyle/>
          <a:p>
            <a:pPr indent="0" marL="0">
              <a:buNone/>
            </a:pPr>
            <a:r>
              <a:rPr lang="en-US" sz="1200" b="1" dirty="0">
                <a:solidFill>
                  <a:srgbClr val="C9A84C"/>
                </a:solidFill>
                <a:latin typeface="Calibri" pitchFamily="34" charset="0"/>
                <a:ea typeface="Calibri" pitchFamily="34" charset="-122"/>
                <a:cs typeface="Calibri" pitchFamily="34" charset="-120"/>
              </a:rPr>
              <a:t>Find your community</a:t>
            </a:r>
            <a:endParaRPr lang="en-US" sz="1200" dirty="0"/>
          </a:p>
        </p:txBody>
      </p:sp>
      <p:sp>
        <p:nvSpPr>
          <p:cNvPr id="14" name="Text 12"/>
          <p:cNvSpPr/>
          <p:nvPr/>
        </p:nvSpPr>
        <p:spPr>
          <a:xfrm>
            <a:off x="6263640" y="3255264"/>
            <a:ext cx="2377440" cy="822960"/>
          </a:xfrm>
          <a:prstGeom prst="rect">
            <a:avLst/>
          </a:prstGeom>
          <a:noFill/>
          <a:ln/>
        </p:spPr>
        <p:txBody>
          <a:bodyPr wrap="square" lIns="0" tIns="0" rIns="0" bIns="0" rtlCol="0" anchor="ctr"/>
          <a:lstStyle/>
          <a:p>
            <a:pPr indent="0" marL="0">
              <a:lnSpc>
                <a:spcPct val="140000"/>
              </a:lnSpc>
              <a:buNone/>
            </a:pPr>
            <a:r>
              <a:rPr lang="en-US" sz="1050" dirty="0">
                <a:solidFill>
                  <a:srgbClr val="8899AA"/>
                </a:solidFill>
                <a:latin typeface="Calibri" pitchFamily="34" charset="0"/>
                <a:ea typeface="Calibri" pitchFamily="34" charset="-122"/>
                <a:cs typeface="Calibri" pitchFamily="34" charset="-120"/>
              </a:rPr>
              <a:t>The transition from understanding to living on a bitcoin standard happens together, not alone</a:t>
            </a:r>
            <a:endParaRPr lang="en-US" sz="1050" dirty="0"/>
          </a:p>
        </p:txBody>
      </p:sp>
      <p:sp>
        <p:nvSpPr>
          <p:cNvPr id="15" name="Text 13"/>
          <p:cNvSpPr/>
          <p:nvPr/>
        </p:nvSpPr>
        <p:spPr>
          <a:xfrm>
            <a:off x="457200" y="4828032"/>
            <a:ext cx="8229600" cy="182880"/>
          </a:xfrm>
          <a:prstGeom prst="rect">
            <a:avLst/>
          </a:prstGeom>
          <a:noFill/>
          <a:ln/>
        </p:spPr>
        <p:txBody>
          <a:bodyPr wrap="square" lIns="0" tIns="0" rIns="0" bIns="0" rtlCol="0" anchor="ctr"/>
          <a:lstStyle/>
          <a:p>
            <a:pPr indent="0" marL="0">
              <a:buNone/>
            </a:pPr>
            <a:r>
              <a:rPr lang="en-US" sz="900" dirty="0">
                <a:solidFill>
                  <a:srgbClr val="5A6478"/>
                </a:solidFill>
                <a:latin typeface="Calibri" pitchFamily="34" charset="0"/>
                <a:ea typeface="Calibri" pitchFamily="34" charset="-122"/>
                <a:cs typeface="Calibri" pitchFamily="34" charset="-120"/>
              </a:rPr>
              <a:t>freeMarketWatch.world  ·  Version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2026-05-25T15:22:23Z</dcterms:created>
  <dcterms:modified xsi:type="dcterms:W3CDTF">2026-05-25T15:22:23Z</dcterms:modified>
</cp:coreProperties>
</file>