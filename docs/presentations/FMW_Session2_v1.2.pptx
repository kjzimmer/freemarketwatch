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2 TITLE
Open with 10-minute recap of Session 1: trade → specialization → lines of production → double coincidence problem → money as solution → gold as winner.
"Tonight we go deeper into WHY gold won — and how that same system contained a fatal flaw that was eventually exploited."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 10 minutes max. Ask if anyone has questions before moving on.
The fatal flaw setup: "Last session we ended with gold having one critical weakness. Tonight we find out what happened when that weakness was exploited."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quote is debated but the principle is not. Controlling the money supply is controlling the economy."
"Think about what it would mean if you could create money in your basement. You would get rich — but you would also make everyone else's money worth less. You would be extracting value from every person holding dollars, without their knowledge or consent. That is not hypothetical. That is what happens at the national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3-4 is the hinge of the whole story. Take your time here.
"The custodians — eventually banks — discovered that most people never came to collect their gold all at once. So they started issuing more claims than gold existed. This happened quietly, incrementally, without public knowledge. Each step seemed small and justified at the time. The full picture only became visible in hindsight."
"This practice became institutionalized as fractional reserve banking — banks hold only a fraction of deposits in reserve and lend out the rest, effectively creating new money with each loan."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1971, the dollar was backed by gold at a fixed rate. Foreign governments could exchange dollars for gold. This imposed discipline — you couldn't print more dollars than you had gold to back them."
"Nixon described this as temporary. It never ended."
"Everything in Sessions 3-6 flows from that moment."
1971 data point: US national debt was roughly $400 billion. It now exceeds $34 trillion.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why the gold standard era — roughly 1870 to 1914 — produced the most broadly shared prosperity in US history. Real wages rose 40% in 40 years. Prices were stable. You could plan decades ahead."
"After 1971, none of those conditions hold. And we can measure the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discussion tends to get political. Keep it on the economics, not the parties.
Both parties have presided over monetary expansion. That is a feature of the system, not a bug of any particular team.
The mechanism is bipartisan. The solution has to be structural, not electoral.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3 is the emotional core of the series. It connects everything abstract to things people actually feel. Come ready to recognize some of what you've already experienced."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6583680" y="0"/>
            <a:ext cx="2560320" cy="5143500"/>
          </a:xfrm>
          <a:prstGeom prst="rect">
            <a:avLst/>
          </a:prstGeom>
          <a:solidFill>
            <a:srgbClr val="111827"/>
          </a:solidFill>
          <a:ln w="12700">
            <a:solidFill>
              <a:srgbClr val="111827"/>
            </a:solidFill>
            <a:prstDash val="solid"/>
          </a:ln>
        </p:spPr>
      </p:sp>
      <p:sp>
        <p:nvSpPr>
          <p:cNvPr id="3" name="Shape 1"/>
          <p:cNvSpPr/>
          <p:nvPr/>
        </p:nvSpPr>
        <p:spPr>
          <a:xfrm>
            <a:off x="6583680" y="0"/>
            <a:ext cx="54864" cy="5143500"/>
          </a:xfrm>
          <a:prstGeom prst="rect">
            <a:avLst/>
          </a:prstGeom>
          <a:solidFill>
            <a:srgbClr val="C9A84C"/>
          </a:solidFill>
          <a:ln w="12700">
            <a:solidFill>
              <a:srgbClr val="C9A84C"/>
            </a:solidFill>
            <a:prstDash val="solid"/>
          </a:ln>
        </p:spPr>
      </p:sp>
      <p:sp>
        <p:nvSpPr>
          <p:cNvPr id="4" name="Text 2"/>
          <p:cNvSpPr/>
          <p:nvPr/>
        </p:nvSpPr>
        <p:spPr>
          <a:xfrm>
            <a:off x="548640" y="1188720"/>
            <a:ext cx="5669280" cy="274320"/>
          </a:xfrm>
          <a:prstGeom prst="rect">
            <a:avLst/>
          </a:prstGeom>
          <a:noFill/>
          <a:ln/>
        </p:spPr>
        <p:txBody>
          <a:bodyPr wrap="square" lIns="0" tIns="0" rIns="0" bIns="0" rtlCol="0" anchor="ctr"/>
          <a:lstStyle/>
          <a:p>
            <a:pPr indent="0" marL="0">
              <a:buNone/>
            </a:pPr>
            <a:r>
              <a:rPr lang="en-US" sz="1000" b="1" spc="400" kern="0" dirty="0">
                <a:solidFill>
                  <a:srgbClr val="C9A84C"/>
                </a:solidFill>
                <a:latin typeface="Calibri" pitchFamily="34" charset="0"/>
                <a:ea typeface="Calibri" pitchFamily="34" charset="-122"/>
                <a:cs typeface="Calibri" pitchFamily="34" charset="-120"/>
              </a:rPr>
              <a:t>FREEMARKETWATCH.WORLD</a:t>
            </a:r>
            <a:endParaRPr lang="en-US" sz="1000" dirty="0"/>
          </a:p>
        </p:txBody>
      </p:sp>
      <p:sp>
        <p:nvSpPr>
          <p:cNvPr id="5" name="Text 3"/>
          <p:cNvSpPr/>
          <p:nvPr/>
        </p:nvSpPr>
        <p:spPr>
          <a:xfrm>
            <a:off x="548640" y="1508760"/>
            <a:ext cx="5669280" cy="228600"/>
          </a:xfrm>
          <a:prstGeom prst="rect">
            <a:avLst/>
          </a:prstGeom>
          <a:noFill/>
          <a:ln/>
        </p:spPr>
        <p:txBody>
          <a:bodyPr wrap="square" lIns="0" tIns="0" rIns="0" bIns="0" rtlCol="0" anchor="ctr"/>
          <a:lstStyle/>
          <a:p>
            <a:pPr indent="0" marL="0">
              <a:buNone/>
            </a:pPr>
            <a:r>
              <a:rPr lang="en-US" sz="1100" dirty="0">
                <a:solidFill>
                  <a:srgbClr val="7A8EA8"/>
                </a:solidFill>
                <a:latin typeface="Calibri" pitchFamily="34" charset="0"/>
                <a:ea typeface="Calibri" pitchFamily="34" charset="-122"/>
                <a:cs typeface="Calibri" pitchFamily="34" charset="-120"/>
              </a:rPr>
              <a:t>Session 2 of 6  ·  ~2 hours including discussion</a:t>
            </a:r>
            <a:endParaRPr lang="en-US" sz="1100" dirty="0"/>
          </a:p>
        </p:txBody>
      </p:sp>
      <p:sp>
        <p:nvSpPr>
          <p:cNvPr id="6" name="Text 4"/>
          <p:cNvSpPr/>
          <p:nvPr/>
        </p:nvSpPr>
        <p:spPr>
          <a:xfrm>
            <a:off x="548640" y="1783080"/>
            <a:ext cx="5669280" cy="1463040"/>
          </a:xfrm>
          <a:prstGeom prst="rect">
            <a:avLst/>
          </a:prstGeom>
          <a:noFill/>
          <a:ln/>
        </p:spPr>
        <p:txBody>
          <a:bodyPr wrap="square" rtlCol="0" anchor="ctr"/>
          <a:lstStyle/>
          <a:p>
            <a:pPr indent="0" marL="0">
              <a:lnSpc>
                <a:spcPct val="115000"/>
              </a:lnSpc>
              <a:buNone/>
            </a:pPr>
            <a:r>
              <a:rPr lang="en-US" sz="4000" b="1" dirty="0">
                <a:solidFill>
                  <a:srgbClr val="FFFFFF"/>
                </a:solidFill>
                <a:latin typeface="Georgia" pitchFamily="34" charset="0"/>
                <a:ea typeface="Georgia" pitchFamily="34" charset="-122"/>
                <a:cs typeface="Georgia" pitchFamily="34" charset="-120"/>
              </a:rPr>
              <a:t>What Makes Good Money</a:t>
            </a:r>
            <a:endParaRPr lang="en-US" sz="4000" dirty="0"/>
          </a:p>
        </p:txBody>
      </p:sp>
      <p:sp>
        <p:nvSpPr>
          <p:cNvPr id="7" name="Text 5"/>
          <p:cNvSpPr/>
          <p:nvPr/>
        </p:nvSpPr>
        <p:spPr>
          <a:xfrm>
            <a:off x="548640" y="3291840"/>
            <a:ext cx="5669280" cy="640080"/>
          </a:xfrm>
          <a:prstGeom prst="rect">
            <a:avLst/>
          </a:prstGeom>
          <a:noFill/>
          <a:ln/>
        </p:spPr>
        <p:txBody>
          <a:bodyPr wrap="square" rtlCol="0" anchor="ctr"/>
          <a:lstStyle/>
          <a:p>
            <a:pPr indent="0" marL="0">
              <a:lnSpc>
                <a:spcPct val="140000"/>
              </a:lnSpc>
              <a:buNone/>
            </a:pPr>
            <a:r>
              <a:rPr lang="en-US" sz="1500" dirty="0">
                <a:solidFill>
                  <a:srgbClr val="A0AEC0"/>
                </a:solidFill>
                <a:latin typeface="Calibri" pitchFamily="34" charset="0"/>
                <a:ea typeface="Calibri" pitchFamily="34" charset="-122"/>
                <a:cs typeface="Calibri" pitchFamily="34" charset="-120"/>
              </a:rPr>
              <a:t>And what makes it a weapon</a:t>
            </a:r>
            <a:endParaRPr lang="en-US" sz="1500" dirty="0"/>
          </a:p>
        </p:txBody>
      </p:sp>
      <p:sp>
        <p:nvSpPr>
          <p:cNvPr id="8" name="Text 6"/>
          <p:cNvSpPr/>
          <p:nvPr/>
        </p:nvSpPr>
        <p:spPr>
          <a:xfrm>
            <a:off x="548640" y="4773168"/>
            <a:ext cx="5669280" cy="201168"/>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Version 1.2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Recap: Session 1</a:t>
            </a:r>
            <a:endParaRPr lang="en-US" sz="2600" dirty="0"/>
          </a:p>
        </p:txBody>
      </p:sp>
      <p:sp>
        <p:nvSpPr>
          <p:cNvPr id="3" name="Shape 1"/>
          <p:cNvSpPr/>
          <p:nvPr/>
        </p:nvSpPr>
        <p:spPr>
          <a:xfrm>
            <a:off x="457200" y="1005840"/>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4" name="Shape 2"/>
          <p:cNvSpPr/>
          <p:nvPr/>
        </p:nvSpPr>
        <p:spPr>
          <a:xfrm>
            <a:off x="457200" y="1005840"/>
            <a:ext cx="64008" cy="1691640"/>
          </a:xfrm>
          <a:prstGeom prst="rect">
            <a:avLst/>
          </a:prstGeom>
          <a:solidFill>
            <a:srgbClr val="C9A84C"/>
          </a:solidFill>
          <a:ln w="12700">
            <a:solidFill>
              <a:srgbClr val="C9A84C"/>
            </a:solidFill>
            <a:prstDash val="solid"/>
          </a:ln>
        </p:spPr>
      </p:sp>
      <p:sp>
        <p:nvSpPr>
          <p:cNvPr id="5" name="Text 3"/>
          <p:cNvSpPr/>
          <p:nvPr/>
        </p:nvSpPr>
        <p:spPr>
          <a:xfrm>
            <a:off x="594360" y="1115568"/>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Trade creates civilization</a:t>
            </a:r>
            <a:endParaRPr lang="en-US" sz="1200" dirty="0"/>
          </a:p>
        </p:txBody>
      </p:sp>
      <p:sp>
        <p:nvSpPr>
          <p:cNvPr id="6" name="Text 4"/>
          <p:cNvSpPr/>
          <p:nvPr/>
        </p:nvSpPr>
        <p:spPr>
          <a:xfrm>
            <a:off x="594360" y="1426464"/>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Specialization through trade — lengthening lines of production — is the engine behind everything we have.</a:t>
            </a:r>
            <a:endParaRPr lang="en-US" sz="1100" dirty="0"/>
          </a:p>
        </p:txBody>
      </p:sp>
      <p:sp>
        <p:nvSpPr>
          <p:cNvPr id="7" name="Shape 5"/>
          <p:cNvSpPr/>
          <p:nvPr/>
        </p:nvSpPr>
        <p:spPr>
          <a:xfrm>
            <a:off x="4617720" y="1005840"/>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8" name="Shape 6"/>
          <p:cNvSpPr/>
          <p:nvPr/>
        </p:nvSpPr>
        <p:spPr>
          <a:xfrm>
            <a:off x="4617720" y="1005840"/>
            <a:ext cx="64008" cy="1691640"/>
          </a:xfrm>
          <a:prstGeom prst="rect">
            <a:avLst/>
          </a:prstGeom>
          <a:solidFill>
            <a:srgbClr val="C9A84C"/>
          </a:solidFill>
          <a:ln w="12700">
            <a:solidFill>
              <a:srgbClr val="C9A84C"/>
            </a:solidFill>
            <a:prstDash val="solid"/>
          </a:ln>
        </p:spPr>
      </p:sp>
      <p:sp>
        <p:nvSpPr>
          <p:cNvPr id="9" name="Text 7"/>
          <p:cNvSpPr/>
          <p:nvPr/>
        </p:nvSpPr>
        <p:spPr>
          <a:xfrm>
            <a:off x="4754880" y="1115568"/>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Classic barter breaks down</a:t>
            </a:r>
            <a:endParaRPr lang="en-US" sz="1200" dirty="0"/>
          </a:p>
        </p:txBody>
      </p:sp>
      <p:sp>
        <p:nvSpPr>
          <p:cNvPr id="10" name="Text 8"/>
          <p:cNvSpPr/>
          <p:nvPr/>
        </p:nvSpPr>
        <p:spPr>
          <a:xfrm>
            <a:off x="4754880" y="1426464"/>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The double coincidence of wants makes complex trade impossible. Money is the solution — a universal go-between.</a:t>
            </a:r>
            <a:endParaRPr lang="en-US" sz="1100" dirty="0"/>
          </a:p>
        </p:txBody>
      </p:sp>
      <p:sp>
        <p:nvSpPr>
          <p:cNvPr id="11" name="Shape 9"/>
          <p:cNvSpPr/>
          <p:nvPr/>
        </p:nvSpPr>
        <p:spPr>
          <a:xfrm>
            <a:off x="457200" y="2807208"/>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2" name="Shape 10"/>
          <p:cNvSpPr/>
          <p:nvPr/>
        </p:nvSpPr>
        <p:spPr>
          <a:xfrm>
            <a:off x="457200" y="2807208"/>
            <a:ext cx="64008" cy="1691640"/>
          </a:xfrm>
          <a:prstGeom prst="rect">
            <a:avLst/>
          </a:prstGeom>
          <a:solidFill>
            <a:srgbClr val="C9A84C"/>
          </a:solidFill>
          <a:ln w="12700">
            <a:solidFill>
              <a:srgbClr val="C9A84C"/>
            </a:solidFill>
            <a:prstDash val="solid"/>
          </a:ln>
        </p:spPr>
      </p:sp>
      <p:sp>
        <p:nvSpPr>
          <p:cNvPr id="13" name="Text 11"/>
          <p:cNvSpPr/>
          <p:nvPr/>
        </p:nvSpPr>
        <p:spPr>
          <a:xfrm>
            <a:off x="594360" y="2916936"/>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Money emerged naturally</a:t>
            </a:r>
            <a:endParaRPr lang="en-US" sz="1200" dirty="0"/>
          </a:p>
        </p:txBody>
      </p:sp>
      <p:sp>
        <p:nvSpPr>
          <p:cNvPr id="14" name="Text 12"/>
          <p:cNvSpPr/>
          <p:nvPr/>
        </p:nvSpPr>
        <p:spPr>
          <a:xfrm>
            <a:off x="594360" y="3227832"/>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Not from government decree. From the bottom up, wherever people traded. Communities converged on what worked.</a:t>
            </a:r>
            <a:endParaRPr lang="en-US" sz="1100" dirty="0"/>
          </a:p>
        </p:txBody>
      </p:sp>
      <p:sp>
        <p:nvSpPr>
          <p:cNvPr id="15" name="Shape 13"/>
          <p:cNvSpPr/>
          <p:nvPr/>
        </p:nvSpPr>
        <p:spPr>
          <a:xfrm>
            <a:off x="4617720" y="2807208"/>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6" name="Shape 14"/>
          <p:cNvSpPr/>
          <p:nvPr/>
        </p:nvSpPr>
        <p:spPr>
          <a:xfrm>
            <a:off x="4617720" y="2807208"/>
            <a:ext cx="64008" cy="1691640"/>
          </a:xfrm>
          <a:prstGeom prst="rect">
            <a:avLst/>
          </a:prstGeom>
          <a:solidFill>
            <a:srgbClr val="C9A84C"/>
          </a:solidFill>
          <a:ln w="12700">
            <a:solidFill>
              <a:srgbClr val="C9A84C"/>
            </a:solidFill>
            <a:prstDash val="solid"/>
          </a:ln>
        </p:spPr>
      </p:sp>
      <p:sp>
        <p:nvSpPr>
          <p:cNvPr id="17" name="Text 15"/>
          <p:cNvSpPr/>
          <p:nvPr/>
        </p:nvSpPr>
        <p:spPr>
          <a:xfrm>
            <a:off x="4754880" y="2916936"/>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Gold won the competition</a:t>
            </a:r>
            <a:endParaRPr lang="en-US" sz="1200" dirty="0"/>
          </a:p>
        </p:txBody>
      </p:sp>
      <p:sp>
        <p:nvSpPr>
          <p:cNvPr id="18" name="Text 16"/>
          <p:cNvSpPr/>
          <p:nvPr/>
        </p:nvSpPr>
        <p:spPr>
          <a:xfrm>
            <a:off x="4754880" y="3227832"/>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Every civilization independently arrived at gold. Scarce, durable, divisible, fungible, verifiable. The best natural money ever found — with one fatal flaw.</a:t>
            </a:r>
            <a:endParaRPr lang="en-US" sz="1100" dirty="0"/>
          </a:p>
        </p:txBody>
      </p:sp>
      <p:sp>
        <p:nvSpPr>
          <p:cNvPr id="19" name="Text 17"/>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Scarcity and Decentralization — The Two That Matter</a:t>
            </a:r>
            <a:endParaRPr lang="en-US" sz="2600" dirty="0"/>
          </a:p>
        </p:txBody>
      </p:sp>
      <p:sp>
        <p:nvSpPr>
          <p:cNvPr id="3" name="Shape 1"/>
          <p:cNvSpPr/>
          <p:nvPr/>
        </p:nvSpPr>
        <p:spPr>
          <a:xfrm>
            <a:off x="457200" y="960120"/>
            <a:ext cx="64008" cy="1005840"/>
          </a:xfrm>
          <a:prstGeom prst="rect">
            <a:avLst/>
          </a:prstGeom>
          <a:solidFill>
            <a:srgbClr val="C9A84C"/>
          </a:solidFill>
          <a:ln w="12700">
            <a:solidFill>
              <a:srgbClr val="C9A84C"/>
            </a:solidFill>
            <a:prstDash val="solid"/>
          </a:ln>
        </p:spPr>
      </p:sp>
      <p:sp>
        <p:nvSpPr>
          <p:cNvPr id="4" name="Shape 2"/>
          <p:cNvSpPr/>
          <p:nvPr/>
        </p:nvSpPr>
        <p:spPr>
          <a:xfrm>
            <a:off x="457200" y="960120"/>
            <a:ext cx="8229600" cy="1005840"/>
          </a:xfrm>
          <a:prstGeom prst="rect">
            <a:avLst/>
          </a:prstGeom>
          <a:solidFill>
            <a:srgbClr val="1A2E5E"/>
          </a:solidFill>
          <a:ln w="12700">
            <a:solidFill>
              <a:srgbClr val="1A2E5E"/>
            </a:solidFill>
            <a:prstDash val="solid"/>
          </a:ln>
        </p:spPr>
      </p:sp>
      <p:sp>
        <p:nvSpPr>
          <p:cNvPr id="5" name="Text 3"/>
          <p:cNvSpPr/>
          <p:nvPr/>
        </p:nvSpPr>
        <p:spPr>
          <a:xfrm>
            <a:off x="685800" y="1051560"/>
            <a:ext cx="7772400" cy="822960"/>
          </a:xfrm>
          <a:prstGeom prst="rect">
            <a:avLst/>
          </a:prstGeom>
          <a:noFill/>
          <a:ln/>
        </p:spPr>
        <p:txBody>
          <a:bodyPr wrap="square" rtlCol="0" anchor="ctr"/>
          <a:lstStyle/>
          <a:p>
            <a:pPr indent="0" marL="0">
              <a:lnSpc>
                <a:spcPct val="150000"/>
              </a:lnSpc>
              <a:buNone/>
            </a:pPr>
            <a:r>
              <a:rPr lang="en-US" sz="1350" i="1" dirty="0">
                <a:solidFill>
                  <a:srgbClr val="E8EAF6"/>
                </a:solidFill>
                <a:latin typeface="Georgia" pitchFamily="34" charset="0"/>
                <a:ea typeface="Georgia" pitchFamily="34" charset="-122"/>
                <a:cs typeface="Georgia" pitchFamily="34" charset="-120"/>
              </a:rPr>
              <a:t>“Give me control of a nation's money supply and I care not who makes its laws. — attributed to Mayer Amschel Rothschild”</a:t>
            </a:r>
            <a:endParaRPr lang="en-US" sz="1350" dirty="0"/>
          </a:p>
        </p:txBody>
      </p:sp>
      <p:sp>
        <p:nvSpPr>
          <p:cNvPr id="6" name="Text 4"/>
          <p:cNvSpPr/>
          <p:nvPr/>
        </p:nvSpPr>
        <p:spPr>
          <a:xfrm>
            <a:off x="548640" y="2075688"/>
            <a:ext cx="8046720" cy="859536"/>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Good money needs seven properties. But two of them are the ones that determine everything else: scarcity and decentralization.</a:t>
            </a:r>
            <a:endParaRPr lang="en-US" sz="1300" dirty="0"/>
          </a:p>
        </p:txBody>
      </p:sp>
      <p:sp>
        <p:nvSpPr>
          <p:cNvPr id="7" name="Text 5"/>
          <p:cNvSpPr/>
          <p:nvPr/>
        </p:nvSpPr>
        <p:spPr>
          <a:xfrm>
            <a:off x="548640" y="3044952"/>
            <a:ext cx="8046720" cy="1060704"/>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Scarcity: if anyone can create more of the money, they will. And when there is more money chasing the same goods, each unit buys less. This is not complicated — it is the same as any commodity. A bumper crop of wheat makes wheat cheaper. A flood of new money makes money cheaper.</a:t>
            </a:r>
            <a:endParaRPr lang="en-US" sz="1300" dirty="0"/>
          </a:p>
        </p:txBody>
      </p:sp>
      <p:sp>
        <p:nvSpPr>
          <p:cNvPr id="8" name="Text 6"/>
          <p:cNvSpPr/>
          <p:nvPr/>
        </p:nvSpPr>
        <p:spPr>
          <a:xfrm>
            <a:off x="548640" y="4215384"/>
            <a:ext cx="8046720" cy="1060704"/>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Decentralization: the moment one entity controls the money supply, they control everything purchased with it. That is an enormous amount of power. History shows without exception what happens when that power is concentrated.</a:t>
            </a:r>
            <a:endParaRPr lang="en-US" sz="1300" dirty="0"/>
          </a:p>
        </p:txBody>
      </p:sp>
      <p:sp>
        <p:nvSpPr>
          <p:cNvPr id="9" name="Text 7"/>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Gold's Strengths — and Its Fatal Flaw</a:t>
            </a:r>
            <a:endParaRPr lang="en-US" sz="2600" dirty="0"/>
          </a:p>
        </p:txBody>
      </p:sp>
      <p:sp>
        <p:nvSpPr>
          <p:cNvPr id="3" name="Shape 1"/>
          <p:cNvSpPr/>
          <p:nvPr/>
        </p:nvSpPr>
        <p:spPr>
          <a:xfrm>
            <a:off x="457200" y="1005840"/>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4" name="Shape 2"/>
          <p:cNvSpPr/>
          <p:nvPr/>
        </p:nvSpPr>
        <p:spPr>
          <a:xfrm>
            <a:off x="457200" y="1005840"/>
            <a:ext cx="64008" cy="1691640"/>
          </a:xfrm>
          <a:prstGeom prst="rect">
            <a:avLst/>
          </a:prstGeom>
          <a:solidFill>
            <a:srgbClr val="C9A84C"/>
          </a:solidFill>
          <a:ln w="12700">
            <a:solidFill>
              <a:srgbClr val="C9A84C"/>
            </a:solidFill>
            <a:prstDash val="solid"/>
          </a:ln>
        </p:spPr>
      </p:sp>
      <p:sp>
        <p:nvSpPr>
          <p:cNvPr id="5" name="Text 3"/>
          <p:cNvSpPr/>
          <p:nvPr/>
        </p:nvSpPr>
        <p:spPr>
          <a:xfrm>
            <a:off x="594360" y="1115568"/>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Passed nearly every test</a:t>
            </a:r>
            <a:endParaRPr lang="en-US" sz="1200" dirty="0"/>
          </a:p>
        </p:txBody>
      </p:sp>
      <p:sp>
        <p:nvSpPr>
          <p:cNvPr id="6" name="Text 4"/>
          <p:cNvSpPr/>
          <p:nvPr/>
        </p:nvSpPr>
        <p:spPr>
          <a:xfrm>
            <a:off x="594360" y="1426464"/>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Scarce, durable, divisible, fungible, verifiable, decentralized — the best natural money ever found. No government required to validate it.</a:t>
            </a:r>
            <a:endParaRPr lang="en-US" sz="1100" dirty="0"/>
          </a:p>
        </p:txBody>
      </p:sp>
      <p:sp>
        <p:nvSpPr>
          <p:cNvPr id="7" name="Shape 5"/>
          <p:cNvSpPr/>
          <p:nvPr/>
        </p:nvSpPr>
        <p:spPr>
          <a:xfrm>
            <a:off x="4617720" y="1005840"/>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8" name="Shape 6"/>
          <p:cNvSpPr/>
          <p:nvPr/>
        </p:nvSpPr>
        <p:spPr>
          <a:xfrm>
            <a:off x="4617720" y="1005840"/>
            <a:ext cx="64008" cy="1691640"/>
          </a:xfrm>
          <a:prstGeom prst="rect">
            <a:avLst/>
          </a:prstGeom>
          <a:solidFill>
            <a:srgbClr val="C9A84C"/>
          </a:solidFill>
          <a:ln w="12700">
            <a:solidFill>
              <a:srgbClr val="C9A84C"/>
            </a:solidFill>
            <a:prstDash val="solid"/>
          </a:ln>
        </p:spPr>
      </p:sp>
      <p:sp>
        <p:nvSpPr>
          <p:cNvPr id="9" name="Text 7"/>
          <p:cNvSpPr/>
          <p:nvPr/>
        </p:nvSpPr>
        <p:spPr>
          <a:xfrm>
            <a:off x="4754880" y="1115568"/>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The fatal flaw: it is heavy</a:t>
            </a:r>
            <a:endParaRPr lang="en-US" sz="1200" dirty="0"/>
          </a:p>
        </p:txBody>
      </p:sp>
      <p:sp>
        <p:nvSpPr>
          <p:cNvPr id="10" name="Text 8"/>
          <p:cNvSpPr/>
          <p:nvPr/>
        </p:nvSpPr>
        <p:spPr>
          <a:xfrm>
            <a:off x="4754880" y="1426464"/>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Moving large amounts across distances is slow, expensive, and dangerous. As trade became global and economies grew, this became a serious problem.</a:t>
            </a:r>
            <a:endParaRPr lang="en-US" sz="1100" dirty="0"/>
          </a:p>
        </p:txBody>
      </p:sp>
      <p:sp>
        <p:nvSpPr>
          <p:cNvPr id="11" name="Shape 9"/>
          <p:cNvSpPr/>
          <p:nvPr/>
        </p:nvSpPr>
        <p:spPr>
          <a:xfrm>
            <a:off x="457200" y="2807208"/>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2" name="Shape 10"/>
          <p:cNvSpPr/>
          <p:nvPr/>
        </p:nvSpPr>
        <p:spPr>
          <a:xfrm>
            <a:off x="457200" y="2807208"/>
            <a:ext cx="64008" cy="1691640"/>
          </a:xfrm>
          <a:prstGeom prst="rect">
            <a:avLst/>
          </a:prstGeom>
          <a:solidFill>
            <a:srgbClr val="C9A84C"/>
          </a:solidFill>
          <a:ln w="12700">
            <a:solidFill>
              <a:srgbClr val="C9A84C"/>
            </a:solidFill>
            <a:prstDash val="solid"/>
          </a:ln>
        </p:spPr>
      </p:sp>
      <p:sp>
        <p:nvSpPr>
          <p:cNvPr id="13" name="Text 11"/>
          <p:cNvSpPr/>
          <p:nvPr/>
        </p:nvSpPr>
        <p:spPr>
          <a:xfrm>
            <a:off x="594360" y="2916936"/>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The practical solution</a:t>
            </a:r>
            <a:endParaRPr lang="en-US" sz="1200" dirty="0"/>
          </a:p>
        </p:txBody>
      </p:sp>
      <p:sp>
        <p:nvSpPr>
          <p:cNvPr id="14" name="Text 12"/>
          <p:cNvSpPr/>
          <p:nvPr/>
        </p:nvSpPr>
        <p:spPr>
          <a:xfrm>
            <a:off x="594360" y="3227832"/>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Store gold with trusted custodians — banks — and carry paper certificates redeemable for gold instead. Convenient. Everyone wins.</a:t>
            </a:r>
            <a:endParaRPr lang="en-US" sz="1100" dirty="0"/>
          </a:p>
        </p:txBody>
      </p:sp>
      <p:sp>
        <p:nvSpPr>
          <p:cNvPr id="15" name="Shape 13"/>
          <p:cNvSpPr/>
          <p:nvPr/>
        </p:nvSpPr>
        <p:spPr>
          <a:xfrm>
            <a:off x="4617720" y="2807208"/>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6" name="Shape 14"/>
          <p:cNvSpPr/>
          <p:nvPr/>
        </p:nvSpPr>
        <p:spPr>
          <a:xfrm>
            <a:off x="4617720" y="2807208"/>
            <a:ext cx="64008" cy="1691640"/>
          </a:xfrm>
          <a:prstGeom prst="rect">
            <a:avLst/>
          </a:prstGeom>
          <a:solidFill>
            <a:srgbClr val="C9A84C"/>
          </a:solidFill>
          <a:ln w="12700">
            <a:solidFill>
              <a:srgbClr val="C9A84C"/>
            </a:solidFill>
            <a:prstDash val="solid"/>
          </a:ln>
        </p:spPr>
      </p:sp>
      <p:sp>
        <p:nvSpPr>
          <p:cNvPr id="17" name="Text 15"/>
          <p:cNvSpPr/>
          <p:nvPr/>
        </p:nvSpPr>
        <p:spPr>
          <a:xfrm>
            <a:off x="4754880" y="2916936"/>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The quiet abuse</a:t>
            </a:r>
            <a:endParaRPr lang="en-US" sz="1200" dirty="0"/>
          </a:p>
        </p:txBody>
      </p:sp>
      <p:sp>
        <p:nvSpPr>
          <p:cNvPr id="18" name="Text 16"/>
          <p:cNvSpPr/>
          <p:nvPr/>
        </p:nvSpPr>
        <p:spPr>
          <a:xfrm>
            <a:off x="4754880" y="3227832"/>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Custodians noticed most people never collected all their gold at once. So they quietly started issuing more certificates than gold existed. A little at first. Then more.</a:t>
            </a:r>
            <a:endParaRPr lang="en-US" sz="1100" dirty="0"/>
          </a:p>
        </p:txBody>
      </p:sp>
      <p:sp>
        <p:nvSpPr>
          <p:cNvPr id="19" name="Text 17"/>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From Fractional Reserve to 1971</a:t>
            </a:r>
            <a:endParaRPr lang="en-US" sz="2600" dirty="0"/>
          </a:p>
        </p:txBody>
      </p:sp>
      <p:sp>
        <p:nvSpPr>
          <p:cNvPr id="3" name="Shape 1"/>
          <p:cNvSpPr/>
          <p:nvPr/>
        </p:nvSpPr>
        <p:spPr>
          <a:xfrm>
            <a:off x="457200" y="960120"/>
            <a:ext cx="64008" cy="1005840"/>
          </a:xfrm>
          <a:prstGeom prst="rect">
            <a:avLst/>
          </a:prstGeom>
          <a:solidFill>
            <a:srgbClr val="C9A84C"/>
          </a:solidFill>
          <a:ln w="12700">
            <a:solidFill>
              <a:srgbClr val="C9A84C"/>
            </a:solidFill>
            <a:prstDash val="solid"/>
          </a:ln>
        </p:spPr>
      </p:sp>
      <p:sp>
        <p:nvSpPr>
          <p:cNvPr id="4" name="Shape 2"/>
          <p:cNvSpPr/>
          <p:nvPr/>
        </p:nvSpPr>
        <p:spPr>
          <a:xfrm>
            <a:off x="457200" y="960120"/>
            <a:ext cx="8229600" cy="1005840"/>
          </a:xfrm>
          <a:prstGeom prst="rect">
            <a:avLst/>
          </a:prstGeom>
          <a:solidFill>
            <a:srgbClr val="1A2E5E"/>
          </a:solidFill>
          <a:ln w="12700">
            <a:solidFill>
              <a:srgbClr val="1A2E5E"/>
            </a:solidFill>
            <a:prstDash val="solid"/>
          </a:ln>
        </p:spPr>
      </p:sp>
      <p:sp>
        <p:nvSpPr>
          <p:cNvPr id="5" name="Text 3"/>
          <p:cNvSpPr/>
          <p:nvPr/>
        </p:nvSpPr>
        <p:spPr>
          <a:xfrm>
            <a:off x="685800" y="1051560"/>
            <a:ext cx="7772400" cy="822960"/>
          </a:xfrm>
          <a:prstGeom prst="rect">
            <a:avLst/>
          </a:prstGeom>
          <a:noFill/>
          <a:ln/>
        </p:spPr>
        <p:txBody>
          <a:bodyPr wrap="square" rtlCol="0" anchor="ctr"/>
          <a:lstStyle/>
          <a:p>
            <a:pPr indent="0" marL="0">
              <a:lnSpc>
                <a:spcPct val="150000"/>
              </a:lnSpc>
              <a:buNone/>
            </a:pPr>
            <a:r>
              <a:rPr lang="en-US" sz="1350" i="1" dirty="0">
                <a:solidFill>
                  <a:srgbClr val="E8EAF6"/>
                </a:solidFill>
                <a:latin typeface="Georgia" pitchFamily="34" charset="0"/>
                <a:ea typeface="Georgia" pitchFamily="34" charset="-122"/>
                <a:cs typeface="Georgia" pitchFamily="34" charset="-120"/>
              </a:rPr>
              <a:t>“The gold standard did not fail. It was abandoned by those it constrained.”</a:t>
            </a:r>
            <a:endParaRPr lang="en-US" sz="1350" dirty="0"/>
          </a:p>
        </p:txBody>
      </p:sp>
      <p:sp>
        <p:nvSpPr>
          <p:cNvPr id="6" name="Text 4"/>
          <p:cNvSpPr/>
          <p:nvPr/>
        </p:nvSpPr>
        <p:spPr>
          <a:xfrm>
            <a:off x="548640" y="2075688"/>
            <a:ext cx="8046720" cy="1060704"/>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The only thing keeping banks close to honest was their promise to redeem certificates for gold on demand. As long as that promise held, the system had a floor. But governments, recognizing the power of the printing press, gradually took control.</a:t>
            </a:r>
            <a:endParaRPr lang="en-US" sz="1300" dirty="0"/>
          </a:p>
        </p:txBody>
      </p:sp>
      <p:sp>
        <p:nvSpPr>
          <p:cNvPr id="7" name="Text 5"/>
          <p:cNvSpPr/>
          <p:nvPr/>
        </p:nvSpPr>
        <p:spPr>
          <a:xfrm>
            <a:off x="548640" y="3246120"/>
            <a:ext cx="8046720" cy="1060704"/>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The Federal Reserve was established in 1913 — a central bank empowered to manage the money supply and act as lender of last resort. The gold constraint became increasingly inconvenient through two world wars and expanding government programs.</a:t>
            </a:r>
            <a:endParaRPr lang="en-US" sz="1300" dirty="0"/>
          </a:p>
        </p:txBody>
      </p:sp>
      <p:sp>
        <p:nvSpPr>
          <p:cNvPr id="8" name="Text 6"/>
          <p:cNvSpPr/>
          <p:nvPr/>
        </p:nvSpPr>
        <p:spPr>
          <a:xfrm>
            <a:off x="548640" y="4416552"/>
            <a:ext cx="8046720" cy="1060704"/>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On August 15, 1971, President Nixon officially severed the last link between the dollar and gold. From that moment, there was no floor at all. Money could be created without limit, backed by nothing but the authority of the state.</a:t>
            </a:r>
            <a:endParaRPr lang="en-US" sz="1300" dirty="0"/>
          </a:p>
        </p:txBody>
      </p:sp>
      <p:sp>
        <p:nvSpPr>
          <p:cNvPr id="9" name="Text 7"/>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Hard Money vs Soft Money</a:t>
            </a:r>
            <a:endParaRPr lang="en-US" sz="2600" dirty="0"/>
          </a:p>
        </p:txBody>
      </p:sp>
      <p:sp>
        <p:nvSpPr>
          <p:cNvPr id="3" name="Shape 1"/>
          <p:cNvSpPr/>
          <p:nvPr/>
        </p:nvSpPr>
        <p:spPr>
          <a:xfrm>
            <a:off x="457200" y="960120"/>
            <a:ext cx="4069080" cy="347472"/>
          </a:xfrm>
          <a:prstGeom prst="rect">
            <a:avLst/>
          </a:prstGeom>
          <a:solidFill>
            <a:srgbClr val="EAF3DE"/>
          </a:solidFill>
          <a:ln w="12700">
            <a:solidFill>
              <a:srgbClr val="EAF3DE"/>
            </a:solidFill>
            <a:prstDash val="solid"/>
          </a:ln>
        </p:spPr>
      </p:sp>
      <p:sp>
        <p:nvSpPr>
          <p:cNvPr id="4" name="Text 2"/>
          <p:cNvSpPr/>
          <p:nvPr/>
        </p:nvSpPr>
        <p:spPr>
          <a:xfrm>
            <a:off x="457200" y="960120"/>
            <a:ext cx="4069080" cy="347472"/>
          </a:xfrm>
          <a:prstGeom prst="rect">
            <a:avLst/>
          </a:prstGeom>
          <a:noFill/>
          <a:ln/>
        </p:spPr>
        <p:txBody>
          <a:bodyPr wrap="square" rtlCol="0" anchor="ctr"/>
          <a:lstStyle/>
          <a:p>
            <a:pPr algn="ctr" indent="0" marL="0">
              <a:buNone/>
            </a:pPr>
            <a:r>
              <a:rPr lang="en-US" sz="1200" b="1" dirty="0">
                <a:solidFill>
                  <a:srgbClr val="A32D2D"/>
                </a:solidFill>
                <a:latin typeface="Calibri" pitchFamily="34" charset="0"/>
                <a:ea typeface="Calibri" pitchFamily="34" charset="-122"/>
                <a:cs typeface="Calibri" pitchFamily="34" charset="-120"/>
              </a:rPr>
              <a:t>Hard Money (Gold Standard)</a:t>
            </a:r>
            <a:endParaRPr lang="en-US" sz="1200" dirty="0"/>
          </a:p>
        </p:txBody>
      </p:sp>
      <p:sp>
        <p:nvSpPr>
          <p:cNvPr id="5" name="Shape 3"/>
          <p:cNvSpPr/>
          <p:nvPr/>
        </p:nvSpPr>
        <p:spPr>
          <a:xfrm>
            <a:off x="4617720" y="960120"/>
            <a:ext cx="4069080" cy="347472"/>
          </a:xfrm>
          <a:prstGeom prst="rect">
            <a:avLst/>
          </a:prstGeom>
          <a:solidFill>
            <a:srgbClr val="FCEBEB"/>
          </a:solidFill>
          <a:ln w="12700">
            <a:solidFill>
              <a:srgbClr val="FCEBEB"/>
            </a:solidFill>
            <a:prstDash val="solid"/>
          </a:ln>
        </p:spPr>
      </p:sp>
      <p:sp>
        <p:nvSpPr>
          <p:cNvPr id="6" name="Text 4"/>
          <p:cNvSpPr/>
          <p:nvPr/>
        </p:nvSpPr>
        <p:spPr>
          <a:xfrm>
            <a:off x="4617720" y="960120"/>
            <a:ext cx="4069080" cy="347472"/>
          </a:xfrm>
          <a:prstGeom prst="rect">
            <a:avLst/>
          </a:prstGeom>
          <a:noFill/>
          <a:ln/>
        </p:spPr>
        <p:txBody>
          <a:bodyPr wrap="square" rtlCol="0" anchor="ctr"/>
          <a:lstStyle/>
          <a:p>
            <a:pPr algn="ctr" indent="0" marL="0">
              <a:buNone/>
            </a:pPr>
            <a:r>
              <a:rPr lang="en-US" sz="1200" b="1" dirty="0">
                <a:solidFill>
                  <a:srgbClr val="3B6D11"/>
                </a:solidFill>
                <a:latin typeface="Calibri" pitchFamily="34" charset="0"/>
                <a:ea typeface="Calibri" pitchFamily="34" charset="-122"/>
                <a:cs typeface="Calibri" pitchFamily="34" charset="-120"/>
              </a:rPr>
              <a:t>Soft Money (Post-1971 Fiat)</a:t>
            </a:r>
            <a:endParaRPr lang="en-US" sz="1200" dirty="0"/>
          </a:p>
        </p:txBody>
      </p:sp>
      <p:sp>
        <p:nvSpPr>
          <p:cNvPr id="7" name="Shape 5"/>
          <p:cNvSpPr/>
          <p:nvPr/>
        </p:nvSpPr>
        <p:spPr>
          <a:xfrm>
            <a:off x="457200" y="1307592"/>
            <a:ext cx="4069080" cy="850392"/>
          </a:xfrm>
          <a:prstGeom prst="rect">
            <a:avLst/>
          </a:prstGeom>
          <a:solidFill>
            <a:srgbClr val="FFFFFF"/>
          </a:solidFill>
          <a:ln w="12700">
            <a:solidFill>
              <a:srgbClr val="D1D9E6"/>
            </a:solidFill>
            <a:prstDash val="solid"/>
          </a:ln>
        </p:spPr>
      </p:sp>
      <p:sp>
        <p:nvSpPr>
          <p:cNvPr id="8" name="Text 6"/>
          <p:cNvSpPr/>
          <p:nvPr/>
        </p:nvSpPr>
        <p:spPr>
          <a:xfrm>
            <a:off x="548640" y="1344168"/>
            <a:ext cx="3886200" cy="777240"/>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Governments must balance budgets — spending is constrained by real revenue</a:t>
            </a:r>
            <a:endParaRPr lang="en-US" sz="1100" dirty="0"/>
          </a:p>
        </p:txBody>
      </p:sp>
      <p:sp>
        <p:nvSpPr>
          <p:cNvPr id="9" name="Shape 7"/>
          <p:cNvSpPr/>
          <p:nvPr/>
        </p:nvSpPr>
        <p:spPr>
          <a:xfrm>
            <a:off x="4617720" y="1307592"/>
            <a:ext cx="4069080" cy="850392"/>
          </a:xfrm>
          <a:prstGeom prst="rect">
            <a:avLst/>
          </a:prstGeom>
          <a:solidFill>
            <a:srgbClr val="FFFFFF"/>
          </a:solidFill>
          <a:ln w="12700">
            <a:solidFill>
              <a:srgbClr val="D1D9E6"/>
            </a:solidFill>
            <a:prstDash val="solid"/>
          </a:ln>
        </p:spPr>
      </p:sp>
      <p:sp>
        <p:nvSpPr>
          <p:cNvPr id="10" name="Text 8"/>
          <p:cNvSpPr/>
          <p:nvPr/>
        </p:nvSpPr>
        <p:spPr>
          <a:xfrm>
            <a:off x="4709160" y="1344168"/>
            <a:ext cx="3886200" cy="777240"/>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Governments borrow indefinitely — cost socialized through inflation</a:t>
            </a:r>
            <a:endParaRPr lang="en-US" sz="1100" dirty="0"/>
          </a:p>
        </p:txBody>
      </p:sp>
      <p:sp>
        <p:nvSpPr>
          <p:cNvPr id="11" name="Shape 9"/>
          <p:cNvSpPr/>
          <p:nvPr/>
        </p:nvSpPr>
        <p:spPr>
          <a:xfrm>
            <a:off x="457200" y="2157984"/>
            <a:ext cx="4069080" cy="850392"/>
          </a:xfrm>
          <a:prstGeom prst="rect">
            <a:avLst/>
          </a:prstGeom>
          <a:solidFill>
            <a:srgbClr val="F9FAFB"/>
          </a:solidFill>
          <a:ln w="12700">
            <a:solidFill>
              <a:srgbClr val="D1D9E6"/>
            </a:solidFill>
            <a:prstDash val="solid"/>
          </a:ln>
        </p:spPr>
      </p:sp>
      <p:sp>
        <p:nvSpPr>
          <p:cNvPr id="12" name="Text 10"/>
          <p:cNvSpPr/>
          <p:nvPr/>
        </p:nvSpPr>
        <p:spPr>
          <a:xfrm>
            <a:off x="548640" y="2194560"/>
            <a:ext cx="3886200" cy="777240"/>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Wars require visible taxes — citizens feel the cost immediately</a:t>
            </a:r>
            <a:endParaRPr lang="en-US" sz="1100" dirty="0"/>
          </a:p>
        </p:txBody>
      </p:sp>
      <p:sp>
        <p:nvSpPr>
          <p:cNvPr id="13" name="Shape 11"/>
          <p:cNvSpPr/>
          <p:nvPr/>
        </p:nvSpPr>
        <p:spPr>
          <a:xfrm>
            <a:off x="4617720" y="2157984"/>
            <a:ext cx="4069080" cy="850392"/>
          </a:xfrm>
          <a:prstGeom prst="rect">
            <a:avLst/>
          </a:prstGeom>
          <a:solidFill>
            <a:srgbClr val="F9FAFB"/>
          </a:solidFill>
          <a:ln w="12700">
            <a:solidFill>
              <a:srgbClr val="D1D9E6"/>
            </a:solidFill>
            <a:prstDash val="solid"/>
          </a:ln>
        </p:spPr>
      </p:sp>
      <p:sp>
        <p:nvSpPr>
          <p:cNvPr id="14" name="Text 12"/>
          <p:cNvSpPr/>
          <p:nvPr/>
        </p:nvSpPr>
        <p:spPr>
          <a:xfrm>
            <a:off x="4709160" y="2194560"/>
            <a:ext cx="3886200" cy="777240"/>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Wars financed by printing — cost hidden and deferred</a:t>
            </a:r>
            <a:endParaRPr lang="en-US" sz="1100" dirty="0"/>
          </a:p>
        </p:txBody>
      </p:sp>
      <p:sp>
        <p:nvSpPr>
          <p:cNvPr id="15" name="Shape 13"/>
          <p:cNvSpPr/>
          <p:nvPr/>
        </p:nvSpPr>
        <p:spPr>
          <a:xfrm>
            <a:off x="457200" y="3008376"/>
            <a:ext cx="4069080" cy="850392"/>
          </a:xfrm>
          <a:prstGeom prst="rect">
            <a:avLst/>
          </a:prstGeom>
          <a:solidFill>
            <a:srgbClr val="FFFFFF"/>
          </a:solidFill>
          <a:ln w="12700">
            <a:solidFill>
              <a:srgbClr val="D1D9E6"/>
            </a:solidFill>
            <a:prstDash val="solid"/>
          </a:ln>
        </p:spPr>
      </p:sp>
      <p:sp>
        <p:nvSpPr>
          <p:cNvPr id="16" name="Text 14"/>
          <p:cNvSpPr/>
          <p:nvPr/>
        </p:nvSpPr>
        <p:spPr>
          <a:xfrm>
            <a:off x="548640" y="3044952"/>
            <a:ext cx="3886200" cy="777240"/>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Saving is rewarded — purchasing power holds over time</a:t>
            </a:r>
            <a:endParaRPr lang="en-US" sz="1100" dirty="0"/>
          </a:p>
        </p:txBody>
      </p:sp>
      <p:sp>
        <p:nvSpPr>
          <p:cNvPr id="17" name="Shape 15"/>
          <p:cNvSpPr/>
          <p:nvPr/>
        </p:nvSpPr>
        <p:spPr>
          <a:xfrm>
            <a:off x="4617720" y="3008376"/>
            <a:ext cx="4069080" cy="850392"/>
          </a:xfrm>
          <a:prstGeom prst="rect">
            <a:avLst/>
          </a:prstGeom>
          <a:solidFill>
            <a:srgbClr val="FFFFFF"/>
          </a:solidFill>
          <a:ln w="12700">
            <a:solidFill>
              <a:srgbClr val="D1D9E6"/>
            </a:solidFill>
            <a:prstDash val="solid"/>
          </a:ln>
        </p:spPr>
      </p:sp>
      <p:sp>
        <p:nvSpPr>
          <p:cNvPr id="18" name="Text 16"/>
          <p:cNvSpPr/>
          <p:nvPr/>
        </p:nvSpPr>
        <p:spPr>
          <a:xfrm>
            <a:off x="4709160" y="3044952"/>
            <a:ext cx="3886200" cy="777240"/>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Saving is punished — money loses value every year</a:t>
            </a:r>
            <a:endParaRPr lang="en-US" sz="1100" dirty="0"/>
          </a:p>
        </p:txBody>
      </p:sp>
      <p:sp>
        <p:nvSpPr>
          <p:cNvPr id="19" name="Shape 17"/>
          <p:cNvSpPr/>
          <p:nvPr/>
        </p:nvSpPr>
        <p:spPr>
          <a:xfrm>
            <a:off x="457200" y="3858768"/>
            <a:ext cx="4069080" cy="850392"/>
          </a:xfrm>
          <a:prstGeom prst="rect">
            <a:avLst/>
          </a:prstGeom>
          <a:solidFill>
            <a:srgbClr val="F9FAFB"/>
          </a:solidFill>
          <a:ln w="12700">
            <a:solidFill>
              <a:srgbClr val="D1D9E6"/>
            </a:solidFill>
            <a:prstDash val="solid"/>
          </a:ln>
        </p:spPr>
      </p:sp>
      <p:sp>
        <p:nvSpPr>
          <p:cNvPr id="20" name="Text 18"/>
          <p:cNvSpPr/>
          <p:nvPr/>
        </p:nvSpPr>
        <p:spPr>
          <a:xfrm>
            <a:off x="548640" y="3895344"/>
            <a:ext cx="3886200" cy="777240"/>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Price stability enables long-term planning</a:t>
            </a:r>
            <a:endParaRPr lang="en-US" sz="1100" dirty="0"/>
          </a:p>
        </p:txBody>
      </p:sp>
      <p:sp>
        <p:nvSpPr>
          <p:cNvPr id="21" name="Shape 19"/>
          <p:cNvSpPr/>
          <p:nvPr/>
        </p:nvSpPr>
        <p:spPr>
          <a:xfrm>
            <a:off x="4617720" y="3858768"/>
            <a:ext cx="4069080" cy="850392"/>
          </a:xfrm>
          <a:prstGeom prst="rect">
            <a:avLst/>
          </a:prstGeom>
          <a:solidFill>
            <a:srgbClr val="F9FAFB"/>
          </a:solidFill>
          <a:ln w="12700">
            <a:solidFill>
              <a:srgbClr val="D1D9E6"/>
            </a:solidFill>
            <a:prstDash val="solid"/>
          </a:ln>
        </p:spPr>
      </p:sp>
      <p:sp>
        <p:nvSpPr>
          <p:cNvPr id="22" name="Text 20"/>
          <p:cNvSpPr/>
          <p:nvPr/>
        </p:nvSpPr>
        <p:spPr>
          <a:xfrm>
            <a:off x="4709160" y="3895344"/>
            <a:ext cx="3886200" cy="777240"/>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Persistent debasement shortens every planning horizon</a:t>
            </a:r>
            <a:endParaRPr lang="en-US" sz="1100" dirty="0"/>
          </a:p>
        </p:txBody>
      </p:sp>
      <p:sp>
        <p:nvSpPr>
          <p:cNvPr id="23" name="Text 21"/>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E5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84C"/>
          </a:solidFill>
          <a:ln w="12700">
            <a:solidFill>
              <a:srgbClr val="C9A84C"/>
            </a:solidFill>
            <a:prstDash val="solid"/>
          </a:ln>
        </p:spPr>
      </p:sp>
      <p:sp>
        <p:nvSpPr>
          <p:cNvPr id="3" name="Text 1"/>
          <p:cNvSpPr/>
          <p:nvPr/>
        </p:nvSpPr>
        <p:spPr>
          <a:xfrm>
            <a:off x="457200" y="457200"/>
            <a:ext cx="8229600" cy="411480"/>
          </a:xfrm>
          <a:prstGeom prst="rect">
            <a:avLst/>
          </a:prstGeom>
          <a:noFill/>
          <a:ln/>
        </p:spPr>
        <p:txBody>
          <a:bodyPr wrap="square" rtlCol="0" anchor="ctr"/>
          <a:lstStyle/>
          <a:p>
            <a:pPr indent="0" marL="0">
              <a:buNone/>
            </a:pPr>
            <a:r>
              <a:rPr lang="en-US" sz="2000" b="1" dirty="0">
                <a:solidFill>
                  <a:srgbClr val="C9A84C"/>
                </a:solidFill>
                <a:latin typeface="Georgia" pitchFamily="34" charset="0"/>
                <a:ea typeface="Georgia" pitchFamily="34" charset="-122"/>
                <a:cs typeface="Georgia" pitchFamily="34" charset="-120"/>
              </a:rPr>
              <a:t>DISCUSSION — Session 2</a:t>
            </a:r>
            <a:endParaRPr lang="en-US" sz="2000" dirty="0"/>
          </a:p>
        </p:txBody>
      </p:sp>
      <p:sp>
        <p:nvSpPr>
          <p:cNvPr id="4" name="Shape 2"/>
          <p:cNvSpPr/>
          <p:nvPr/>
        </p:nvSpPr>
        <p:spPr>
          <a:xfrm>
            <a:off x="457200" y="1005840"/>
            <a:ext cx="8229600" cy="713232"/>
          </a:xfrm>
          <a:prstGeom prst="rect">
            <a:avLst/>
          </a:prstGeom>
          <a:solidFill>
            <a:srgbClr val="1E3A6E"/>
          </a:solidFill>
          <a:ln w="12700">
            <a:solidFill>
              <a:srgbClr val="2A4A7E"/>
            </a:solidFill>
            <a:prstDash val="solid"/>
          </a:ln>
        </p:spPr>
      </p:sp>
      <p:sp>
        <p:nvSpPr>
          <p:cNvPr id="5" name="Text 3"/>
          <p:cNvSpPr/>
          <p:nvPr/>
        </p:nvSpPr>
        <p:spPr>
          <a:xfrm>
            <a:off x="640080" y="1078992"/>
            <a:ext cx="7863840" cy="566928"/>
          </a:xfrm>
          <a:prstGeom prst="rect">
            <a:avLst/>
          </a:prstGeom>
          <a:noFill/>
          <a:ln/>
        </p:spPr>
        <p:txBody>
          <a:bodyPr wrap="square" rtlCol="0" anchor="ctr"/>
          <a:lstStyle/>
          <a:p>
            <a:pPr indent="0" marL="0">
              <a:lnSpc>
                <a:spcPct val="140000"/>
              </a:lnSpc>
              <a:buNone/>
            </a:pPr>
            <a:r>
              <a:rPr lang="en-US" sz="1250" dirty="0">
                <a:solidFill>
                  <a:srgbClr val="E8EAF6"/>
                </a:solidFill>
                <a:latin typeface="Calibri" pitchFamily="34" charset="0"/>
                <a:ea typeface="Calibri" pitchFamily="34" charset="-122"/>
                <a:cs typeface="Calibri" pitchFamily="34" charset="-120"/>
              </a:rPr>
              <a:t>1.  The quote about controlling the money supply — do you believe that's true? What are the implications if it is?</a:t>
            </a:r>
            <a:endParaRPr lang="en-US" sz="1250" dirty="0"/>
          </a:p>
        </p:txBody>
      </p:sp>
      <p:sp>
        <p:nvSpPr>
          <p:cNvPr id="6" name="Shape 4"/>
          <p:cNvSpPr/>
          <p:nvPr/>
        </p:nvSpPr>
        <p:spPr>
          <a:xfrm>
            <a:off x="457200" y="1874520"/>
            <a:ext cx="8229600" cy="713232"/>
          </a:xfrm>
          <a:prstGeom prst="rect">
            <a:avLst/>
          </a:prstGeom>
          <a:solidFill>
            <a:srgbClr val="1E3A6E"/>
          </a:solidFill>
          <a:ln w="12700">
            <a:solidFill>
              <a:srgbClr val="2A4A7E"/>
            </a:solidFill>
            <a:prstDash val="solid"/>
          </a:ln>
        </p:spPr>
      </p:sp>
      <p:sp>
        <p:nvSpPr>
          <p:cNvPr id="7" name="Text 5"/>
          <p:cNvSpPr/>
          <p:nvPr/>
        </p:nvSpPr>
        <p:spPr>
          <a:xfrm>
            <a:off x="640080" y="1947672"/>
            <a:ext cx="7863840" cy="566928"/>
          </a:xfrm>
          <a:prstGeom prst="rect">
            <a:avLst/>
          </a:prstGeom>
          <a:noFill/>
          <a:ln/>
        </p:spPr>
        <p:txBody>
          <a:bodyPr wrap="square" rtlCol="0" anchor="ctr"/>
          <a:lstStyle/>
          <a:p>
            <a:pPr indent="0" marL="0">
              <a:lnSpc>
                <a:spcPct val="140000"/>
              </a:lnSpc>
              <a:buNone/>
            </a:pPr>
            <a:r>
              <a:rPr lang="en-US" sz="1250" dirty="0">
                <a:solidFill>
                  <a:srgbClr val="E8EAF6"/>
                </a:solidFill>
                <a:latin typeface="Calibri" pitchFamily="34" charset="0"/>
                <a:ea typeface="Calibri" pitchFamily="34" charset="-122"/>
                <a:cs typeface="Calibri" pitchFamily="34" charset="-120"/>
              </a:rPr>
              <a:t>2.  Can you think of examples in your lifetime where you noticed money losing value? What did that look like practically?</a:t>
            </a:r>
            <a:endParaRPr lang="en-US" sz="1250" dirty="0"/>
          </a:p>
        </p:txBody>
      </p:sp>
      <p:sp>
        <p:nvSpPr>
          <p:cNvPr id="8" name="Shape 6"/>
          <p:cNvSpPr/>
          <p:nvPr/>
        </p:nvSpPr>
        <p:spPr>
          <a:xfrm>
            <a:off x="457200" y="2743200"/>
            <a:ext cx="8229600" cy="713232"/>
          </a:xfrm>
          <a:prstGeom prst="rect">
            <a:avLst/>
          </a:prstGeom>
          <a:solidFill>
            <a:srgbClr val="1E3A6E"/>
          </a:solidFill>
          <a:ln w="12700">
            <a:solidFill>
              <a:srgbClr val="2A4A7E"/>
            </a:solidFill>
            <a:prstDash val="solid"/>
          </a:ln>
        </p:spPr>
      </p:sp>
      <p:sp>
        <p:nvSpPr>
          <p:cNvPr id="9" name="Text 7"/>
          <p:cNvSpPr/>
          <p:nvPr/>
        </p:nvSpPr>
        <p:spPr>
          <a:xfrm>
            <a:off x="640080" y="2816352"/>
            <a:ext cx="7863840" cy="566928"/>
          </a:xfrm>
          <a:prstGeom prst="rect">
            <a:avLst/>
          </a:prstGeom>
          <a:noFill/>
          <a:ln/>
        </p:spPr>
        <p:txBody>
          <a:bodyPr wrap="square" rtlCol="0" anchor="ctr"/>
          <a:lstStyle/>
          <a:p>
            <a:pPr indent="0" marL="0">
              <a:lnSpc>
                <a:spcPct val="140000"/>
              </a:lnSpc>
              <a:buNone/>
            </a:pPr>
            <a:r>
              <a:rPr lang="en-US" sz="1250" dirty="0">
                <a:solidFill>
                  <a:srgbClr val="E8EAF6"/>
                </a:solidFill>
                <a:latin typeface="Calibri" pitchFamily="34" charset="0"/>
                <a:ea typeface="Calibri" pitchFamily="34" charset="-122"/>
                <a:cs typeface="Calibri" pitchFamily="34" charset="-120"/>
              </a:rPr>
              <a:t>3.  The gold standard era produced broadly shared prosperity. What changed after it ended? What do you see differently now?</a:t>
            </a:r>
            <a:endParaRPr lang="en-US" sz="1250" dirty="0"/>
          </a:p>
        </p:txBody>
      </p:sp>
      <p:sp>
        <p:nvSpPr>
          <p:cNvPr id="10" name="Shape 8"/>
          <p:cNvSpPr/>
          <p:nvPr/>
        </p:nvSpPr>
        <p:spPr>
          <a:xfrm>
            <a:off x="457200" y="3611880"/>
            <a:ext cx="8229600" cy="713232"/>
          </a:xfrm>
          <a:prstGeom prst="rect">
            <a:avLst/>
          </a:prstGeom>
          <a:solidFill>
            <a:srgbClr val="1E3A6E"/>
          </a:solidFill>
          <a:ln w="12700">
            <a:solidFill>
              <a:srgbClr val="2A4A7E"/>
            </a:solidFill>
            <a:prstDash val="solid"/>
          </a:ln>
        </p:spPr>
      </p:sp>
      <p:sp>
        <p:nvSpPr>
          <p:cNvPr id="11" name="Text 9"/>
          <p:cNvSpPr/>
          <p:nvPr/>
        </p:nvSpPr>
        <p:spPr>
          <a:xfrm>
            <a:off x="640080" y="3685032"/>
            <a:ext cx="7863840" cy="566928"/>
          </a:xfrm>
          <a:prstGeom prst="rect">
            <a:avLst/>
          </a:prstGeom>
          <a:noFill/>
          <a:ln/>
        </p:spPr>
        <p:txBody>
          <a:bodyPr wrap="square" rtlCol="0" anchor="ctr"/>
          <a:lstStyle/>
          <a:p>
            <a:pPr indent="0" marL="0">
              <a:lnSpc>
                <a:spcPct val="140000"/>
              </a:lnSpc>
              <a:buNone/>
            </a:pPr>
            <a:r>
              <a:rPr lang="en-US" sz="1250" dirty="0">
                <a:solidFill>
                  <a:srgbClr val="E8EAF6"/>
                </a:solidFill>
                <a:latin typeface="Calibri" pitchFamily="34" charset="0"/>
                <a:ea typeface="Calibri" pitchFamily="34" charset="-122"/>
                <a:cs typeface="Calibri" pitchFamily="34" charset="-120"/>
              </a:rPr>
              <a:t>4.  "The gold standard didn't fail — it was abandoned by those it constrained." Do you agree? Push back if not.</a:t>
            </a:r>
            <a:endParaRPr lang="en-US" sz="1250" dirty="0"/>
          </a:p>
        </p:txBody>
      </p:sp>
      <p:sp>
        <p:nvSpPr>
          <p:cNvPr id="12" name="Text 10"/>
          <p:cNvSpPr/>
          <p:nvPr/>
        </p:nvSpPr>
        <p:spPr>
          <a:xfrm>
            <a:off x="457200" y="4828032"/>
            <a:ext cx="8229600" cy="18288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84C"/>
          </a:solidFill>
          <a:ln w="12700">
            <a:solidFill>
              <a:srgbClr val="C9A84C"/>
            </a:solidFill>
            <a:prstDash val="solid"/>
          </a:ln>
        </p:spPr>
      </p:sp>
      <p:sp>
        <p:nvSpPr>
          <p:cNvPr id="3" name="Text 1"/>
          <p:cNvSpPr/>
          <p:nvPr/>
        </p:nvSpPr>
        <p:spPr>
          <a:xfrm>
            <a:off x="457200" y="548640"/>
            <a:ext cx="8229600" cy="5029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Coming Next — Session 3</a:t>
            </a:r>
            <a:endParaRPr lang="en-US" sz="2600" dirty="0"/>
          </a:p>
        </p:txBody>
      </p:sp>
      <p:sp>
        <p:nvSpPr>
          <p:cNvPr id="4" name="Shape 2"/>
          <p:cNvSpPr/>
          <p:nvPr/>
        </p:nvSpPr>
        <p:spPr>
          <a:xfrm>
            <a:off x="457200" y="1188720"/>
            <a:ext cx="8229600" cy="1371600"/>
          </a:xfrm>
          <a:prstGeom prst="rect">
            <a:avLst/>
          </a:prstGeom>
          <a:solidFill>
            <a:srgbClr val="1A2E5E"/>
          </a:solidFill>
          <a:ln w="12700">
            <a:solidFill>
              <a:srgbClr val="1A2E5E"/>
            </a:solidFill>
            <a:prstDash val="solid"/>
          </a:ln>
        </p:spPr>
      </p:sp>
      <p:sp>
        <p:nvSpPr>
          <p:cNvPr id="5" name="Text 3"/>
          <p:cNvSpPr/>
          <p:nvPr/>
        </p:nvSpPr>
        <p:spPr>
          <a:xfrm>
            <a:off x="640080" y="1280160"/>
            <a:ext cx="7863840" cy="1188720"/>
          </a:xfrm>
          <a:prstGeom prst="rect">
            <a:avLst/>
          </a:prstGeom>
          <a:noFill/>
          <a:ln/>
        </p:spPr>
        <p:txBody>
          <a:bodyPr wrap="square" rtlCol="0" anchor="ctr"/>
          <a:lstStyle/>
          <a:p>
            <a:pPr indent="0" marL="0">
              <a:lnSpc>
                <a:spcPct val="160000"/>
              </a:lnSpc>
              <a:buNone/>
            </a:pPr>
            <a:r>
              <a:rPr lang="en-US" sz="1500" i="1" dirty="0">
                <a:solidFill>
                  <a:srgbClr val="E8EAF6"/>
                </a:solidFill>
                <a:latin typeface="Georgia" pitchFamily="34" charset="0"/>
                <a:ea typeface="Georgia" pitchFamily="34" charset="-122"/>
                <a:cs typeface="Georgia" pitchFamily="34" charset="-120"/>
              </a:rPr>
              <a:t>“When the constraint on money creation disappears, something changes — not just in prices, but in wars, in inequality, in the quality of the things we build, and in how we think about the future.”</a:t>
            </a:r>
            <a:endParaRPr lang="en-US" sz="1500" dirty="0"/>
          </a:p>
        </p:txBody>
      </p:sp>
      <p:sp>
        <p:nvSpPr>
          <p:cNvPr id="6" name="Shape 4"/>
          <p:cNvSpPr/>
          <p:nvPr/>
        </p:nvSpPr>
        <p:spPr>
          <a:xfrm>
            <a:off x="457200" y="2834640"/>
            <a:ext cx="2651760" cy="1463040"/>
          </a:xfrm>
          <a:prstGeom prst="rect">
            <a:avLst/>
          </a:prstGeom>
          <a:solidFill>
            <a:srgbClr val="111827"/>
          </a:solidFill>
          <a:ln w="12700">
            <a:solidFill>
              <a:srgbClr val="1F2937"/>
            </a:solidFill>
            <a:prstDash val="solid"/>
          </a:ln>
        </p:spPr>
      </p:sp>
      <p:sp>
        <p:nvSpPr>
          <p:cNvPr id="7" name="Text 5"/>
          <p:cNvSpPr/>
          <p:nvPr/>
        </p:nvSpPr>
        <p:spPr>
          <a:xfrm>
            <a:off x="594360" y="2944368"/>
            <a:ext cx="2377440" cy="274320"/>
          </a:xfrm>
          <a:prstGeom prst="rect">
            <a:avLst/>
          </a:prstGeom>
          <a:noFill/>
          <a:ln/>
        </p:spPr>
        <p:txBody>
          <a:bodyPr wrap="square" lIns="0" tIns="0" rIns="0" bIns="0" rtlCol="0" anchor="ctr"/>
          <a:lstStyle/>
          <a:p>
            <a:pPr indent="0" marL="0">
              <a:buNone/>
            </a:pPr>
            <a:r>
              <a:rPr lang="en-US" sz="1200" b="1" dirty="0">
                <a:solidFill>
                  <a:srgbClr val="C9A84C"/>
                </a:solidFill>
                <a:latin typeface="Calibri" pitchFamily="34" charset="0"/>
                <a:ea typeface="Calibri" pitchFamily="34" charset="-122"/>
                <a:cs typeface="Calibri" pitchFamily="34" charset="-120"/>
              </a:rPr>
              <a:t>Homework prompt</a:t>
            </a:r>
            <a:endParaRPr lang="en-US" sz="1200" dirty="0"/>
          </a:p>
        </p:txBody>
      </p:sp>
      <p:sp>
        <p:nvSpPr>
          <p:cNvPr id="8" name="Text 6"/>
          <p:cNvSpPr/>
          <p:nvPr/>
        </p:nvSpPr>
        <p:spPr>
          <a:xfrm>
            <a:off x="594360" y="3255264"/>
            <a:ext cx="2377440" cy="822960"/>
          </a:xfrm>
          <a:prstGeom prst="rect">
            <a:avLst/>
          </a:prstGeom>
          <a:noFill/>
          <a:ln/>
        </p:spPr>
        <p:txBody>
          <a:bodyPr wrap="square" lIns="0" tIns="0" rIns="0" bIns="0" rtlCol="0" anchor="ctr"/>
          <a:lstStyle/>
          <a:p>
            <a:pPr indent="0" marL="0">
              <a:lnSpc>
                <a:spcPct val="140000"/>
              </a:lnSpc>
              <a:buNone/>
            </a:pPr>
            <a:r>
              <a:rPr lang="en-US" sz="1050" dirty="0">
                <a:solidFill>
                  <a:srgbClr val="8899AA"/>
                </a:solidFill>
                <a:latin typeface="Calibri" pitchFamily="34" charset="0"/>
                <a:ea typeface="Calibri" pitchFamily="34" charset="-122"/>
                <a:cs typeface="Calibri" pitchFamily="34" charset="-120"/>
              </a:rPr>
              <a:t>Look at a grocery receipt from last year, or think about a price you remember from 10 years ago. Is that increase explained by something getting more valuable — or by money getting less reliable?</a:t>
            </a:r>
            <a:endParaRPr lang="en-US" sz="1050" dirty="0"/>
          </a:p>
        </p:txBody>
      </p:sp>
      <p:sp>
        <p:nvSpPr>
          <p:cNvPr id="9" name="Shape 7"/>
          <p:cNvSpPr/>
          <p:nvPr/>
        </p:nvSpPr>
        <p:spPr>
          <a:xfrm>
            <a:off x="3291840" y="2834640"/>
            <a:ext cx="2651760" cy="1463040"/>
          </a:xfrm>
          <a:prstGeom prst="rect">
            <a:avLst/>
          </a:prstGeom>
          <a:solidFill>
            <a:srgbClr val="111827"/>
          </a:solidFill>
          <a:ln w="12700">
            <a:solidFill>
              <a:srgbClr val="1F2937"/>
            </a:solidFill>
            <a:prstDash val="solid"/>
          </a:ln>
        </p:spPr>
      </p:sp>
      <p:sp>
        <p:nvSpPr>
          <p:cNvPr id="10" name="Text 8"/>
          <p:cNvSpPr/>
          <p:nvPr/>
        </p:nvSpPr>
        <p:spPr>
          <a:xfrm>
            <a:off x="3429000" y="2944368"/>
            <a:ext cx="2377440" cy="274320"/>
          </a:xfrm>
          <a:prstGeom prst="rect">
            <a:avLst/>
          </a:prstGeom>
          <a:noFill/>
          <a:ln/>
        </p:spPr>
        <p:txBody>
          <a:bodyPr wrap="square" lIns="0" tIns="0" rIns="0" bIns="0" rtlCol="0" anchor="ctr"/>
          <a:lstStyle/>
          <a:p>
            <a:pPr indent="0" marL="0">
              <a:buNone/>
            </a:pPr>
            <a:r>
              <a:rPr lang="en-US" sz="1200" b="1" dirty="0">
                <a:solidFill>
                  <a:srgbClr val="C9A84C"/>
                </a:solidFill>
                <a:latin typeface="Calibri" pitchFamily="34" charset="0"/>
                <a:ea typeface="Calibri" pitchFamily="34" charset="-122"/>
                <a:cs typeface="Calibri" pitchFamily="34" charset="-120"/>
              </a:rPr>
              <a:t>Explore the data</a:t>
            </a:r>
            <a:endParaRPr lang="en-US" sz="1200" dirty="0"/>
          </a:p>
        </p:txBody>
      </p:sp>
      <p:sp>
        <p:nvSpPr>
          <p:cNvPr id="11" name="Text 9"/>
          <p:cNvSpPr/>
          <p:nvPr/>
        </p:nvSpPr>
        <p:spPr>
          <a:xfrm>
            <a:off x="3429000" y="3255264"/>
            <a:ext cx="2377440" cy="822960"/>
          </a:xfrm>
          <a:prstGeom prst="rect">
            <a:avLst/>
          </a:prstGeom>
          <a:noFill/>
          <a:ln/>
        </p:spPr>
        <p:txBody>
          <a:bodyPr wrap="square" lIns="0" tIns="0" rIns="0" bIns="0" rtlCol="0" anchor="ctr"/>
          <a:lstStyle/>
          <a:p>
            <a:pPr indent="0" marL="0">
              <a:lnSpc>
                <a:spcPct val="140000"/>
              </a:lnSpc>
              <a:buNone/>
            </a:pPr>
            <a:r>
              <a:rPr lang="en-US" sz="1050" dirty="0">
                <a:solidFill>
                  <a:srgbClr val="8899AA"/>
                </a:solidFill>
                <a:latin typeface="Calibri" pitchFamily="34" charset="0"/>
                <a:ea typeface="Calibri" pitchFamily="34" charset="-122"/>
                <a:cs typeface="Calibri" pitchFamily="34" charset="-120"/>
              </a:rPr>
              <a:t>freemarketwatch.world — see the US dollar's purchasing power loss since 1913 and since 1971</a:t>
            </a:r>
            <a:endParaRPr lang="en-US" sz="1050" dirty="0"/>
          </a:p>
        </p:txBody>
      </p:sp>
      <p:sp>
        <p:nvSpPr>
          <p:cNvPr id="12" name="Shape 10"/>
          <p:cNvSpPr/>
          <p:nvPr/>
        </p:nvSpPr>
        <p:spPr>
          <a:xfrm>
            <a:off x="6126480" y="2834640"/>
            <a:ext cx="2651760" cy="1463040"/>
          </a:xfrm>
          <a:prstGeom prst="rect">
            <a:avLst/>
          </a:prstGeom>
          <a:solidFill>
            <a:srgbClr val="111827"/>
          </a:solidFill>
          <a:ln w="12700">
            <a:solidFill>
              <a:srgbClr val="1F2937"/>
            </a:solidFill>
            <a:prstDash val="solid"/>
          </a:ln>
        </p:spPr>
      </p:sp>
      <p:sp>
        <p:nvSpPr>
          <p:cNvPr id="13" name="Text 11"/>
          <p:cNvSpPr/>
          <p:nvPr/>
        </p:nvSpPr>
        <p:spPr>
          <a:xfrm>
            <a:off x="6263640" y="2944368"/>
            <a:ext cx="2377440" cy="274320"/>
          </a:xfrm>
          <a:prstGeom prst="rect">
            <a:avLst/>
          </a:prstGeom>
          <a:noFill/>
          <a:ln/>
        </p:spPr>
        <p:txBody>
          <a:bodyPr wrap="square" lIns="0" tIns="0" rIns="0" bIns="0" rtlCol="0" anchor="ctr"/>
          <a:lstStyle/>
          <a:p>
            <a:pPr indent="0" marL="0">
              <a:buNone/>
            </a:pPr>
            <a:r>
              <a:rPr lang="en-US" sz="1200" b="1" dirty="0">
                <a:solidFill>
                  <a:srgbClr val="C9A84C"/>
                </a:solidFill>
                <a:latin typeface="Calibri" pitchFamily="34" charset="0"/>
                <a:ea typeface="Calibri" pitchFamily="34" charset="-122"/>
                <a:cs typeface="Calibri" pitchFamily="34" charset="-120"/>
              </a:rPr>
              <a:t>Session 3 preview</a:t>
            </a:r>
            <a:endParaRPr lang="en-US" sz="1200" dirty="0"/>
          </a:p>
        </p:txBody>
      </p:sp>
      <p:sp>
        <p:nvSpPr>
          <p:cNvPr id="14" name="Text 12"/>
          <p:cNvSpPr/>
          <p:nvPr/>
        </p:nvSpPr>
        <p:spPr>
          <a:xfrm>
            <a:off x="6263640" y="3255264"/>
            <a:ext cx="2377440" cy="822960"/>
          </a:xfrm>
          <a:prstGeom prst="rect">
            <a:avLst/>
          </a:prstGeom>
          <a:noFill/>
          <a:ln/>
        </p:spPr>
        <p:txBody>
          <a:bodyPr wrap="square" lIns="0" tIns="0" rIns="0" bIns="0" rtlCol="0" anchor="ctr"/>
          <a:lstStyle/>
          <a:p>
            <a:pPr indent="0" marL="0">
              <a:lnSpc>
                <a:spcPct val="140000"/>
              </a:lnSpc>
              <a:buNone/>
            </a:pPr>
            <a:r>
              <a:rPr lang="en-US" sz="1050" dirty="0">
                <a:solidFill>
                  <a:srgbClr val="8899AA"/>
                </a:solidFill>
                <a:latin typeface="Calibri" pitchFamily="34" charset="0"/>
                <a:ea typeface="Calibri" pitchFamily="34" charset="-122"/>
                <a:cs typeface="Calibri" pitchFamily="34" charset="-120"/>
              </a:rPr>
              <a:t>The blast radius — what unlimited money creation actually does to families, communities, and societies</a:t>
            </a:r>
            <a:endParaRPr lang="en-US" sz="1050" dirty="0"/>
          </a:p>
        </p:txBody>
      </p:sp>
      <p:sp>
        <p:nvSpPr>
          <p:cNvPr id="15" name="Text 13"/>
          <p:cNvSpPr/>
          <p:nvPr/>
        </p:nvSpPr>
        <p:spPr>
          <a:xfrm>
            <a:off x="457200" y="4828032"/>
            <a:ext cx="8229600" cy="18288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2026-05-25T15:22:23Z</dcterms:created>
  <dcterms:modified xsi:type="dcterms:W3CDTF">2026-05-25T15:22:23Z</dcterms:modified>
</cp:coreProperties>
</file>