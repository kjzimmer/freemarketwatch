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TITLE
Welcome. Brief personal intro — one sentence on why you care about this topic.
"Tonight we're starting at the very beginning. Not monetary policy or interest rates. The actual origin of money — why it exists and what problem it solves. Because if you understand that, everything else in this series follows logically."
Tell them: six sessions, two hours each. Each builds on the last. By Session 6 the pieces fit together in a way that changes how they see the news, their savings, their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series arc. "These six sessions tell one connected story. Each one leads to the next. Session 1 tonight is the foundation — without it, the rest won't make sense."
"Homework each session: one observation prompt to carry through the week. Tonight's is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"Let's start not with money, but with what money makes possible. Because most of us have never really stopped to think about where our world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concrete morning example before touching the slide. Make it local — adapt to your audience.
"Think about the last thing you bought. How many people touched it before it reached you? Hundreds? Thousands? How did they coordinate? They didn't know you existed. Money is how they coordinated."
The pull quote is the landing point for this section — read it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person cannot build a smartphone. But a global network of specialists, each trading their expertise, can."
Make this land: "Everything you own exists because of trade. The length and complexity of those chains is what we call civilization."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double coincidence of wants is a technical term worth planting early — it will come up throughout the series.
Use local examples. Farmer/dentist is good for a rural audience. Adapt as needed.
"Money didn't come from a government decree. It emerged naturally, from the bottom up, wherever people traded. Shells, cattle, salt, beads, and eventually metals. Money is as human as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"So communities converged on what worked best as money. And when you look at what every civilization on earth independently chose — the answer is striking."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designed these requirements. They were discovered through thousands of years of trial and error. The monies that survived checked most of these boxes. The ones that failed were missing one or more."
Spend time on SCARCE: "If anyone can make more of it, they will. And when there's more of it, each unit is worth less."
Spend time on DECENTRALIZED: "The moment one entity controls the money, they control everything purchased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civilization on earth — with no communication between them — independently arrived at gold as the best money. That's not coincidence. That's thousands of years of trial and error converging on the same answer."
The fatal flaw is the cliffhanger for Session 2. Don't resolve it tonight.
Transition to homework/closing.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20-25 minutes. Let the room talk.
Q4 is designed to build anticipation for Session 2 — gold's fatal flaw and what came from it.
Good follow-up if discussion stalls: "What would your business or savings look like if money had never been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warmly. "Tonight we built the foundation. Every session from here builds on what you learned tonight."
Direct them to freemarketwatch.world to explore the data between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111827"/>
          </a:solidFill>
          <a:ln w="12700">
            <a:solidFill>
              <a:srgbClr val="111827"/>
            </a:solidFill>
            <a:prstDash val="solid"/>
          </a:ln>
        </p:spPr>
      </p:sp>
      <p:sp>
        <p:nvSpPr>
          <p:cNvPr id="3" name="Shape 1"/>
          <p:cNvSpPr/>
          <p:nvPr/>
        </p:nvSpPr>
        <p:spPr>
          <a:xfrm>
            <a:off x="6583680" y="0"/>
            <a:ext cx="54864" cy="5143500"/>
          </a:xfrm>
          <a:prstGeom prst="rect">
            <a:avLst/>
          </a:prstGeom>
          <a:solidFill>
            <a:srgbClr val="C9A84C"/>
          </a:solidFill>
          <a:ln w="12700">
            <a:solidFill>
              <a:srgbClr val="C9A84C"/>
            </a:solidFill>
            <a:prstDash val="solid"/>
          </a:ln>
        </p:spPr>
      </p:sp>
      <p:sp>
        <p:nvSpPr>
          <p:cNvPr id="4" name="Text 2"/>
          <p:cNvSpPr/>
          <p:nvPr/>
        </p:nvSpPr>
        <p:spPr>
          <a:xfrm>
            <a:off x="548640" y="1188720"/>
            <a:ext cx="5669280" cy="274320"/>
          </a:xfrm>
          <a:prstGeom prst="rect">
            <a:avLst/>
          </a:prstGeom>
          <a:noFill/>
          <a:ln/>
        </p:spPr>
        <p:txBody>
          <a:bodyPr wrap="square" lIns="0" tIns="0" rIns="0" bIns="0" rtlCol="0" anchor="ctr"/>
          <a:lstStyle/>
          <a:p>
            <a:pPr indent="0" marL="0">
              <a:buNone/>
            </a:pPr>
            <a:r>
              <a:rPr lang="en-US" sz="1000" b="1" spc="400" kern="0" dirty="0">
                <a:solidFill>
                  <a:srgbClr val="C9A84C"/>
                </a:solidFill>
                <a:latin typeface="Calibri" pitchFamily="34" charset="0"/>
                <a:ea typeface="Calibri" pitchFamily="34" charset="-122"/>
                <a:cs typeface="Calibri" pitchFamily="34" charset="-120"/>
              </a:rPr>
              <a:t>FREEMARKETWATCH.WORLD</a:t>
            </a:r>
            <a:endParaRPr lang="en-US" sz="1000" dirty="0"/>
          </a:p>
        </p:txBody>
      </p:sp>
      <p:sp>
        <p:nvSpPr>
          <p:cNvPr id="5" name="Text 3"/>
          <p:cNvSpPr/>
          <p:nvPr/>
        </p:nvSpPr>
        <p:spPr>
          <a:xfrm>
            <a:off x="548640" y="1508760"/>
            <a:ext cx="5669280" cy="228600"/>
          </a:xfrm>
          <a:prstGeom prst="rect">
            <a:avLst/>
          </a:prstGeom>
          <a:noFill/>
          <a:ln/>
        </p:spPr>
        <p:txBody>
          <a:bodyPr wrap="square" lIns="0" tIns="0" rIns="0" bIns="0" rtlCol="0" anchor="ctr"/>
          <a:lstStyle/>
          <a:p>
            <a:pPr indent="0" marL="0">
              <a:buNone/>
            </a:pPr>
            <a:r>
              <a:rPr lang="en-US" sz="1100" dirty="0">
                <a:solidFill>
                  <a:srgbClr val="7A8EA8"/>
                </a:solidFill>
                <a:latin typeface="Calibri" pitchFamily="34" charset="0"/>
                <a:ea typeface="Calibri" pitchFamily="34" charset="-122"/>
                <a:cs typeface="Calibri" pitchFamily="34" charset="-120"/>
              </a:rPr>
              <a:t>Session 1 of 6  ·  ~2 hours including discussion</a:t>
            </a:r>
            <a:endParaRPr lang="en-US" sz="1100" dirty="0"/>
          </a:p>
        </p:txBody>
      </p:sp>
      <p:sp>
        <p:nvSpPr>
          <p:cNvPr id="6" name="Text 4"/>
          <p:cNvSpPr/>
          <p:nvPr/>
        </p:nvSpPr>
        <p:spPr>
          <a:xfrm>
            <a:off x="548640" y="1783080"/>
            <a:ext cx="5669280" cy="1463040"/>
          </a:xfrm>
          <a:prstGeom prst="rect">
            <a:avLst/>
          </a:prstGeom>
          <a:noFill/>
          <a:ln/>
        </p:spPr>
        <p:txBody>
          <a:bodyPr wrap="square" rtlCol="0" anchor="ctr"/>
          <a:lstStyle/>
          <a:p>
            <a:pPr indent="0" marL="0">
              <a:lnSpc>
                <a:spcPct val="115000"/>
              </a:lnSpc>
              <a:buNone/>
            </a:pPr>
            <a:r>
              <a:rPr lang="en-US" sz="4000" b="1" dirty="0">
                <a:solidFill>
                  <a:srgbClr val="FFFFFF"/>
                </a:solidFill>
                <a:latin typeface="Georgia" pitchFamily="34" charset="0"/>
                <a:ea typeface="Georgia" pitchFamily="34" charset="-122"/>
                <a:cs typeface="Georgia" pitchFamily="34" charset="-120"/>
              </a:rPr>
              <a:t>Why Money Exists</a:t>
            </a:r>
            <a:endParaRPr lang="en-US" sz="4000" dirty="0"/>
          </a:p>
        </p:txBody>
      </p:sp>
      <p:sp>
        <p:nvSpPr>
          <p:cNvPr id="7" name="Text 5"/>
          <p:cNvSpPr/>
          <p:nvPr/>
        </p:nvSpPr>
        <p:spPr>
          <a:xfrm>
            <a:off x="548640" y="3291840"/>
            <a:ext cx="5669280" cy="640080"/>
          </a:xfrm>
          <a:prstGeom prst="rect">
            <a:avLst/>
          </a:prstGeom>
          <a:noFill/>
          <a:ln/>
        </p:spPr>
        <p:txBody>
          <a:bodyPr wrap="square" rtlCol="0" anchor="ctr"/>
          <a:lstStyle/>
          <a:p>
            <a:pPr indent="0" marL="0">
              <a:lnSpc>
                <a:spcPct val="140000"/>
              </a:lnSpc>
              <a:buNone/>
            </a:pPr>
            <a:r>
              <a:rPr lang="en-US" sz="1500" dirty="0">
                <a:solidFill>
                  <a:srgbClr val="A0AEC0"/>
                </a:solidFill>
                <a:latin typeface="Calibri" pitchFamily="34" charset="0"/>
                <a:ea typeface="Calibri" pitchFamily="34" charset="-122"/>
                <a:cs typeface="Calibri" pitchFamily="34" charset="-120"/>
              </a:rPr>
              <a:t>And why it matters more than you think</a:t>
            </a:r>
            <a:endParaRPr lang="en-US" sz="1500" dirty="0"/>
          </a:p>
        </p:txBody>
      </p:sp>
      <p:sp>
        <p:nvSpPr>
          <p:cNvPr id="8" name="Text 6"/>
          <p:cNvSpPr/>
          <p:nvPr/>
        </p:nvSpPr>
        <p:spPr>
          <a:xfrm>
            <a:off x="548640" y="4773168"/>
            <a:ext cx="5669280" cy="201168"/>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Version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Series Overview</a:t>
            </a:r>
            <a:endParaRPr lang="en-US" sz="2600" dirty="0"/>
          </a:p>
        </p:txBody>
      </p:sp>
      <p:sp>
        <p:nvSpPr>
          <p:cNvPr id="3" name="Shape 1"/>
          <p:cNvSpPr/>
          <p:nvPr/>
        </p:nvSpPr>
        <p:spPr>
          <a:xfrm>
            <a:off x="457200" y="1005840"/>
            <a:ext cx="2743200" cy="804672"/>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411480" cy="804672"/>
          </a:xfrm>
          <a:prstGeom prst="rect">
            <a:avLst/>
          </a:prstGeom>
          <a:solidFill>
            <a:srgbClr val="C9A84C"/>
          </a:solidFill>
          <a:ln w="12700">
            <a:solidFill>
              <a:srgbClr val="C9A84C"/>
            </a:solidFill>
            <a:prstDash val="solid"/>
          </a:ln>
        </p:spPr>
      </p:sp>
      <p:sp>
        <p:nvSpPr>
          <p:cNvPr id="5" name="Text 3"/>
          <p:cNvSpPr/>
          <p:nvPr/>
        </p:nvSpPr>
        <p:spPr>
          <a:xfrm>
            <a:off x="457200" y="1024128"/>
            <a:ext cx="411480" cy="768096"/>
          </a:xfrm>
          <a:prstGeom prst="rect">
            <a:avLst/>
          </a:prstGeom>
          <a:noFill/>
          <a:ln/>
        </p:spPr>
        <p:txBody>
          <a:bodyPr wrap="square" lIns="0" tIns="0" rIns="0" bIns="0" rtlCol="0" anchor="ctr"/>
          <a:lstStyle/>
          <a:p>
            <a:pPr algn="ctr" indent="0" marL="0">
              <a:buNone/>
            </a:pPr>
            <a:r>
              <a:rPr lang="en-US" sz="1400" b="1" dirty="0">
                <a:solidFill>
                  <a:srgbClr val="1A2E5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932688" y="1207008"/>
            <a:ext cx="2176272" cy="402336"/>
          </a:xfrm>
          <a:prstGeom prst="rect">
            <a:avLst/>
          </a:prstGeom>
          <a:noFill/>
          <a:ln/>
        </p:spPr>
        <p:txBody>
          <a:bodyPr wrap="square" rtlCol="0" anchor="ctr"/>
          <a:lstStyle/>
          <a:p>
            <a:pPr indent="0" marL="0">
              <a:buNone/>
            </a:pPr>
            <a:r>
              <a:rPr lang="en-US" sz="1200" b="1" dirty="0">
                <a:solidFill>
                  <a:srgbClr val="E8EAF6"/>
                </a:solidFill>
                <a:latin typeface="Calibri" pitchFamily="34" charset="0"/>
                <a:ea typeface="Calibri" pitchFamily="34" charset="-122"/>
                <a:cs typeface="Calibri" pitchFamily="34" charset="-120"/>
              </a:rPr>
              <a:t>Why money exists</a:t>
            </a:r>
            <a:endParaRPr lang="en-US" sz="1200" dirty="0"/>
          </a:p>
        </p:txBody>
      </p:sp>
      <p:sp>
        <p:nvSpPr>
          <p:cNvPr id="7" name="Shape 5"/>
          <p:cNvSpPr/>
          <p:nvPr/>
        </p:nvSpPr>
        <p:spPr>
          <a:xfrm>
            <a:off x="3310128" y="1005840"/>
            <a:ext cx="2743200" cy="804672"/>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3310128" y="1005840"/>
            <a:ext cx="411480" cy="804672"/>
          </a:xfrm>
          <a:prstGeom prst="rect">
            <a:avLst/>
          </a:prstGeom>
          <a:solidFill>
            <a:srgbClr val="E2E8F0"/>
          </a:solidFill>
          <a:ln w="12700">
            <a:solidFill>
              <a:srgbClr val="E2E8F0"/>
            </a:solidFill>
            <a:prstDash val="solid"/>
          </a:ln>
        </p:spPr>
      </p:sp>
      <p:sp>
        <p:nvSpPr>
          <p:cNvPr id="9" name="Text 7"/>
          <p:cNvSpPr/>
          <p:nvPr/>
        </p:nvSpPr>
        <p:spPr>
          <a:xfrm>
            <a:off x="3310128" y="1024128"/>
            <a:ext cx="411480" cy="768096"/>
          </a:xfrm>
          <a:prstGeom prst="rect">
            <a:avLst/>
          </a:prstGeom>
          <a:noFill/>
          <a:ln/>
        </p:spPr>
        <p:txBody>
          <a:bodyPr wrap="square" lIns="0" tIns="0" rIns="0" bIns="0" rtlCol="0" anchor="ctr"/>
          <a:lstStyle/>
          <a:p>
            <a:pPr algn="ctr" indent="0" marL="0">
              <a:buNone/>
            </a:pPr>
            <a:r>
              <a:rPr lang="en-US" sz="1400" b="1" dirty="0">
                <a:solidFill>
                  <a:srgbClr val="888888"/>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3785616" y="1207008"/>
            <a:ext cx="2176272" cy="402336"/>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What makes good money</a:t>
            </a:r>
            <a:endParaRPr lang="en-US" sz="1200" dirty="0"/>
          </a:p>
        </p:txBody>
      </p:sp>
      <p:sp>
        <p:nvSpPr>
          <p:cNvPr id="11" name="Shape 9"/>
          <p:cNvSpPr/>
          <p:nvPr/>
        </p:nvSpPr>
        <p:spPr>
          <a:xfrm>
            <a:off x="6163056" y="1005840"/>
            <a:ext cx="2743200" cy="804672"/>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6163056" y="1005840"/>
            <a:ext cx="411480" cy="804672"/>
          </a:xfrm>
          <a:prstGeom prst="rect">
            <a:avLst/>
          </a:prstGeom>
          <a:solidFill>
            <a:srgbClr val="E2E8F0"/>
          </a:solidFill>
          <a:ln w="12700">
            <a:solidFill>
              <a:srgbClr val="E2E8F0"/>
            </a:solidFill>
            <a:prstDash val="solid"/>
          </a:ln>
        </p:spPr>
      </p:sp>
      <p:sp>
        <p:nvSpPr>
          <p:cNvPr id="13" name="Text 11"/>
          <p:cNvSpPr/>
          <p:nvPr/>
        </p:nvSpPr>
        <p:spPr>
          <a:xfrm>
            <a:off x="6163056" y="1024128"/>
            <a:ext cx="411480" cy="768096"/>
          </a:xfrm>
          <a:prstGeom prst="rect">
            <a:avLst/>
          </a:prstGeom>
          <a:noFill/>
          <a:ln/>
        </p:spPr>
        <p:txBody>
          <a:bodyPr wrap="square" lIns="0" tIns="0" rIns="0" bIns="0" rtlCol="0" anchor="ctr"/>
          <a:lstStyle/>
          <a:p>
            <a:pPr algn="ctr" indent="0" marL="0">
              <a:buNone/>
            </a:pPr>
            <a:r>
              <a:rPr lang="en-US" sz="1400" b="1" dirty="0">
                <a:solidFill>
                  <a:srgbClr val="888888"/>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6638544" y="1207008"/>
            <a:ext cx="2176272" cy="402336"/>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The blast radius</a:t>
            </a:r>
            <a:endParaRPr lang="en-US" sz="1200" dirty="0"/>
          </a:p>
        </p:txBody>
      </p:sp>
      <p:sp>
        <p:nvSpPr>
          <p:cNvPr id="15" name="Shape 13"/>
          <p:cNvSpPr/>
          <p:nvPr/>
        </p:nvSpPr>
        <p:spPr>
          <a:xfrm>
            <a:off x="457200" y="2011680"/>
            <a:ext cx="2743200" cy="804672"/>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57200" y="2011680"/>
            <a:ext cx="411480" cy="804672"/>
          </a:xfrm>
          <a:prstGeom prst="rect">
            <a:avLst/>
          </a:prstGeom>
          <a:solidFill>
            <a:srgbClr val="E2E8F0"/>
          </a:solidFill>
          <a:ln w="12700">
            <a:solidFill>
              <a:srgbClr val="E2E8F0"/>
            </a:solidFill>
            <a:prstDash val="solid"/>
          </a:ln>
        </p:spPr>
      </p:sp>
      <p:sp>
        <p:nvSpPr>
          <p:cNvPr id="17" name="Text 15"/>
          <p:cNvSpPr/>
          <p:nvPr/>
        </p:nvSpPr>
        <p:spPr>
          <a:xfrm>
            <a:off x="457200" y="2029968"/>
            <a:ext cx="411480" cy="768096"/>
          </a:xfrm>
          <a:prstGeom prst="rect">
            <a:avLst/>
          </a:prstGeom>
          <a:noFill/>
          <a:ln/>
        </p:spPr>
        <p:txBody>
          <a:bodyPr wrap="square" lIns="0" tIns="0" rIns="0" bIns="0" rtlCol="0" anchor="ctr"/>
          <a:lstStyle/>
          <a:p>
            <a:pPr algn="ctr" indent="0" marL="0">
              <a:buNone/>
            </a:pPr>
            <a:r>
              <a:rPr lang="en-US" sz="1400" b="1" dirty="0">
                <a:solidFill>
                  <a:srgbClr val="888888"/>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932688" y="2212848"/>
            <a:ext cx="2176272" cy="402336"/>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Hard money changes everything</a:t>
            </a:r>
            <a:endParaRPr lang="en-US" sz="1200" dirty="0"/>
          </a:p>
        </p:txBody>
      </p:sp>
      <p:sp>
        <p:nvSpPr>
          <p:cNvPr id="19" name="Shape 17"/>
          <p:cNvSpPr/>
          <p:nvPr/>
        </p:nvSpPr>
        <p:spPr>
          <a:xfrm>
            <a:off x="3310128" y="2011680"/>
            <a:ext cx="2743200" cy="804672"/>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20" name="Shape 18"/>
          <p:cNvSpPr/>
          <p:nvPr/>
        </p:nvSpPr>
        <p:spPr>
          <a:xfrm>
            <a:off x="3310128" y="2011680"/>
            <a:ext cx="411480" cy="804672"/>
          </a:xfrm>
          <a:prstGeom prst="rect">
            <a:avLst/>
          </a:prstGeom>
          <a:solidFill>
            <a:srgbClr val="E2E8F0"/>
          </a:solidFill>
          <a:ln w="12700">
            <a:solidFill>
              <a:srgbClr val="E2E8F0"/>
            </a:solidFill>
            <a:prstDash val="solid"/>
          </a:ln>
        </p:spPr>
      </p:sp>
      <p:sp>
        <p:nvSpPr>
          <p:cNvPr id="21" name="Text 19"/>
          <p:cNvSpPr/>
          <p:nvPr/>
        </p:nvSpPr>
        <p:spPr>
          <a:xfrm>
            <a:off x="3310128" y="2029968"/>
            <a:ext cx="411480" cy="768096"/>
          </a:xfrm>
          <a:prstGeom prst="rect">
            <a:avLst/>
          </a:prstGeom>
          <a:noFill/>
          <a:ln/>
        </p:spPr>
        <p:txBody>
          <a:bodyPr wrap="square" lIns="0" tIns="0" rIns="0" bIns="0" rtlCol="0" anchor="ctr"/>
          <a:lstStyle/>
          <a:p>
            <a:pPr algn="ctr" indent="0" marL="0">
              <a:buNone/>
            </a:pPr>
            <a:r>
              <a:rPr lang="en-US" sz="1400" b="1" dirty="0">
                <a:solidFill>
                  <a:srgbClr val="888888"/>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3785616" y="2212848"/>
            <a:ext cx="2176272" cy="402336"/>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Bitcoin</a:t>
            </a:r>
            <a:endParaRPr lang="en-US" sz="1200" dirty="0"/>
          </a:p>
        </p:txBody>
      </p:sp>
      <p:sp>
        <p:nvSpPr>
          <p:cNvPr id="23" name="Shape 21"/>
          <p:cNvSpPr/>
          <p:nvPr/>
        </p:nvSpPr>
        <p:spPr>
          <a:xfrm>
            <a:off x="6163056" y="2011680"/>
            <a:ext cx="2743200" cy="804672"/>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24" name="Shape 22"/>
          <p:cNvSpPr/>
          <p:nvPr/>
        </p:nvSpPr>
        <p:spPr>
          <a:xfrm>
            <a:off x="6163056" y="2011680"/>
            <a:ext cx="411480" cy="804672"/>
          </a:xfrm>
          <a:prstGeom prst="rect">
            <a:avLst/>
          </a:prstGeom>
          <a:solidFill>
            <a:srgbClr val="E2E8F0"/>
          </a:solidFill>
          <a:ln w="12700">
            <a:solidFill>
              <a:srgbClr val="E2E8F0"/>
            </a:solidFill>
            <a:prstDash val="solid"/>
          </a:ln>
        </p:spPr>
      </p:sp>
      <p:sp>
        <p:nvSpPr>
          <p:cNvPr id="25" name="Text 23"/>
          <p:cNvSpPr/>
          <p:nvPr/>
        </p:nvSpPr>
        <p:spPr>
          <a:xfrm>
            <a:off x="6163056" y="2029968"/>
            <a:ext cx="411480" cy="768096"/>
          </a:xfrm>
          <a:prstGeom prst="rect">
            <a:avLst/>
          </a:prstGeom>
          <a:noFill/>
          <a:ln/>
        </p:spPr>
        <p:txBody>
          <a:bodyPr wrap="square" lIns="0" tIns="0" rIns="0" bIns="0" rtlCol="0" anchor="ctr"/>
          <a:lstStyle/>
          <a:p>
            <a:pPr algn="ctr" indent="0" marL="0">
              <a:buNone/>
            </a:pPr>
            <a:r>
              <a:rPr lang="en-US" sz="1400" b="1" dirty="0">
                <a:solidFill>
                  <a:srgbClr val="888888"/>
                </a:solidFill>
                <a:latin typeface="Calibri" pitchFamily="34" charset="0"/>
                <a:ea typeface="Calibri" pitchFamily="34" charset="-122"/>
                <a:cs typeface="Calibri" pitchFamily="34" charset="-120"/>
              </a:rPr>
              <a:t>6</a:t>
            </a:r>
            <a:endParaRPr lang="en-US" sz="1400" dirty="0"/>
          </a:p>
        </p:txBody>
      </p:sp>
      <p:sp>
        <p:nvSpPr>
          <p:cNvPr id="26" name="Text 24"/>
          <p:cNvSpPr/>
          <p:nvPr/>
        </p:nvSpPr>
        <p:spPr>
          <a:xfrm>
            <a:off x="6638544" y="2212848"/>
            <a:ext cx="2176272" cy="402336"/>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What comes next</a:t>
            </a:r>
            <a:endParaRPr lang="en-US" sz="1200" dirty="0"/>
          </a:p>
        </p:txBody>
      </p:sp>
      <p:sp>
        <p:nvSpPr>
          <p:cNvPr id="27" name="Text 25"/>
          <p:cNvSpPr/>
          <p:nvPr/>
        </p:nvSpPr>
        <p:spPr>
          <a:xfrm>
            <a:off x="548640" y="3127248"/>
            <a:ext cx="8046720" cy="274320"/>
          </a:xfrm>
          <a:prstGeom prst="rect">
            <a:avLst/>
          </a:prstGeom>
          <a:noFill/>
          <a:ln/>
        </p:spPr>
        <p:txBody>
          <a:bodyPr wrap="square"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You are here — Session 1 is highlighted</a:t>
            </a:r>
            <a:endParaRPr lang="en-US" sz="1100" dirty="0"/>
          </a:p>
        </p:txBody>
      </p:sp>
      <p:sp>
        <p:nvSpPr>
          <p:cNvPr id="28" name="Text 26"/>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E5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1463040"/>
            <a:ext cx="8229600" cy="320040"/>
          </a:xfrm>
          <a:prstGeom prst="rect">
            <a:avLst/>
          </a:prstGeom>
          <a:noFill/>
          <a:ln/>
        </p:spPr>
        <p:txBody>
          <a:bodyPr wrap="square" lIns="0" tIns="0" rIns="0" bIns="0" rtlCol="0" anchor="ctr"/>
          <a:lstStyle/>
          <a:p>
            <a:pPr indent="0" marL="0">
              <a:buNone/>
            </a:pPr>
            <a:r>
              <a:rPr lang="en-US" sz="1100" b="1" spc="500" kern="0" dirty="0">
                <a:solidFill>
                  <a:srgbClr val="C9A84C"/>
                </a:solidFill>
                <a:latin typeface="Calibri" pitchFamily="34" charset="0"/>
                <a:ea typeface="Calibri" pitchFamily="34" charset="-122"/>
                <a:cs typeface="Calibri" pitchFamily="34" charset="-120"/>
              </a:rPr>
              <a:t>SESSION 1</a:t>
            </a:r>
            <a:endParaRPr lang="en-US" sz="1100" dirty="0"/>
          </a:p>
        </p:txBody>
      </p:sp>
      <p:sp>
        <p:nvSpPr>
          <p:cNvPr id="4" name="Text 2"/>
          <p:cNvSpPr/>
          <p:nvPr/>
        </p:nvSpPr>
        <p:spPr>
          <a:xfrm>
            <a:off x="457200" y="1828800"/>
            <a:ext cx="8229600" cy="1188720"/>
          </a:xfrm>
          <a:prstGeom prst="rect">
            <a:avLst/>
          </a:prstGeom>
          <a:noFill/>
          <a:ln/>
        </p:spPr>
        <p:txBody>
          <a:bodyPr wrap="square"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Trade</a:t>
            </a:r>
            <a:endParaRPr lang="en-US" sz="4600" dirty="0"/>
          </a:p>
        </p:txBody>
      </p:sp>
      <p:sp>
        <p:nvSpPr>
          <p:cNvPr id="5" name="Text 3"/>
          <p:cNvSpPr/>
          <p:nvPr/>
        </p:nvSpPr>
        <p:spPr>
          <a:xfrm>
            <a:off x="457200" y="3108960"/>
            <a:ext cx="8229600" cy="457200"/>
          </a:xfrm>
          <a:prstGeom prst="rect">
            <a:avLst/>
          </a:prstGeom>
          <a:noFill/>
          <a:ln/>
        </p:spPr>
        <p:txBody>
          <a:bodyPr wrap="square" rtlCol="0" anchor="ctr"/>
          <a:lstStyle/>
          <a:p>
            <a:pPr indent="0" marL="0">
              <a:buNone/>
            </a:pPr>
            <a:r>
              <a:rPr lang="en-US" sz="1700" dirty="0">
                <a:solidFill>
                  <a:srgbClr val="A0AEC0"/>
                </a:solidFill>
                <a:latin typeface="Calibri" pitchFamily="34" charset="0"/>
                <a:ea typeface="Calibri" pitchFamily="34" charset="-122"/>
                <a:cs typeface="Calibri" pitchFamily="34" charset="-120"/>
              </a:rPr>
              <a:t>The engine behind everything</a:t>
            </a:r>
            <a:endParaRPr lang="en-US" sz="1700" dirty="0"/>
          </a:p>
        </p:txBody>
      </p:sp>
      <p:sp>
        <p:nvSpPr>
          <p:cNvPr id="6" name="Text 4"/>
          <p:cNvSpPr/>
          <p:nvPr/>
        </p:nvSpPr>
        <p:spPr>
          <a:xfrm>
            <a:off x="457200" y="4800600"/>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Your Morning Is a Miracle</a:t>
            </a:r>
            <a:endParaRPr lang="en-US" sz="2600" dirty="0"/>
          </a:p>
        </p:txBody>
      </p:sp>
      <p:sp>
        <p:nvSpPr>
          <p:cNvPr id="3" name="Shape 1"/>
          <p:cNvSpPr/>
          <p:nvPr/>
        </p:nvSpPr>
        <p:spPr>
          <a:xfrm>
            <a:off x="457200" y="960120"/>
            <a:ext cx="4023360" cy="3383280"/>
          </a:xfrm>
          <a:prstGeom prst="rect">
            <a:avLst/>
          </a:prstGeom>
          <a:solidFill>
            <a:srgbClr val="1A2E5E"/>
          </a:solidFill>
          <a:ln w="12700">
            <a:solidFill>
              <a:srgbClr val="1A2E5E"/>
            </a:solidFill>
            <a:prstDash val="solid"/>
          </a:ln>
          <a:effectLst>
            <a:outerShdw sx="100000" sy="100000" kx="0" ky="0" algn="bl" rotWithShape="0" blurRad="76200" dist="25400" dir="8100000">
              <a:srgbClr val="000000">
                <a:alpha val="10000"/>
              </a:srgbClr>
            </a:outerShdw>
          </a:effectLst>
        </p:spPr>
      </p:sp>
      <p:sp>
        <p:nvSpPr>
          <p:cNvPr id="4" name="Text 2"/>
          <p:cNvSpPr/>
          <p:nvPr/>
        </p:nvSpPr>
        <p:spPr>
          <a:xfrm>
            <a:off x="640080" y="1097280"/>
            <a:ext cx="3657600" cy="2377440"/>
          </a:xfrm>
          <a:prstGeom prst="rect">
            <a:avLst/>
          </a:prstGeom>
          <a:noFill/>
          <a:ln/>
        </p:spPr>
        <p:txBody>
          <a:bodyPr wrap="square" rtlCol="0" anchor="ctr"/>
          <a:lstStyle/>
          <a:p>
            <a:pPr indent="0" marL="0">
              <a:lnSpc>
                <a:spcPct val="160000"/>
              </a:lnSpc>
              <a:buNone/>
            </a:pPr>
            <a:r>
              <a:rPr lang="en-US" sz="1350" i="1" dirty="0">
                <a:solidFill>
                  <a:srgbClr val="E8EAF6"/>
                </a:solidFill>
                <a:latin typeface="Georgia" pitchFamily="34" charset="0"/>
                <a:ea typeface="Georgia" pitchFamily="34" charset="-122"/>
                <a:cs typeface="Georgia" pitchFamily="34" charset="-120"/>
              </a:rPr>
              <a:t>“Every product you own, every service you use, every medicine that has ever saved a life — all of it exists because humans figured out how to trade with strangers they would never meet.”</a:t>
            </a:r>
            <a:endParaRPr lang="en-US" sz="1350" dirty="0"/>
          </a:p>
        </p:txBody>
      </p:sp>
      <p:sp>
        <p:nvSpPr>
          <p:cNvPr id="5" name="Shape 3"/>
          <p:cNvSpPr/>
          <p:nvPr/>
        </p:nvSpPr>
        <p:spPr>
          <a:xfrm>
            <a:off x="640080" y="3547872"/>
            <a:ext cx="365760" cy="36576"/>
          </a:xfrm>
          <a:prstGeom prst="rect">
            <a:avLst/>
          </a:prstGeom>
          <a:solidFill>
            <a:srgbClr val="C9A84C"/>
          </a:solidFill>
          <a:ln w="12700">
            <a:solidFill>
              <a:srgbClr val="C9A84C"/>
            </a:solidFill>
            <a:prstDash val="solid"/>
          </a:ln>
        </p:spPr>
      </p:sp>
      <p:sp>
        <p:nvSpPr>
          <p:cNvPr id="6" name="Text 4"/>
          <p:cNvSpPr/>
          <p:nvPr/>
        </p:nvSpPr>
        <p:spPr>
          <a:xfrm>
            <a:off x="640080" y="3611880"/>
            <a:ext cx="3657600" cy="201168"/>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freeMarketWatch Education Series</a:t>
            </a:r>
            <a:endParaRPr lang="en-US" sz="900" dirty="0"/>
          </a:p>
        </p:txBody>
      </p:sp>
      <p:sp>
        <p:nvSpPr>
          <p:cNvPr id="7" name="Shape 5"/>
          <p:cNvSpPr/>
          <p:nvPr/>
        </p:nvSpPr>
        <p:spPr>
          <a:xfrm>
            <a:off x="4754880" y="960120"/>
            <a:ext cx="3931920" cy="105156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754880" y="960120"/>
            <a:ext cx="54864" cy="1051560"/>
          </a:xfrm>
          <a:prstGeom prst="rect">
            <a:avLst/>
          </a:prstGeom>
          <a:solidFill>
            <a:srgbClr val="C9A84C"/>
          </a:solidFill>
          <a:ln w="12700">
            <a:solidFill>
              <a:srgbClr val="C9A84C"/>
            </a:solidFill>
            <a:prstDash val="solid"/>
          </a:ln>
        </p:spPr>
      </p:sp>
      <p:sp>
        <p:nvSpPr>
          <p:cNvPr id="9" name="Text 7"/>
          <p:cNvSpPr/>
          <p:nvPr/>
        </p:nvSpPr>
        <p:spPr>
          <a:xfrm>
            <a:off x="4882896" y="1051560"/>
            <a:ext cx="365760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Your coffee came from Colombia</a:t>
            </a:r>
            <a:endParaRPr lang="en-US" sz="1200" dirty="0"/>
          </a:p>
        </p:txBody>
      </p:sp>
      <p:sp>
        <p:nvSpPr>
          <p:cNvPr id="10" name="Text 8"/>
          <p:cNvSpPr/>
          <p:nvPr/>
        </p:nvSpPr>
        <p:spPr>
          <a:xfrm>
            <a:off x="4882896" y="1344168"/>
            <a:ext cx="3657600" cy="548640"/>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Beans grown, roasted, transported, distributed — by people who don't know each other, coordinated by nothing but prices and money.</a:t>
            </a:r>
            <a:endParaRPr lang="en-US" sz="1050" dirty="0"/>
          </a:p>
        </p:txBody>
      </p:sp>
      <p:sp>
        <p:nvSpPr>
          <p:cNvPr id="11" name="Shape 9"/>
          <p:cNvSpPr/>
          <p:nvPr/>
        </p:nvSpPr>
        <p:spPr>
          <a:xfrm>
            <a:off x="4754880" y="2121408"/>
            <a:ext cx="3931920" cy="105156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754880" y="2121408"/>
            <a:ext cx="54864" cy="1051560"/>
          </a:xfrm>
          <a:prstGeom prst="rect">
            <a:avLst/>
          </a:prstGeom>
          <a:solidFill>
            <a:srgbClr val="C9A84C"/>
          </a:solidFill>
          <a:ln w="12700">
            <a:solidFill>
              <a:srgbClr val="C9A84C"/>
            </a:solidFill>
            <a:prstDash val="solid"/>
          </a:ln>
        </p:spPr>
      </p:sp>
      <p:sp>
        <p:nvSpPr>
          <p:cNvPr id="13" name="Text 11"/>
          <p:cNvSpPr/>
          <p:nvPr/>
        </p:nvSpPr>
        <p:spPr>
          <a:xfrm>
            <a:off x="4882896" y="2212848"/>
            <a:ext cx="365760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Your phone: five continents</a:t>
            </a:r>
            <a:endParaRPr lang="en-US" sz="1200" dirty="0"/>
          </a:p>
        </p:txBody>
      </p:sp>
      <p:sp>
        <p:nvSpPr>
          <p:cNvPr id="14" name="Text 12"/>
          <p:cNvSpPr/>
          <p:nvPr/>
        </p:nvSpPr>
        <p:spPr>
          <a:xfrm>
            <a:off x="4882896" y="2505456"/>
            <a:ext cx="3657600" cy="548640"/>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No single person or government planned it. A global network of specialists, each trading their expertise, assembled it for you.</a:t>
            </a:r>
            <a:endParaRPr lang="en-US" sz="1050" dirty="0"/>
          </a:p>
        </p:txBody>
      </p:sp>
      <p:sp>
        <p:nvSpPr>
          <p:cNvPr id="15" name="Shape 13"/>
          <p:cNvSpPr/>
          <p:nvPr/>
        </p:nvSpPr>
        <p:spPr>
          <a:xfrm>
            <a:off x="4754880" y="3282696"/>
            <a:ext cx="3931920" cy="105156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754880" y="3282696"/>
            <a:ext cx="54864" cy="1051560"/>
          </a:xfrm>
          <a:prstGeom prst="rect">
            <a:avLst/>
          </a:prstGeom>
          <a:solidFill>
            <a:srgbClr val="C9A84C"/>
          </a:solidFill>
          <a:ln w="12700">
            <a:solidFill>
              <a:srgbClr val="C9A84C"/>
            </a:solidFill>
            <a:prstDash val="solid"/>
          </a:ln>
        </p:spPr>
      </p:sp>
      <p:sp>
        <p:nvSpPr>
          <p:cNvPr id="17" name="Text 15"/>
          <p:cNvSpPr/>
          <p:nvPr/>
        </p:nvSpPr>
        <p:spPr>
          <a:xfrm>
            <a:off x="4882896" y="3374136"/>
            <a:ext cx="365760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This is not an accident</a:t>
            </a:r>
            <a:endParaRPr lang="en-US" sz="1200" dirty="0"/>
          </a:p>
        </p:txBody>
      </p:sp>
      <p:sp>
        <p:nvSpPr>
          <p:cNvPr id="18" name="Text 16"/>
          <p:cNvSpPr/>
          <p:nvPr/>
        </p:nvSpPr>
        <p:spPr>
          <a:xfrm>
            <a:off x="4882896" y="3666744"/>
            <a:ext cx="3657600" cy="548640"/>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It happened because humans trade. And trade is only possible because of a mechanism most of us never think about — money.</a:t>
            </a:r>
            <a:endParaRPr lang="en-US" sz="105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Specialization: The Real Engine</a:t>
            </a:r>
            <a:endParaRPr lang="en-US" sz="2600" dirty="0"/>
          </a:p>
        </p:txBody>
      </p:sp>
      <p:sp>
        <p:nvSpPr>
          <p:cNvPr id="3" name="Text 1"/>
          <p:cNvSpPr/>
          <p:nvPr/>
        </p:nvSpPr>
        <p:spPr>
          <a:xfrm>
            <a:off x="548640" y="960120"/>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When people trade, something remarkable happens: they specialize. Instead of every family growing its own food, making its own clothes, and building its own shelter — each person does the thing they do best.</a:t>
            </a:r>
            <a:endParaRPr lang="en-US" sz="1300" dirty="0"/>
          </a:p>
        </p:txBody>
      </p:sp>
      <p:sp>
        <p:nvSpPr>
          <p:cNvPr id="4" name="Text 2"/>
          <p:cNvSpPr/>
          <p:nvPr/>
        </p:nvSpPr>
        <p:spPr>
          <a:xfrm>
            <a:off x="548640" y="1929384"/>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A farmer grows more food than his family needs. A weaver makes more cloth than she can wear. They trade. Both are better off. Economists call this lengthening the lines of production — the longer the chain of cooperating specialists, the more complex and capable the output.</a:t>
            </a:r>
            <a:endParaRPr lang="en-US" sz="1300" dirty="0"/>
          </a:p>
        </p:txBody>
      </p:sp>
      <p:sp>
        <p:nvSpPr>
          <p:cNvPr id="5" name="Text 3"/>
          <p:cNvSpPr/>
          <p:nvPr/>
        </p:nvSpPr>
        <p:spPr>
          <a:xfrm>
            <a:off x="548640" y="3099816"/>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Our modern world — with its hospitals, its infrastructure, its food abundance — is the accumulated result of billions of these trades, compounding over centuries. It is not the result of any single genius or government.</a:t>
            </a:r>
            <a:endParaRPr lang="en-US" sz="1300" dirty="0"/>
          </a:p>
        </p:txBody>
      </p:sp>
      <p:sp>
        <p:nvSpPr>
          <p:cNvPr id="6" name="Text 4"/>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The Problem: Classic Barter Breaks Down</a:t>
            </a:r>
            <a:endParaRPr lang="en-US" sz="2600" dirty="0"/>
          </a:p>
        </p:txBody>
      </p:sp>
      <p:sp>
        <p:nvSpPr>
          <p:cNvPr id="3" name="Shape 1"/>
          <p:cNvSpPr/>
          <p:nvPr/>
        </p:nvSpPr>
        <p:spPr>
          <a:xfrm>
            <a:off x="45720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64008" cy="1691640"/>
          </a:xfrm>
          <a:prstGeom prst="rect">
            <a:avLst/>
          </a:prstGeom>
          <a:solidFill>
            <a:srgbClr val="C9A84C"/>
          </a:solidFill>
          <a:ln w="12700">
            <a:solidFill>
              <a:srgbClr val="C9A84C"/>
            </a:solidFill>
            <a:prstDash val="solid"/>
          </a:ln>
        </p:spPr>
      </p:sp>
      <p:sp>
        <p:nvSpPr>
          <p:cNvPr id="5" name="Text 3"/>
          <p:cNvSpPr/>
          <p:nvPr/>
        </p:nvSpPr>
        <p:spPr>
          <a:xfrm>
            <a:off x="59436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The double coincidence of wants</a:t>
            </a:r>
            <a:endParaRPr lang="en-US" sz="1200" dirty="0"/>
          </a:p>
        </p:txBody>
      </p:sp>
      <p:sp>
        <p:nvSpPr>
          <p:cNvPr id="6" name="Text 4"/>
          <p:cNvSpPr/>
          <p:nvPr/>
        </p:nvSpPr>
        <p:spPr>
          <a:xfrm>
            <a:off x="59436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To trade directly, you need someone who has what you need AND wants what you have — at the exact same time. This is called the double coincidence of wants.</a:t>
            </a:r>
            <a:endParaRPr lang="en-US" sz="1100" dirty="0"/>
          </a:p>
        </p:txBody>
      </p:sp>
      <p:sp>
        <p:nvSpPr>
          <p:cNvPr id="7" name="Shape 5"/>
          <p:cNvSpPr/>
          <p:nvPr/>
        </p:nvSpPr>
        <p:spPr>
          <a:xfrm>
            <a:off x="461772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617720" y="1005840"/>
            <a:ext cx="64008" cy="1691640"/>
          </a:xfrm>
          <a:prstGeom prst="rect">
            <a:avLst/>
          </a:prstGeom>
          <a:solidFill>
            <a:srgbClr val="C9A84C"/>
          </a:solidFill>
          <a:ln w="12700">
            <a:solidFill>
              <a:srgbClr val="C9A84C"/>
            </a:solidFill>
            <a:prstDash val="solid"/>
          </a:ln>
        </p:spPr>
      </p:sp>
      <p:sp>
        <p:nvSpPr>
          <p:cNvPr id="9" name="Text 7"/>
          <p:cNvSpPr/>
          <p:nvPr/>
        </p:nvSpPr>
        <p:spPr>
          <a:xfrm>
            <a:off x="475488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Why this matters</a:t>
            </a:r>
            <a:endParaRPr lang="en-US" sz="1200" dirty="0"/>
          </a:p>
        </p:txBody>
      </p:sp>
      <p:sp>
        <p:nvSpPr>
          <p:cNvPr id="10" name="Text 8"/>
          <p:cNvSpPr/>
          <p:nvPr/>
        </p:nvSpPr>
        <p:spPr>
          <a:xfrm>
            <a:off x="475488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A cattle rancher who needs dental work can't pay the dentist in beef unless the dentist specifically wants beef, today. At scale, this makes complex trade nearly impossible.</a:t>
            </a:r>
            <a:endParaRPr lang="en-US" sz="1100" dirty="0"/>
          </a:p>
        </p:txBody>
      </p:sp>
      <p:sp>
        <p:nvSpPr>
          <p:cNvPr id="11" name="Shape 9"/>
          <p:cNvSpPr/>
          <p:nvPr/>
        </p:nvSpPr>
        <p:spPr>
          <a:xfrm>
            <a:off x="45720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57200" y="2807208"/>
            <a:ext cx="64008" cy="1691640"/>
          </a:xfrm>
          <a:prstGeom prst="rect">
            <a:avLst/>
          </a:prstGeom>
          <a:solidFill>
            <a:srgbClr val="C9A84C"/>
          </a:solidFill>
          <a:ln w="12700">
            <a:solidFill>
              <a:srgbClr val="C9A84C"/>
            </a:solidFill>
            <a:prstDash val="solid"/>
          </a:ln>
        </p:spPr>
      </p:sp>
      <p:sp>
        <p:nvSpPr>
          <p:cNvPr id="13" name="Text 11"/>
          <p:cNvSpPr/>
          <p:nvPr/>
        </p:nvSpPr>
        <p:spPr>
          <a:xfrm>
            <a:off x="59436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You can't build supply chains on barter</a:t>
            </a:r>
            <a:endParaRPr lang="en-US" sz="1200" dirty="0"/>
          </a:p>
        </p:txBody>
      </p:sp>
      <p:sp>
        <p:nvSpPr>
          <p:cNvPr id="14" name="Text 12"/>
          <p:cNvSpPr/>
          <p:nvPr/>
        </p:nvSpPr>
        <p:spPr>
          <a:xfrm>
            <a:off x="59436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The global economy we described — five continents building your phone — is impossible under barter. Something else was needed.</a:t>
            </a:r>
            <a:endParaRPr lang="en-US" sz="1100" dirty="0"/>
          </a:p>
        </p:txBody>
      </p:sp>
      <p:sp>
        <p:nvSpPr>
          <p:cNvPr id="15" name="Shape 13"/>
          <p:cNvSpPr/>
          <p:nvPr/>
        </p:nvSpPr>
        <p:spPr>
          <a:xfrm>
            <a:off x="461772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617720" y="2807208"/>
            <a:ext cx="64008" cy="1691640"/>
          </a:xfrm>
          <a:prstGeom prst="rect">
            <a:avLst/>
          </a:prstGeom>
          <a:solidFill>
            <a:srgbClr val="C9A84C"/>
          </a:solidFill>
          <a:ln w="12700">
            <a:solidFill>
              <a:srgbClr val="C9A84C"/>
            </a:solidFill>
            <a:prstDash val="solid"/>
          </a:ln>
        </p:spPr>
      </p:sp>
      <p:sp>
        <p:nvSpPr>
          <p:cNvPr id="17" name="Text 15"/>
          <p:cNvSpPr/>
          <p:nvPr/>
        </p:nvSpPr>
        <p:spPr>
          <a:xfrm>
            <a:off x="475488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The solution: money</a:t>
            </a:r>
            <a:endParaRPr lang="en-US" sz="1200" dirty="0"/>
          </a:p>
        </p:txBody>
      </p:sp>
      <p:sp>
        <p:nvSpPr>
          <p:cNvPr id="18" name="Text 16"/>
          <p:cNvSpPr/>
          <p:nvPr/>
        </p:nvSpPr>
        <p:spPr>
          <a:xfrm>
            <a:off x="475488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A universally accepted go-between. Something everyone would take even if they personally didn't need it — because they knew someone else would.</a:t>
            </a:r>
            <a:endParaRPr lang="en-US" sz="110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E5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1463040"/>
            <a:ext cx="8229600" cy="320040"/>
          </a:xfrm>
          <a:prstGeom prst="rect">
            <a:avLst/>
          </a:prstGeom>
          <a:noFill/>
          <a:ln/>
        </p:spPr>
        <p:txBody>
          <a:bodyPr wrap="square" lIns="0" tIns="0" rIns="0" bIns="0" rtlCol="0" anchor="ctr"/>
          <a:lstStyle/>
          <a:p>
            <a:pPr indent="0" marL="0">
              <a:buNone/>
            </a:pPr>
            <a:r>
              <a:rPr lang="en-US" sz="1100" b="1" spc="500" kern="0" dirty="0">
                <a:solidFill>
                  <a:srgbClr val="C9A84C"/>
                </a:solidFill>
                <a:latin typeface="Calibri" pitchFamily="34" charset="0"/>
                <a:ea typeface="Calibri" pitchFamily="34" charset="-122"/>
                <a:cs typeface="Calibri" pitchFamily="34" charset="-120"/>
              </a:rPr>
              <a:t>SESSION 1</a:t>
            </a:r>
            <a:endParaRPr lang="en-US" sz="1100" dirty="0"/>
          </a:p>
        </p:txBody>
      </p:sp>
      <p:sp>
        <p:nvSpPr>
          <p:cNvPr id="4" name="Text 2"/>
          <p:cNvSpPr/>
          <p:nvPr/>
        </p:nvSpPr>
        <p:spPr>
          <a:xfrm>
            <a:off x="457200" y="1828800"/>
            <a:ext cx="8229600" cy="1188720"/>
          </a:xfrm>
          <a:prstGeom prst="rect">
            <a:avLst/>
          </a:prstGeom>
          <a:noFill/>
          <a:ln/>
        </p:spPr>
        <p:txBody>
          <a:bodyPr wrap="square"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Gold</a:t>
            </a:r>
            <a:endParaRPr lang="en-US" sz="4600" dirty="0"/>
          </a:p>
        </p:txBody>
      </p:sp>
      <p:sp>
        <p:nvSpPr>
          <p:cNvPr id="5" name="Text 3"/>
          <p:cNvSpPr/>
          <p:nvPr/>
        </p:nvSpPr>
        <p:spPr>
          <a:xfrm>
            <a:off x="457200" y="3108960"/>
            <a:ext cx="8229600" cy="457200"/>
          </a:xfrm>
          <a:prstGeom prst="rect">
            <a:avLst/>
          </a:prstGeom>
          <a:noFill/>
          <a:ln/>
        </p:spPr>
        <p:txBody>
          <a:bodyPr wrap="square" rtlCol="0" anchor="ctr"/>
          <a:lstStyle/>
          <a:p>
            <a:pPr indent="0" marL="0">
              <a:buNone/>
            </a:pPr>
            <a:r>
              <a:rPr lang="en-US" sz="1700" dirty="0">
                <a:solidFill>
                  <a:srgbClr val="A0AEC0"/>
                </a:solidFill>
                <a:latin typeface="Calibri" pitchFamily="34" charset="0"/>
                <a:ea typeface="Calibri" pitchFamily="34" charset="-122"/>
                <a:cs typeface="Calibri" pitchFamily="34" charset="-120"/>
              </a:rPr>
              <a:t>How nature's best money was discovered</a:t>
            </a:r>
            <a:endParaRPr lang="en-US" sz="1700" dirty="0"/>
          </a:p>
        </p:txBody>
      </p:sp>
      <p:sp>
        <p:nvSpPr>
          <p:cNvPr id="6" name="Text 4"/>
          <p:cNvSpPr/>
          <p:nvPr/>
        </p:nvSpPr>
        <p:spPr>
          <a:xfrm>
            <a:off x="457200" y="4800600"/>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What Makes Something Good Money?</a:t>
            </a:r>
            <a:endParaRPr lang="en-US" sz="2600" dirty="0"/>
          </a:p>
        </p:txBody>
      </p:sp>
      <p:sp>
        <p:nvSpPr>
          <p:cNvPr id="3" name="Shape 1"/>
          <p:cNvSpPr/>
          <p:nvPr/>
        </p:nvSpPr>
        <p:spPr>
          <a:xfrm>
            <a:off x="457200" y="1005840"/>
            <a:ext cx="2011680" cy="100584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4" name="Text 2"/>
          <p:cNvSpPr/>
          <p:nvPr/>
        </p:nvSpPr>
        <p:spPr>
          <a:xfrm>
            <a:off x="566928" y="1097280"/>
            <a:ext cx="1792224" cy="256032"/>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Scarce</a:t>
            </a:r>
            <a:endParaRPr lang="en-US" sz="1300" dirty="0"/>
          </a:p>
        </p:txBody>
      </p:sp>
      <p:sp>
        <p:nvSpPr>
          <p:cNvPr id="5" name="Text 3"/>
          <p:cNvSpPr/>
          <p:nvPr/>
        </p:nvSpPr>
        <p:spPr>
          <a:xfrm>
            <a:off x="566928" y="1371600"/>
            <a:ext cx="1792224" cy="548640"/>
          </a:xfrm>
          <a:prstGeom prst="rect">
            <a:avLst/>
          </a:prstGeom>
          <a:noFill/>
          <a:ln/>
        </p:spPr>
        <p:txBody>
          <a:bodyPr wrap="square" lIns="0" tIns="0" rIns="0" bIns="0" rtlCol="0" anchor="ctr"/>
          <a:lstStyle/>
          <a:p>
            <a:pPr indent="0" marL="0">
              <a:lnSpc>
                <a:spcPct val="130000"/>
              </a:lnSpc>
              <a:buNone/>
            </a:pPr>
            <a:r>
              <a:rPr lang="en-US" sz="1050" dirty="0">
                <a:solidFill>
                  <a:srgbClr val="E8EAF6"/>
                </a:solidFill>
                <a:latin typeface="Calibri" pitchFamily="34" charset="0"/>
                <a:ea typeface="Calibri" pitchFamily="34" charset="-122"/>
                <a:cs typeface="Calibri" pitchFamily="34" charset="-120"/>
              </a:rPr>
              <a:t>Cannot be created freely — or it loses value</a:t>
            </a:r>
            <a:endParaRPr lang="en-US" sz="1050" dirty="0"/>
          </a:p>
        </p:txBody>
      </p:sp>
      <p:sp>
        <p:nvSpPr>
          <p:cNvPr id="6" name="Shape 4"/>
          <p:cNvSpPr/>
          <p:nvPr/>
        </p:nvSpPr>
        <p:spPr>
          <a:xfrm>
            <a:off x="2532888" y="1005840"/>
            <a:ext cx="2011680" cy="100584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7" name="Text 5"/>
          <p:cNvSpPr/>
          <p:nvPr/>
        </p:nvSpPr>
        <p:spPr>
          <a:xfrm>
            <a:off x="2642616" y="1097280"/>
            <a:ext cx="1792224" cy="256032"/>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Durable</a:t>
            </a:r>
            <a:endParaRPr lang="en-US" sz="1300" dirty="0"/>
          </a:p>
        </p:txBody>
      </p:sp>
      <p:sp>
        <p:nvSpPr>
          <p:cNvPr id="8" name="Text 6"/>
          <p:cNvSpPr/>
          <p:nvPr/>
        </p:nvSpPr>
        <p:spPr>
          <a:xfrm>
            <a:off x="2642616" y="1371600"/>
            <a:ext cx="1792224" cy="548640"/>
          </a:xfrm>
          <a:prstGeom prst="rect">
            <a:avLst/>
          </a:prstGeom>
          <a:noFill/>
          <a:ln/>
        </p:spPr>
        <p:txBody>
          <a:bodyPr wrap="square" lIns="0" tIns="0" rIns="0" bIns="0" rtlCol="0" anchor="ctr"/>
          <a:lstStyle/>
          <a:p>
            <a:pPr indent="0" marL="0">
              <a:lnSpc>
                <a:spcPct val="130000"/>
              </a:lnSpc>
              <a:buNone/>
            </a:pPr>
            <a:r>
              <a:rPr lang="en-US" sz="1050" dirty="0">
                <a:solidFill>
                  <a:srgbClr val="E8EAF6"/>
                </a:solidFill>
                <a:latin typeface="Calibri" pitchFamily="34" charset="0"/>
                <a:ea typeface="Calibri" pitchFamily="34" charset="-122"/>
                <a:cs typeface="Calibri" pitchFamily="34" charset="-120"/>
              </a:rPr>
              <a:t>Does not rot or degrade — stores value across time</a:t>
            </a:r>
            <a:endParaRPr lang="en-US" sz="1050" dirty="0"/>
          </a:p>
        </p:txBody>
      </p:sp>
      <p:sp>
        <p:nvSpPr>
          <p:cNvPr id="9" name="Shape 7"/>
          <p:cNvSpPr/>
          <p:nvPr/>
        </p:nvSpPr>
        <p:spPr>
          <a:xfrm>
            <a:off x="4608576" y="1005840"/>
            <a:ext cx="2011680" cy="100584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10" name="Text 8"/>
          <p:cNvSpPr/>
          <p:nvPr/>
        </p:nvSpPr>
        <p:spPr>
          <a:xfrm>
            <a:off x="4718304" y="1097280"/>
            <a:ext cx="1792224" cy="256032"/>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Divisible</a:t>
            </a:r>
            <a:endParaRPr lang="en-US" sz="1300" dirty="0"/>
          </a:p>
        </p:txBody>
      </p:sp>
      <p:sp>
        <p:nvSpPr>
          <p:cNvPr id="11" name="Text 9"/>
          <p:cNvSpPr/>
          <p:nvPr/>
        </p:nvSpPr>
        <p:spPr>
          <a:xfrm>
            <a:off x="4718304" y="1371600"/>
            <a:ext cx="1792224" cy="548640"/>
          </a:xfrm>
          <a:prstGeom prst="rect">
            <a:avLst/>
          </a:prstGeom>
          <a:noFill/>
          <a:ln/>
        </p:spPr>
        <p:txBody>
          <a:bodyPr wrap="square" lIns="0" tIns="0" rIns="0" bIns="0" rtlCol="0" anchor="ctr"/>
          <a:lstStyle/>
          <a:p>
            <a:pPr indent="0" marL="0">
              <a:lnSpc>
                <a:spcPct val="130000"/>
              </a:lnSpc>
              <a:buNone/>
            </a:pPr>
            <a:r>
              <a:rPr lang="en-US" sz="1050" dirty="0">
                <a:solidFill>
                  <a:srgbClr val="E8EAF6"/>
                </a:solidFill>
                <a:latin typeface="Calibri" pitchFamily="34" charset="0"/>
                <a:ea typeface="Calibri" pitchFamily="34" charset="-122"/>
                <a:cs typeface="Calibri" pitchFamily="34" charset="-120"/>
              </a:rPr>
              <a:t>Works for transactions of any size</a:t>
            </a:r>
            <a:endParaRPr lang="en-US" sz="1050" dirty="0"/>
          </a:p>
        </p:txBody>
      </p:sp>
      <p:sp>
        <p:nvSpPr>
          <p:cNvPr id="12" name="Shape 10"/>
          <p:cNvSpPr/>
          <p:nvPr/>
        </p:nvSpPr>
        <p:spPr>
          <a:xfrm>
            <a:off x="6684264" y="1005840"/>
            <a:ext cx="2011680" cy="100584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13" name="Text 11"/>
          <p:cNvSpPr/>
          <p:nvPr/>
        </p:nvSpPr>
        <p:spPr>
          <a:xfrm>
            <a:off x="6793992" y="1097280"/>
            <a:ext cx="1792224" cy="256032"/>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Fungible</a:t>
            </a:r>
            <a:endParaRPr lang="en-US" sz="1300" dirty="0"/>
          </a:p>
        </p:txBody>
      </p:sp>
      <p:sp>
        <p:nvSpPr>
          <p:cNvPr id="14" name="Text 12"/>
          <p:cNvSpPr/>
          <p:nvPr/>
        </p:nvSpPr>
        <p:spPr>
          <a:xfrm>
            <a:off x="6793992" y="1371600"/>
            <a:ext cx="1792224" cy="548640"/>
          </a:xfrm>
          <a:prstGeom prst="rect">
            <a:avLst/>
          </a:prstGeom>
          <a:noFill/>
          <a:ln/>
        </p:spPr>
        <p:txBody>
          <a:bodyPr wrap="square" lIns="0" tIns="0" rIns="0" bIns="0" rtlCol="0" anchor="ctr"/>
          <a:lstStyle/>
          <a:p>
            <a:pPr indent="0" marL="0">
              <a:lnSpc>
                <a:spcPct val="130000"/>
              </a:lnSpc>
              <a:buNone/>
            </a:pPr>
            <a:r>
              <a:rPr lang="en-US" sz="1050" dirty="0">
                <a:solidFill>
                  <a:srgbClr val="E8EAF6"/>
                </a:solidFill>
                <a:latin typeface="Calibri" pitchFamily="34" charset="0"/>
                <a:ea typeface="Calibri" pitchFamily="34" charset="-122"/>
                <a:cs typeface="Calibri" pitchFamily="34" charset="-120"/>
              </a:rPr>
              <a:t>Each unit identical to every other</a:t>
            </a:r>
            <a:endParaRPr lang="en-US" sz="1050" dirty="0"/>
          </a:p>
        </p:txBody>
      </p:sp>
      <p:sp>
        <p:nvSpPr>
          <p:cNvPr id="15" name="Shape 13"/>
          <p:cNvSpPr/>
          <p:nvPr/>
        </p:nvSpPr>
        <p:spPr>
          <a:xfrm>
            <a:off x="457200" y="2103120"/>
            <a:ext cx="2011680" cy="100584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16" name="Text 14"/>
          <p:cNvSpPr/>
          <p:nvPr/>
        </p:nvSpPr>
        <p:spPr>
          <a:xfrm>
            <a:off x="566928" y="2194560"/>
            <a:ext cx="1792224" cy="256032"/>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Portable</a:t>
            </a:r>
            <a:endParaRPr lang="en-US" sz="1300" dirty="0"/>
          </a:p>
        </p:txBody>
      </p:sp>
      <p:sp>
        <p:nvSpPr>
          <p:cNvPr id="17" name="Text 15"/>
          <p:cNvSpPr/>
          <p:nvPr/>
        </p:nvSpPr>
        <p:spPr>
          <a:xfrm>
            <a:off x="566928" y="2468880"/>
            <a:ext cx="1792224" cy="548640"/>
          </a:xfrm>
          <a:prstGeom prst="rect">
            <a:avLst/>
          </a:prstGeom>
          <a:noFill/>
          <a:ln/>
        </p:spPr>
        <p:txBody>
          <a:bodyPr wrap="square" lIns="0" tIns="0" rIns="0" bIns="0" rtlCol="0" anchor="ctr"/>
          <a:lstStyle/>
          <a:p>
            <a:pPr indent="0" marL="0">
              <a:lnSpc>
                <a:spcPct val="130000"/>
              </a:lnSpc>
              <a:buNone/>
            </a:pPr>
            <a:r>
              <a:rPr lang="en-US" sz="1050" dirty="0">
                <a:solidFill>
                  <a:srgbClr val="E8EAF6"/>
                </a:solidFill>
                <a:latin typeface="Calibri" pitchFamily="34" charset="0"/>
                <a:ea typeface="Calibri" pitchFamily="34" charset="-122"/>
                <a:cs typeface="Calibri" pitchFamily="34" charset="-120"/>
              </a:rPr>
              <a:t>Can be moved and transferred easily</a:t>
            </a:r>
            <a:endParaRPr lang="en-US" sz="1050" dirty="0"/>
          </a:p>
        </p:txBody>
      </p:sp>
      <p:sp>
        <p:nvSpPr>
          <p:cNvPr id="18" name="Shape 16"/>
          <p:cNvSpPr/>
          <p:nvPr/>
        </p:nvSpPr>
        <p:spPr>
          <a:xfrm>
            <a:off x="2532888" y="2103120"/>
            <a:ext cx="2011680" cy="100584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19" name="Text 17"/>
          <p:cNvSpPr/>
          <p:nvPr/>
        </p:nvSpPr>
        <p:spPr>
          <a:xfrm>
            <a:off x="2642616" y="2194560"/>
            <a:ext cx="1792224" cy="256032"/>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Verifiable</a:t>
            </a:r>
            <a:endParaRPr lang="en-US" sz="1300" dirty="0"/>
          </a:p>
        </p:txBody>
      </p:sp>
      <p:sp>
        <p:nvSpPr>
          <p:cNvPr id="20" name="Text 18"/>
          <p:cNvSpPr/>
          <p:nvPr/>
        </p:nvSpPr>
        <p:spPr>
          <a:xfrm>
            <a:off x="2642616" y="2468880"/>
            <a:ext cx="1792224" cy="548640"/>
          </a:xfrm>
          <a:prstGeom prst="rect">
            <a:avLst/>
          </a:prstGeom>
          <a:noFill/>
          <a:ln/>
        </p:spPr>
        <p:txBody>
          <a:bodyPr wrap="square" lIns="0" tIns="0" rIns="0" bIns="0" rtlCol="0" anchor="ctr"/>
          <a:lstStyle/>
          <a:p>
            <a:pPr indent="0" marL="0">
              <a:lnSpc>
                <a:spcPct val="130000"/>
              </a:lnSpc>
              <a:buNone/>
            </a:pPr>
            <a:r>
              <a:rPr lang="en-US" sz="1050" dirty="0">
                <a:solidFill>
                  <a:srgbClr val="E8EAF6"/>
                </a:solidFill>
                <a:latin typeface="Calibri" pitchFamily="34" charset="0"/>
                <a:ea typeface="Calibri" pitchFamily="34" charset="-122"/>
                <a:cs typeface="Calibri" pitchFamily="34" charset="-120"/>
              </a:rPr>
              <a:t>Anyone can confirm it is real</a:t>
            </a:r>
            <a:endParaRPr lang="en-US" sz="1050" dirty="0"/>
          </a:p>
        </p:txBody>
      </p:sp>
      <p:sp>
        <p:nvSpPr>
          <p:cNvPr id="21" name="Shape 19"/>
          <p:cNvSpPr/>
          <p:nvPr/>
        </p:nvSpPr>
        <p:spPr>
          <a:xfrm>
            <a:off x="4608576" y="2103120"/>
            <a:ext cx="2011680" cy="100584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22" name="Text 20"/>
          <p:cNvSpPr/>
          <p:nvPr/>
        </p:nvSpPr>
        <p:spPr>
          <a:xfrm>
            <a:off x="4718304" y="2194560"/>
            <a:ext cx="1792224" cy="256032"/>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Decentralized</a:t>
            </a:r>
            <a:endParaRPr lang="en-US" sz="1300" dirty="0"/>
          </a:p>
        </p:txBody>
      </p:sp>
      <p:sp>
        <p:nvSpPr>
          <p:cNvPr id="23" name="Text 21"/>
          <p:cNvSpPr/>
          <p:nvPr/>
        </p:nvSpPr>
        <p:spPr>
          <a:xfrm>
            <a:off x="4718304" y="2468880"/>
            <a:ext cx="1792224" cy="548640"/>
          </a:xfrm>
          <a:prstGeom prst="rect">
            <a:avLst/>
          </a:prstGeom>
          <a:noFill/>
          <a:ln/>
        </p:spPr>
        <p:txBody>
          <a:bodyPr wrap="square" lIns="0" tIns="0" rIns="0" bIns="0" rtlCol="0" anchor="ctr"/>
          <a:lstStyle/>
          <a:p>
            <a:pPr indent="0" marL="0">
              <a:lnSpc>
                <a:spcPct val="130000"/>
              </a:lnSpc>
              <a:buNone/>
            </a:pPr>
            <a:r>
              <a:rPr lang="en-US" sz="1050" dirty="0">
                <a:solidFill>
                  <a:srgbClr val="E8EAF6"/>
                </a:solidFill>
                <a:latin typeface="Calibri" pitchFamily="34" charset="0"/>
                <a:ea typeface="Calibri" pitchFamily="34" charset="-122"/>
                <a:cs typeface="Calibri" pitchFamily="34" charset="-120"/>
              </a:rPr>
              <a:t>No single entity controls it</a:t>
            </a:r>
            <a:endParaRPr lang="en-US" sz="1050" dirty="0"/>
          </a:p>
        </p:txBody>
      </p:sp>
      <p:sp>
        <p:nvSpPr>
          <p:cNvPr id="24" name="Text 22"/>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Gold Won the Competition</a:t>
            </a:r>
            <a:endParaRPr lang="en-US" sz="2600" dirty="0"/>
          </a:p>
        </p:txBody>
      </p:sp>
      <p:sp>
        <p:nvSpPr>
          <p:cNvPr id="3" name="Shape 1"/>
          <p:cNvSpPr/>
          <p:nvPr/>
        </p:nvSpPr>
        <p:spPr>
          <a:xfrm>
            <a:off x="457200" y="960120"/>
            <a:ext cx="4023360" cy="3383280"/>
          </a:xfrm>
          <a:prstGeom prst="rect">
            <a:avLst/>
          </a:prstGeom>
          <a:solidFill>
            <a:srgbClr val="1A2E5E"/>
          </a:solidFill>
          <a:ln w="12700">
            <a:solidFill>
              <a:srgbClr val="1A2E5E"/>
            </a:solidFill>
            <a:prstDash val="solid"/>
          </a:ln>
          <a:effectLst>
            <a:outerShdw sx="100000" sy="100000" kx="0" ky="0" algn="bl" rotWithShape="0" blurRad="76200" dist="25400" dir="8100000">
              <a:srgbClr val="000000">
                <a:alpha val="10000"/>
              </a:srgbClr>
            </a:outerShdw>
          </a:effectLst>
        </p:spPr>
      </p:sp>
      <p:sp>
        <p:nvSpPr>
          <p:cNvPr id="4" name="Text 2"/>
          <p:cNvSpPr/>
          <p:nvPr/>
        </p:nvSpPr>
        <p:spPr>
          <a:xfrm>
            <a:off x="640080" y="1097280"/>
            <a:ext cx="3657600" cy="2377440"/>
          </a:xfrm>
          <a:prstGeom prst="rect">
            <a:avLst/>
          </a:prstGeom>
          <a:noFill/>
          <a:ln/>
        </p:spPr>
        <p:txBody>
          <a:bodyPr wrap="square" rtlCol="0" anchor="ctr"/>
          <a:lstStyle/>
          <a:p>
            <a:pPr indent="0" marL="0">
              <a:lnSpc>
                <a:spcPct val="160000"/>
              </a:lnSpc>
              <a:buNone/>
            </a:pPr>
            <a:r>
              <a:rPr lang="en-US" sz="1350" i="1" dirty="0">
                <a:solidFill>
                  <a:srgbClr val="E8EAF6"/>
                </a:solidFill>
                <a:latin typeface="Georgia" pitchFamily="34" charset="0"/>
                <a:ea typeface="Georgia" pitchFamily="34" charset="-122"/>
                <a:cs typeface="Georgia" pitchFamily="34" charset="-120"/>
              </a:rPr>
              <a:t>“Gold did not become the world's reserve money because kings decreed it. It became reserve money because it kept winning the competition. Every civilization that encountered it independently arrived at the same conclusion.”</a:t>
            </a:r>
            <a:endParaRPr lang="en-US" sz="1350" dirty="0"/>
          </a:p>
        </p:txBody>
      </p:sp>
      <p:sp>
        <p:nvSpPr>
          <p:cNvPr id="5" name="Shape 3"/>
          <p:cNvSpPr/>
          <p:nvPr/>
        </p:nvSpPr>
        <p:spPr>
          <a:xfrm>
            <a:off x="640080" y="3547872"/>
            <a:ext cx="365760" cy="36576"/>
          </a:xfrm>
          <a:prstGeom prst="rect">
            <a:avLst/>
          </a:prstGeom>
          <a:solidFill>
            <a:srgbClr val="C9A84C"/>
          </a:solidFill>
          <a:ln w="12700">
            <a:solidFill>
              <a:srgbClr val="C9A84C"/>
            </a:solidFill>
            <a:prstDash val="solid"/>
          </a:ln>
        </p:spPr>
      </p:sp>
      <p:sp>
        <p:nvSpPr>
          <p:cNvPr id="6" name="Text 4"/>
          <p:cNvSpPr/>
          <p:nvPr/>
        </p:nvSpPr>
        <p:spPr>
          <a:xfrm>
            <a:off x="640080" y="3611880"/>
            <a:ext cx="3657600" cy="201168"/>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freeMarketWatch Education Series</a:t>
            </a:r>
            <a:endParaRPr lang="en-US" sz="900" dirty="0"/>
          </a:p>
        </p:txBody>
      </p:sp>
      <p:sp>
        <p:nvSpPr>
          <p:cNvPr id="7" name="Shape 5"/>
          <p:cNvSpPr/>
          <p:nvPr/>
        </p:nvSpPr>
        <p:spPr>
          <a:xfrm>
            <a:off x="4754880" y="960120"/>
            <a:ext cx="3931920" cy="105156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754880" y="960120"/>
            <a:ext cx="54864" cy="1051560"/>
          </a:xfrm>
          <a:prstGeom prst="rect">
            <a:avLst/>
          </a:prstGeom>
          <a:solidFill>
            <a:srgbClr val="C9A84C"/>
          </a:solidFill>
          <a:ln w="12700">
            <a:solidFill>
              <a:srgbClr val="C9A84C"/>
            </a:solidFill>
            <a:prstDash val="solid"/>
          </a:ln>
        </p:spPr>
      </p:sp>
      <p:sp>
        <p:nvSpPr>
          <p:cNvPr id="9" name="Text 7"/>
          <p:cNvSpPr/>
          <p:nvPr/>
        </p:nvSpPr>
        <p:spPr>
          <a:xfrm>
            <a:off x="4882896" y="1051560"/>
            <a:ext cx="365760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Extraordinarily scarce</a:t>
            </a:r>
            <a:endParaRPr lang="en-US" sz="1200" dirty="0"/>
          </a:p>
        </p:txBody>
      </p:sp>
      <p:sp>
        <p:nvSpPr>
          <p:cNvPr id="10" name="Text 8"/>
          <p:cNvSpPr/>
          <p:nvPr/>
        </p:nvSpPr>
        <p:spPr>
          <a:xfrm>
            <a:off x="4882896" y="1344168"/>
            <a:ext cx="3657600" cy="548640"/>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All gold ever mined in history fills roughly 3.5 Olympic swimming pools. New supply is slow and hard.</a:t>
            </a:r>
            <a:endParaRPr lang="en-US" sz="1050" dirty="0"/>
          </a:p>
        </p:txBody>
      </p:sp>
      <p:sp>
        <p:nvSpPr>
          <p:cNvPr id="11" name="Shape 9"/>
          <p:cNvSpPr/>
          <p:nvPr/>
        </p:nvSpPr>
        <p:spPr>
          <a:xfrm>
            <a:off x="4754880" y="2121408"/>
            <a:ext cx="3931920" cy="105156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754880" y="2121408"/>
            <a:ext cx="54864" cy="1051560"/>
          </a:xfrm>
          <a:prstGeom prst="rect">
            <a:avLst/>
          </a:prstGeom>
          <a:solidFill>
            <a:srgbClr val="C9A84C"/>
          </a:solidFill>
          <a:ln w="12700">
            <a:solidFill>
              <a:srgbClr val="C9A84C"/>
            </a:solidFill>
            <a:prstDash val="solid"/>
          </a:ln>
        </p:spPr>
      </p:sp>
      <p:sp>
        <p:nvSpPr>
          <p:cNvPr id="13" name="Text 11"/>
          <p:cNvSpPr/>
          <p:nvPr/>
        </p:nvSpPr>
        <p:spPr>
          <a:xfrm>
            <a:off x="4882896" y="2212848"/>
            <a:ext cx="365760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Checks almost every box</a:t>
            </a:r>
            <a:endParaRPr lang="en-US" sz="1200" dirty="0"/>
          </a:p>
        </p:txBody>
      </p:sp>
      <p:sp>
        <p:nvSpPr>
          <p:cNvPr id="14" name="Text 12"/>
          <p:cNvSpPr/>
          <p:nvPr/>
        </p:nvSpPr>
        <p:spPr>
          <a:xfrm>
            <a:off x="4882896" y="2505456"/>
            <a:ext cx="3657600" cy="548640"/>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Does not corrode. Divisible, fungible, recognizable anywhere on earth. For most of history, closest to perfect money ever found.</a:t>
            </a:r>
            <a:endParaRPr lang="en-US" sz="1050" dirty="0"/>
          </a:p>
        </p:txBody>
      </p:sp>
      <p:sp>
        <p:nvSpPr>
          <p:cNvPr id="15" name="Shape 13"/>
          <p:cNvSpPr/>
          <p:nvPr/>
        </p:nvSpPr>
        <p:spPr>
          <a:xfrm>
            <a:off x="4754880" y="3282696"/>
            <a:ext cx="3931920" cy="105156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754880" y="3282696"/>
            <a:ext cx="54864" cy="1051560"/>
          </a:xfrm>
          <a:prstGeom prst="rect">
            <a:avLst/>
          </a:prstGeom>
          <a:solidFill>
            <a:srgbClr val="C9A84C"/>
          </a:solidFill>
          <a:ln w="12700">
            <a:solidFill>
              <a:srgbClr val="C9A84C"/>
            </a:solidFill>
            <a:prstDash val="solid"/>
          </a:ln>
        </p:spPr>
      </p:sp>
      <p:sp>
        <p:nvSpPr>
          <p:cNvPr id="17" name="Text 15"/>
          <p:cNvSpPr/>
          <p:nvPr/>
        </p:nvSpPr>
        <p:spPr>
          <a:xfrm>
            <a:off x="4882896" y="3374136"/>
            <a:ext cx="365760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One fatal flaw</a:t>
            </a:r>
            <a:endParaRPr lang="en-US" sz="1200" dirty="0"/>
          </a:p>
        </p:txBody>
      </p:sp>
      <p:sp>
        <p:nvSpPr>
          <p:cNvPr id="18" name="Text 16"/>
          <p:cNvSpPr/>
          <p:nvPr/>
        </p:nvSpPr>
        <p:spPr>
          <a:xfrm>
            <a:off x="4882896" y="3666744"/>
            <a:ext cx="3657600" cy="548640"/>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It is heavy. Moving large amounts requires trusting a third party — and that trust was eventually, always, abused.</a:t>
            </a:r>
            <a:endParaRPr lang="en-US" sz="105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E5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457200"/>
            <a:ext cx="8229600" cy="41148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DISCUSSION — Session 1</a:t>
            </a:r>
            <a:endParaRPr lang="en-US" sz="2000" dirty="0"/>
          </a:p>
        </p:txBody>
      </p:sp>
      <p:sp>
        <p:nvSpPr>
          <p:cNvPr id="4" name="Shape 2"/>
          <p:cNvSpPr/>
          <p:nvPr/>
        </p:nvSpPr>
        <p:spPr>
          <a:xfrm>
            <a:off x="457200" y="1005840"/>
            <a:ext cx="8229600" cy="713232"/>
          </a:xfrm>
          <a:prstGeom prst="rect">
            <a:avLst/>
          </a:prstGeom>
          <a:solidFill>
            <a:srgbClr val="1E3A6E"/>
          </a:solidFill>
          <a:ln w="12700">
            <a:solidFill>
              <a:srgbClr val="2A4A7E"/>
            </a:solidFill>
            <a:prstDash val="solid"/>
          </a:ln>
        </p:spPr>
      </p:sp>
      <p:sp>
        <p:nvSpPr>
          <p:cNvPr id="5" name="Text 3"/>
          <p:cNvSpPr/>
          <p:nvPr/>
        </p:nvSpPr>
        <p:spPr>
          <a:xfrm>
            <a:off x="640080" y="107899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1.  Before tonight, how did you think about where money came from? Has that changed?</a:t>
            </a:r>
            <a:endParaRPr lang="en-US" sz="1250" dirty="0"/>
          </a:p>
        </p:txBody>
      </p:sp>
      <p:sp>
        <p:nvSpPr>
          <p:cNvPr id="6" name="Shape 4"/>
          <p:cNvSpPr/>
          <p:nvPr/>
        </p:nvSpPr>
        <p:spPr>
          <a:xfrm>
            <a:off x="457200" y="1874520"/>
            <a:ext cx="8229600" cy="713232"/>
          </a:xfrm>
          <a:prstGeom prst="rect">
            <a:avLst/>
          </a:prstGeom>
          <a:solidFill>
            <a:srgbClr val="1E3A6E"/>
          </a:solidFill>
          <a:ln w="12700">
            <a:solidFill>
              <a:srgbClr val="2A4A7E"/>
            </a:solidFill>
            <a:prstDash val="solid"/>
          </a:ln>
        </p:spPr>
      </p:sp>
      <p:sp>
        <p:nvSpPr>
          <p:cNvPr id="7" name="Text 5"/>
          <p:cNvSpPr/>
          <p:nvPr/>
        </p:nvSpPr>
        <p:spPr>
          <a:xfrm>
            <a:off x="640080" y="194767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2.  Think about your own work or business. How many people are in the chain between your inputs and your customers? What would happen to that chain without money?</a:t>
            </a:r>
            <a:endParaRPr lang="en-US" sz="1250" dirty="0"/>
          </a:p>
        </p:txBody>
      </p:sp>
      <p:sp>
        <p:nvSpPr>
          <p:cNvPr id="8" name="Shape 6"/>
          <p:cNvSpPr/>
          <p:nvPr/>
        </p:nvSpPr>
        <p:spPr>
          <a:xfrm>
            <a:off x="457200" y="2743200"/>
            <a:ext cx="8229600" cy="713232"/>
          </a:xfrm>
          <a:prstGeom prst="rect">
            <a:avLst/>
          </a:prstGeom>
          <a:solidFill>
            <a:srgbClr val="1E3A6E"/>
          </a:solidFill>
          <a:ln w="12700">
            <a:solidFill>
              <a:srgbClr val="2A4A7E"/>
            </a:solidFill>
            <a:prstDash val="solid"/>
          </a:ln>
        </p:spPr>
      </p:sp>
      <p:sp>
        <p:nvSpPr>
          <p:cNvPr id="9" name="Text 7"/>
          <p:cNvSpPr/>
          <p:nvPr/>
        </p:nvSpPr>
        <p:spPr>
          <a:xfrm>
            <a:off x="640080" y="281635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3.  Gold emerged as the winner through thousands of years of competition. What properties made it win? Are any of them surprising?</a:t>
            </a:r>
            <a:endParaRPr lang="en-US" sz="1250" dirty="0"/>
          </a:p>
        </p:txBody>
      </p:sp>
      <p:sp>
        <p:nvSpPr>
          <p:cNvPr id="10" name="Shape 8"/>
          <p:cNvSpPr/>
          <p:nvPr/>
        </p:nvSpPr>
        <p:spPr>
          <a:xfrm>
            <a:off x="457200" y="3611880"/>
            <a:ext cx="8229600" cy="713232"/>
          </a:xfrm>
          <a:prstGeom prst="rect">
            <a:avLst/>
          </a:prstGeom>
          <a:solidFill>
            <a:srgbClr val="1E3A6E"/>
          </a:solidFill>
          <a:ln w="12700">
            <a:solidFill>
              <a:srgbClr val="2A4A7E"/>
            </a:solidFill>
            <a:prstDash val="solid"/>
          </a:ln>
        </p:spPr>
      </p:sp>
      <p:sp>
        <p:nvSpPr>
          <p:cNvPr id="11" name="Text 9"/>
          <p:cNvSpPr/>
          <p:nvPr/>
        </p:nvSpPr>
        <p:spPr>
          <a:xfrm>
            <a:off x="640080" y="368503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4.  What question did tonight raise that you'll be thinking about until next session?</a:t>
            </a:r>
            <a:endParaRPr lang="en-US" sz="1250" dirty="0"/>
          </a:p>
        </p:txBody>
      </p:sp>
      <p:sp>
        <p:nvSpPr>
          <p:cNvPr id="12" name="Text 10"/>
          <p:cNvSpPr/>
          <p:nvPr/>
        </p:nvSpPr>
        <p:spPr>
          <a:xfrm>
            <a:off x="457200" y="4828032"/>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548640"/>
            <a:ext cx="8229600" cy="5029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Coming Next — Session 2</a:t>
            </a:r>
            <a:endParaRPr lang="en-US" sz="2600" dirty="0"/>
          </a:p>
        </p:txBody>
      </p:sp>
      <p:sp>
        <p:nvSpPr>
          <p:cNvPr id="4" name="Shape 2"/>
          <p:cNvSpPr/>
          <p:nvPr/>
        </p:nvSpPr>
        <p:spPr>
          <a:xfrm>
            <a:off x="457200" y="1188720"/>
            <a:ext cx="8229600" cy="1371600"/>
          </a:xfrm>
          <a:prstGeom prst="rect">
            <a:avLst/>
          </a:prstGeom>
          <a:solidFill>
            <a:srgbClr val="1A2E5E"/>
          </a:solidFill>
          <a:ln w="12700">
            <a:solidFill>
              <a:srgbClr val="1A2E5E"/>
            </a:solidFill>
            <a:prstDash val="solid"/>
          </a:ln>
        </p:spPr>
      </p:sp>
      <p:sp>
        <p:nvSpPr>
          <p:cNvPr id="5" name="Text 3"/>
          <p:cNvSpPr/>
          <p:nvPr/>
        </p:nvSpPr>
        <p:spPr>
          <a:xfrm>
            <a:off x="640080" y="1280160"/>
            <a:ext cx="7863840" cy="1188720"/>
          </a:xfrm>
          <a:prstGeom prst="rect">
            <a:avLst/>
          </a:prstGeom>
          <a:noFill/>
          <a:ln/>
        </p:spPr>
        <p:txBody>
          <a:bodyPr wrap="square" rtlCol="0" anchor="ctr"/>
          <a:lstStyle/>
          <a:p>
            <a:pPr indent="0" marL="0">
              <a:lnSpc>
                <a:spcPct val="160000"/>
              </a:lnSpc>
              <a:buNone/>
            </a:pPr>
            <a:r>
              <a:rPr lang="en-US" sz="1500" i="1" dirty="0">
                <a:solidFill>
                  <a:srgbClr val="E8EAF6"/>
                </a:solidFill>
                <a:latin typeface="Georgia" pitchFamily="34" charset="0"/>
                <a:ea typeface="Georgia" pitchFamily="34" charset="-122"/>
                <a:cs typeface="Georgia" pitchFamily="34" charset="-120"/>
              </a:rPr>
              <a:t>“Gold won the competition for thousands of years. But it has one fatal flaw — and that flaw was the crack in the door that changed everything.”</a:t>
            </a:r>
            <a:endParaRPr lang="en-US" sz="1500" dirty="0"/>
          </a:p>
        </p:txBody>
      </p:sp>
      <p:sp>
        <p:nvSpPr>
          <p:cNvPr id="6" name="Shape 4"/>
          <p:cNvSpPr/>
          <p:nvPr/>
        </p:nvSpPr>
        <p:spPr>
          <a:xfrm>
            <a:off x="457200" y="2834640"/>
            <a:ext cx="2651760" cy="1463040"/>
          </a:xfrm>
          <a:prstGeom prst="rect">
            <a:avLst/>
          </a:prstGeom>
          <a:solidFill>
            <a:srgbClr val="111827"/>
          </a:solidFill>
          <a:ln w="12700">
            <a:solidFill>
              <a:srgbClr val="1F2937"/>
            </a:solidFill>
            <a:prstDash val="solid"/>
          </a:ln>
        </p:spPr>
      </p:sp>
      <p:sp>
        <p:nvSpPr>
          <p:cNvPr id="7" name="Text 5"/>
          <p:cNvSpPr/>
          <p:nvPr/>
        </p:nvSpPr>
        <p:spPr>
          <a:xfrm>
            <a:off x="59436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Homework prompt</a:t>
            </a:r>
            <a:endParaRPr lang="en-US" sz="1200" dirty="0"/>
          </a:p>
        </p:txBody>
      </p:sp>
      <p:sp>
        <p:nvSpPr>
          <p:cNvPr id="8" name="Text 6"/>
          <p:cNvSpPr/>
          <p:nvPr/>
        </p:nvSpPr>
        <p:spPr>
          <a:xfrm>
            <a:off x="59436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Notice one price that surprised you this week — higher than expected. Ask: is this thing more valuable, or is the money measuring it less reliable?</a:t>
            </a:r>
            <a:endParaRPr lang="en-US" sz="1050" dirty="0"/>
          </a:p>
        </p:txBody>
      </p:sp>
      <p:sp>
        <p:nvSpPr>
          <p:cNvPr id="9" name="Shape 7"/>
          <p:cNvSpPr/>
          <p:nvPr/>
        </p:nvSpPr>
        <p:spPr>
          <a:xfrm>
            <a:off x="3291840" y="2834640"/>
            <a:ext cx="2651760" cy="1463040"/>
          </a:xfrm>
          <a:prstGeom prst="rect">
            <a:avLst/>
          </a:prstGeom>
          <a:solidFill>
            <a:srgbClr val="111827"/>
          </a:solidFill>
          <a:ln w="12700">
            <a:solidFill>
              <a:srgbClr val="1F2937"/>
            </a:solidFill>
            <a:prstDash val="solid"/>
          </a:ln>
        </p:spPr>
      </p:sp>
      <p:sp>
        <p:nvSpPr>
          <p:cNvPr id="10" name="Text 8"/>
          <p:cNvSpPr/>
          <p:nvPr/>
        </p:nvSpPr>
        <p:spPr>
          <a:xfrm>
            <a:off x="342900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Explore the data</a:t>
            </a:r>
            <a:endParaRPr lang="en-US" sz="1200" dirty="0"/>
          </a:p>
        </p:txBody>
      </p:sp>
      <p:sp>
        <p:nvSpPr>
          <p:cNvPr id="11" name="Text 9"/>
          <p:cNvSpPr/>
          <p:nvPr/>
        </p:nvSpPr>
        <p:spPr>
          <a:xfrm>
            <a:off x="342900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freemarketwatch.world — see how currencies and assets have performed in real purchasing power terms</a:t>
            </a:r>
            <a:endParaRPr lang="en-US" sz="1050" dirty="0"/>
          </a:p>
        </p:txBody>
      </p:sp>
      <p:sp>
        <p:nvSpPr>
          <p:cNvPr id="12" name="Shape 10"/>
          <p:cNvSpPr/>
          <p:nvPr/>
        </p:nvSpPr>
        <p:spPr>
          <a:xfrm>
            <a:off x="6126480" y="2834640"/>
            <a:ext cx="2651760" cy="1463040"/>
          </a:xfrm>
          <a:prstGeom prst="rect">
            <a:avLst/>
          </a:prstGeom>
          <a:solidFill>
            <a:srgbClr val="111827"/>
          </a:solidFill>
          <a:ln w="12700">
            <a:solidFill>
              <a:srgbClr val="1F2937"/>
            </a:solidFill>
            <a:prstDash val="solid"/>
          </a:ln>
        </p:spPr>
      </p:sp>
      <p:sp>
        <p:nvSpPr>
          <p:cNvPr id="13" name="Text 11"/>
          <p:cNvSpPr/>
          <p:nvPr/>
        </p:nvSpPr>
        <p:spPr>
          <a:xfrm>
            <a:off x="626364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Session 2 preview</a:t>
            </a:r>
            <a:endParaRPr lang="en-US" sz="1200" dirty="0"/>
          </a:p>
        </p:txBody>
      </p:sp>
      <p:sp>
        <p:nvSpPr>
          <p:cNvPr id="14" name="Text 12"/>
          <p:cNvSpPr/>
          <p:nvPr/>
        </p:nvSpPr>
        <p:spPr>
          <a:xfrm>
            <a:off x="626364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What makes good money — and how gold's one weakness was quietly exploited to create the system we live in today</a:t>
            </a:r>
            <a:endParaRPr lang="en-US" sz="1050" dirty="0"/>
          </a:p>
        </p:txBody>
      </p:sp>
      <p:sp>
        <p:nvSpPr>
          <p:cNvPr id="15" name="Text 13"/>
          <p:cNvSpPr/>
          <p:nvPr/>
        </p:nvSpPr>
        <p:spPr>
          <a:xfrm>
            <a:off x="457200" y="4828032"/>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 — Why Money Exists</dc:title>
  <dc:subject>PptxGenJS Presentation</dc:subject>
  <dc:creator>PptxGenJS</dc:creator>
  <cp:lastModifiedBy>PptxGenJS</cp:lastModifiedBy>
  <cp:revision>1</cp:revision>
  <dcterms:created xsi:type="dcterms:W3CDTF">2026-05-25T15:22:23Z</dcterms:created>
  <dcterms:modified xsi:type="dcterms:W3CDTF">2026-05-25T15:22:23Z</dcterms:modified>
</cp:coreProperties>
</file>