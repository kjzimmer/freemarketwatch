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 THE TURN. Tone shifts from diagnosis to possibility.
Recap Sessions 1-3 in 10 minutes: money from trade → properties → gold's flaw → 1971 → blast radius.
"Tonight is the turn. We've spent three sessions on the disease. Tonight we talk about what health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entry point for time preference — a powerful concept that most people have never encountered.
"The cathedral builders thought across generations because their money let them. Planning for your grandchildren made sense — your savings would still be worth something."
"Contrast that with today. How many decisions — business, personal, government — are made on a quarter-by-quarter basis? Why plan for twenty years when you can barely predict what things will cost in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preference is one of the most important concepts in economics that almost no one knows.
"This is not just individual. It is systemic. When the money is debased, the entire society's time horizon shortens."
The pull quote is the key insight — read it slowly. It is the thesis of this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Ask: which world does your community want to live in?
"Which world are you currently living in? Which column describes your decisions, your business, your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nostalgia. The data is clear. Real wages rose steadily under gold. They've stagnated for most workers since 1971."
"The monetary discipline forced a kind of honesty into everything. Governments had to balance their books. Businesses had to be genuinely productive. Savings actually grew."
"The US started tied to gold. Little by little — through central banking, war financing, and political pressure — the constraint was loosened until 1971 removed it entirely. And as we saw last session, debt has soared ever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point that changes how you read monetary history. The gold standard was not abandoned because it failed. It was abandoned because it constrained the people who wanted to spend money they didn't have."
The closing question is the cliffhanger for Session 5. Let it hang.
"Come back next session. The answer exists. And it changes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is designed to set up Session 5. Let the room arrive at the question: if gold was the answer and it can't come back, what now?
That is the question Bitcoin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anticipation for Session 5. "We've been building toward a specific question for four sessions. Next time we finally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11827"/>
          </a:solidFill>
          <a:ln w="12700">
            <a:solidFill>
              <a:srgbClr val="111827"/>
            </a:solidFill>
            <a:prstDash val="solid"/>
          </a:ln>
        </p:spPr>
      </p:sp>
      <p:sp>
        <p:nvSpPr>
          <p:cNvPr id="3" name="Shape 1"/>
          <p:cNvSpPr/>
          <p:nvPr/>
        </p:nvSpPr>
        <p:spPr>
          <a:xfrm>
            <a:off x="6583680" y="0"/>
            <a:ext cx="54864" cy="5143500"/>
          </a:xfrm>
          <a:prstGeom prst="rect">
            <a:avLst/>
          </a:prstGeom>
          <a:solidFill>
            <a:srgbClr val="C9A84C"/>
          </a:solidFill>
          <a:ln w="12700">
            <a:solidFill>
              <a:srgbClr val="C9A84C"/>
            </a:solidFill>
            <a:prstDash val="solid"/>
          </a:ln>
        </p:spPr>
      </p:sp>
      <p:sp>
        <p:nvSpPr>
          <p:cNvPr id="4" name="Text 2"/>
          <p:cNvSpPr/>
          <p:nvPr/>
        </p:nvSpPr>
        <p:spPr>
          <a:xfrm>
            <a:off x="548640" y="1188720"/>
            <a:ext cx="5669280" cy="274320"/>
          </a:xfrm>
          <a:prstGeom prst="rect">
            <a:avLst/>
          </a:prstGeom>
          <a:noFill/>
          <a:ln/>
        </p:spPr>
        <p:txBody>
          <a:bodyPr wrap="square" lIns="0" tIns="0" rIns="0" bIns="0" rtlCol="0" anchor="ctr"/>
          <a:lstStyle/>
          <a:p>
            <a:pPr indent="0" marL="0">
              <a:buNone/>
            </a:pPr>
            <a:r>
              <a:rPr lang="en-US" sz="1000" b="1" spc="400" kern="0" dirty="0">
                <a:solidFill>
                  <a:srgbClr val="C9A84C"/>
                </a:solidFill>
                <a:latin typeface="Calibri" pitchFamily="34" charset="0"/>
                <a:ea typeface="Calibri" pitchFamily="34" charset="-122"/>
                <a:cs typeface="Calibri" pitchFamily="34" charset="-120"/>
              </a:rPr>
              <a:t>FREEMARKETWATCH.WORLD</a:t>
            </a:r>
            <a:endParaRPr lang="en-US" sz="1000" dirty="0"/>
          </a:p>
        </p:txBody>
      </p:sp>
      <p:sp>
        <p:nvSpPr>
          <p:cNvPr id="5" name="Text 3"/>
          <p:cNvSpPr/>
          <p:nvPr/>
        </p:nvSpPr>
        <p:spPr>
          <a:xfrm>
            <a:off x="548640" y="1508760"/>
            <a:ext cx="5669280" cy="228600"/>
          </a:xfrm>
          <a:prstGeom prst="rect">
            <a:avLst/>
          </a:prstGeom>
          <a:noFill/>
          <a:ln/>
        </p:spPr>
        <p:txBody>
          <a:bodyPr wrap="square" lIns="0" tIns="0" rIns="0" bIns="0" rtlCol="0" anchor="ctr"/>
          <a:lstStyle/>
          <a:p>
            <a:pPr indent="0" marL="0">
              <a:buNone/>
            </a:pPr>
            <a:r>
              <a:rPr lang="en-US" sz="1100" dirty="0">
                <a:solidFill>
                  <a:srgbClr val="7A8EA8"/>
                </a:solidFill>
                <a:latin typeface="Calibri" pitchFamily="34" charset="0"/>
                <a:ea typeface="Calibri" pitchFamily="34" charset="-122"/>
                <a:cs typeface="Calibri" pitchFamily="34" charset="-120"/>
              </a:rPr>
              <a:t>Session 4 of 6  ·  ~2 hours including discussion</a:t>
            </a:r>
            <a:endParaRPr lang="en-US" sz="1100" dirty="0"/>
          </a:p>
        </p:txBody>
      </p:sp>
      <p:sp>
        <p:nvSpPr>
          <p:cNvPr id="6" name="Text 4"/>
          <p:cNvSpPr/>
          <p:nvPr/>
        </p:nvSpPr>
        <p:spPr>
          <a:xfrm>
            <a:off x="548640" y="1783080"/>
            <a:ext cx="5669280" cy="1463040"/>
          </a:xfrm>
          <a:prstGeom prst="rect">
            <a:avLst/>
          </a:prstGeom>
          <a:noFill/>
          <a:ln/>
        </p:spPr>
        <p:txBody>
          <a:bodyPr wrap="square" rtlCol="0" anchor="ctr"/>
          <a:lstStyle/>
          <a:p>
            <a:pPr indent="0" marL="0">
              <a:lnSpc>
                <a:spcPct val="115000"/>
              </a:lnSpc>
              <a:buNone/>
            </a:pPr>
            <a:r>
              <a:rPr lang="en-US" sz="4000" b="1" dirty="0">
                <a:solidFill>
                  <a:srgbClr val="FFFFFF"/>
                </a:solidFill>
                <a:latin typeface="Georgia" pitchFamily="34" charset="0"/>
                <a:ea typeface="Georgia" pitchFamily="34" charset="-122"/>
                <a:cs typeface="Georgia" pitchFamily="34" charset="-120"/>
              </a:rPr>
              <a:t>Hard Money Changes Everything</a:t>
            </a:r>
            <a:endParaRPr lang="en-US" sz="4000" dirty="0"/>
          </a:p>
        </p:txBody>
      </p:sp>
      <p:sp>
        <p:nvSpPr>
          <p:cNvPr id="7" name="Text 5"/>
          <p:cNvSpPr/>
          <p:nvPr/>
        </p:nvSpPr>
        <p:spPr>
          <a:xfrm>
            <a:off x="548640" y="3291840"/>
            <a:ext cx="5669280" cy="640080"/>
          </a:xfrm>
          <a:prstGeom prst="rect">
            <a:avLst/>
          </a:prstGeom>
          <a:noFill/>
          <a:ln/>
        </p:spPr>
        <p:txBody>
          <a:bodyPr wrap="square" rtlCol="0" anchor="ctr"/>
          <a:lstStyle/>
          <a:p>
            <a:pPr indent="0" marL="0">
              <a:lnSpc>
                <a:spcPct val="140000"/>
              </a:lnSpc>
              <a:buNone/>
            </a:pPr>
            <a:r>
              <a:rPr lang="en-US" sz="1500" dirty="0">
                <a:solidFill>
                  <a:srgbClr val="A0AEC0"/>
                </a:solidFill>
                <a:latin typeface="Calibri" pitchFamily="34" charset="0"/>
                <a:ea typeface="Calibri" pitchFamily="34" charset="-122"/>
                <a:cs typeface="Calibri" pitchFamily="34" charset="-120"/>
              </a:rPr>
              <a:t>Including how you think</a:t>
            </a:r>
            <a:endParaRPr lang="en-US" sz="1500" dirty="0"/>
          </a:p>
        </p:txBody>
      </p:sp>
      <p:sp>
        <p:nvSpPr>
          <p:cNvPr id="8" name="Text 6"/>
          <p:cNvSpPr/>
          <p:nvPr/>
        </p:nvSpPr>
        <p:spPr>
          <a:xfrm>
            <a:off x="548640" y="4773168"/>
            <a:ext cx="5669280" cy="2011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Version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Cathedral Builders</a:t>
            </a:r>
            <a:endParaRPr lang="en-US" sz="2600" dirty="0"/>
          </a:p>
        </p:txBody>
      </p:sp>
      <p:sp>
        <p:nvSpPr>
          <p:cNvPr id="3" name="Text 1"/>
          <p:cNvSpPr/>
          <p:nvPr/>
        </p:nvSpPr>
        <p:spPr>
          <a:xfrm>
            <a:off x="548640" y="960120"/>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Why do we build things that last? Cathedrals took generations to complete. The builders who laid the foundation knew they would never see the finished spire. Medieval craftsmen carved intricate details into stonework hundreds of feet above ground — details no human eye would ever clearly see.</a:t>
            </a:r>
            <a:endParaRPr lang="en-US" sz="1300" dirty="0"/>
          </a:p>
        </p:txBody>
      </p:sp>
      <p:sp>
        <p:nvSpPr>
          <p:cNvPr id="4" name="Text 2"/>
          <p:cNvSpPr/>
          <p:nvPr/>
        </p:nvSpPr>
        <p:spPr>
          <a:xfrm>
            <a:off x="548640" y="2130552"/>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They built anyway, and they built to last centuries. That was not just piety. It was a reflection of how they related to time — and how their money worked.</a:t>
            </a:r>
            <a:endParaRPr lang="en-US" sz="1300" dirty="0"/>
          </a:p>
        </p:txBody>
      </p:sp>
      <p:sp>
        <p:nvSpPr>
          <p:cNvPr id="5" name="Text 3"/>
          <p:cNvSpPr/>
          <p:nvPr/>
        </p:nvSpPr>
        <p:spPr>
          <a:xfrm>
            <a:off x="548640" y="3099816"/>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When money holds its value, the future feels real and worth investing in. When money loses value, the future feels discounted. Why build for a hundred years when you cannot reliably plan for ten?</a:t>
            </a:r>
            <a:endParaRPr lang="en-US" sz="1300" dirty="0"/>
          </a:p>
        </p:txBody>
      </p:sp>
      <p:sp>
        <p:nvSpPr>
          <p:cNvPr id="6" name="Text 4"/>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Time Preference</a:t>
            </a:r>
            <a:endParaRPr lang="en-US" sz="2600" dirty="0"/>
          </a:p>
        </p:txBody>
      </p:sp>
      <p:sp>
        <p:nvSpPr>
          <p:cNvPr id="3" name="Shape 1"/>
          <p:cNvSpPr/>
          <p:nvPr/>
        </p:nvSpPr>
        <p:spPr>
          <a:xfrm>
            <a:off x="457200" y="960120"/>
            <a:ext cx="64008" cy="1005840"/>
          </a:xfrm>
          <a:prstGeom prst="rect">
            <a:avLst/>
          </a:prstGeom>
          <a:solidFill>
            <a:srgbClr val="C9A84C"/>
          </a:solidFill>
          <a:ln w="12700">
            <a:solidFill>
              <a:srgbClr val="C9A84C"/>
            </a:solidFill>
            <a:prstDash val="solid"/>
          </a:ln>
        </p:spPr>
      </p:sp>
      <p:sp>
        <p:nvSpPr>
          <p:cNvPr id="4" name="Shape 2"/>
          <p:cNvSpPr/>
          <p:nvPr/>
        </p:nvSpPr>
        <p:spPr>
          <a:xfrm>
            <a:off x="457200" y="960120"/>
            <a:ext cx="8229600" cy="1005840"/>
          </a:xfrm>
          <a:prstGeom prst="rect">
            <a:avLst/>
          </a:prstGeom>
          <a:solidFill>
            <a:srgbClr val="1A2E5E"/>
          </a:solidFill>
          <a:ln w="12700">
            <a:solidFill>
              <a:srgbClr val="1A2E5E"/>
            </a:solidFill>
            <a:prstDash val="solid"/>
          </a:ln>
        </p:spPr>
      </p:sp>
      <p:sp>
        <p:nvSpPr>
          <p:cNvPr id="5" name="Text 3"/>
          <p:cNvSpPr/>
          <p:nvPr/>
        </p:nvSpPr>
        <p:spPr>
          <a:xfrm>
            <a:off x="685800" y="1051560"/>
            <a:ext cx="7772400" cy="822960"/>
          </a:xfrm>
          <a:prstGeom prst="rect">
            <a:avLst/>
          </a:prstGeom>
          <a:noFill/>
          <a:ln/>
        </p:spPr>
        <p:txBody>
          <a:bodyPr wrap="square" rtlCol="0" anchor="ctr"/>
          <a:lstStyle/>
          <a:p>
            <a:pPr indent="0" marL="0">
              <a:lnSpc>
                <a:spcPct val="150000"/>
              </a:lnSpc>
              <a:buNone/>
            </a:pPr>
            <a:r>
              <a:rPr lang="en-US" sz="1350" i="1" dirty="0">
                <a:solidFill>
                  <a:srgbClr val="E8EAF6"/>
                </a:solidFill>
                <a:latin typeface="Georgia" pitchFamily="34" charset="0"/>
                <a:ea typeface="Georgia" pitchFamily="34" charset="-122"/>
                <a:cs typeface="Georgia" pitchFamily="34" charset="-120"/>
              </a:rPr>
              <a:t>“Sound money does not just change what you can afford. It changes what you think is worth doing.”</a:t>
            </a:r>
            <a:endParaRPr lang="en-US" sz="1350" dirty="0"/>
          </a:p>
        </p:txBody>
      </p:sp>
      <p:sp>
        <p:nvSpPr>
          <p:cNvPr id="6" name="Text 4"/>
          <p:cNvSpPr/>
          <p:nvPr/>
        </p:nvSpPr>
        <p:spPr>
          <a:xfrm>
            <a:off x="548640" y="2075688"/>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Economists call this time preference — the degree to which people value the present over the future. Everyone has some preference for the present; that is human nature.</a:t>
            </a:r>
            <a:endParaRPr lang="en-US" sz="1300" dirty="0"/>
          </a:p>
        </p:txBody>
      </p:sp>
      <p:sp>
        <p:nvSpPr>
          <p:cNvPr id="7" name="Text 5"/>
          <p:cNvSpPr/>
          <p:nvPr/>
        </p:nvSpPr>
        <p:spPr>
          <a:xfrm>
            <a:off x="548640" y="3044952"/>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But the structure of money shapes how strong that preference is, collectively, across an entire society. Hard money lowers time preference — it makes the future feel closer, more valuable, more worth building toward.</a:t>
            </a:r>
            <a:endParaRPr lang="en-US" sz="1300" dirty="0"/>
          </a:p>
        </p:txBody>
      </p:sp>
      <p:sp>
        <p:nvSpPr>
          <p:cNvPr id="8" name="Text 6"/>
          <p:cNvSpPr/>
          <p:nvPr/>
        </p:nvSpPr>
        <p:spPr>
          <a:xfrm>
            <a:off x="548640" y="4014216"/>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Soft money does the opposite. It shortens the horizon and nudges everyone to borrow from the future to consume now. Not because people become more selfish — because the incentives change.</a:t>
            </a:r>
            <a:endParaRPr lang="en-US" sz="1300" dirty="0"/>
          </a:p>
        </p:txBody>
      </p:sp>
      <p:sp>
        <p:nvSpPr>
          <p:cNvPr id="9" name="Text 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Two Worlds</a:t>
            </a:r>
            <a:endParaRPr lang="en-US" sz="2600" dirty="0"/>
          </a:p>
        </p:txBody>
      </p:sp>
      <p:sp>
        <p:nvSpPr>
          <p:cNvPr id="3" name="Shape 1"/>
          <p:cNvSpPr/>
          <p:nvPr/>
        </p:nvSpPr>
        <p:spPr>
          <a:xfrm>
            <a:off x="457200" y="960120"/>
            <a:ext cx="4069080" cy="347472"/>
          </a:xfrm>
          <a:prstGeom prst="rect">
            <a:avLst/>
          </a:prstGeom>
          <a:solidFill>
            <a:srgbClr val="FCEBEB"/>
          </a:solidFill>
          <a:ln w="12700">
            <a:solidFill>
              <a:srgbClr val="FCEBEB"/>
            </a:solidFill>
            <a:prstDash val="solid"/>
          </a:ln>
        </p:spPr>
      </p:sp>
      <p:sp>
        <p:nvSpPr>
          <p:cNvPr id="4" name="Text 2"/>
          <p:cNvSpPr/>
          <p:nvPr/>
        </p:nvSpPr>
        <p:spPr>
          <a:xfrm>
            <a:off x="457200" y="960120"/>
            <a:ext cx="4069080" cy="347472"/>
          </a:xfrm>
          <a:prstGeom prst="rect">
            <a:avLst/>
          </a:prstGeom>
          <a:noFill/>
          <a:ln/>
        </p:spPr>
        <p:txBody>
          <a:bodyPr wrap="square" rtlCol="0" anchor="ctr"/>
          <a:lstStyle/>
          <a:p>
            <a:pPr algn="ctr" indent="0" marL="0">
              <a:buNone/>
            </a:pPr>
            <a:r>
              <a:rPr lang="en-US" sz="1200" b="1" dirty="0">
                <a:solidFill>
                  <a:srgbClr val="A32D2D"/>
                </a:solidFill>
                <a:latin typeface="Calibri" pitchFamily="34" charset="0"/>
                <a:ea typeface="Calibri" pitchFamily="34" charset="-122"/>
                <a:cs typeface="Calibri" pitchFamily="34" charset="-120"/>
              </a:rPr>
              <a:t>Soft Money World</a:t>
            </a:r>
            <a:endParaRPr lang="en-US" sz="1200" dirty="0"/>
          </a:p>
        </p:txBody>
      </p:sp>
      <p:sp>
        <p:nvSpPr>
          <p:cNvPr id="5" name="Shape 3"/>
          <p:cNvSpPr/>
          <p:nvPr/>
        </p:nvSpPr>
        <p:spPr>
          <a:xfrm>
            <a:off x="4617720" y="960120"/>
            <a:ext cx="4069080" cy="347472"/>
          </a:xfrm>
          <a:prstGeom prst="rect">
            <a:avLst/>
          </a:prstGeom>
          <a:solidFill>
            <a:srgbClr val="EAF3DE"/>
          </a:solidFill>
          <a:ln w="12700">
            <a:solidFill>
              <a:srgbClr val="EAF3DE"/>
            </a:solidFill>
            <a:prstDash val="solid"/>
          </a:ln>
        </p:spPr>
      </p:sp>
      <p:sp>
        <p:nvSpPr>
          <p:cNvPr id="6" name="Text 4"/>
          <p:cNvSpPr/>
          <p:nvPr/>
        </p:nvSpPr>
        <p:spPr>
          <a:xfrm>
            <a:off x="4617720" y="960120"/>
            <a:ext cx="4069080" cy="347472"/>
          </a:xfrm>
          <a:prstGeom prst="rect">
            <a:avLst/>
          </a:prstGeom>
          <a:noFill/>
          <a:ln/>
        </p:spPr>
        <p:txBody>
          <a:bodyPr wrap="square" rtlCol="0" anchor="ctr"/>
          <a:lstStyle/>
          <a:p>
            <a:pPr algn="ctr" indent="0" marL="0">
              <a:buNone/>
            </a:pPr>
            <a:r>
              <a:rPr lang="en-US" sz="1200" b="1" dirty="0">
                <a:solidFill>
                  <a:srgbClr val="3B6D11"/>
                </a:solidFill>
                <a:latin typeface="Calibri" pitchFamily="34" charset="0"/>
                <a:ea typeface="Calibri" pitchFamily="34" charset="-122"/>
                <a:cs typeface="Calibri" pitchFamily="34" charset="-120"/>
              </a:rPr>
              <a:t>Hard Money World</a:t>
            </a:r>
            <a:endParaRPr lang="en-US" sz="1200" dirty="0"/>
          </a:p>
        </p:txBody>
      </p:sp>
      <p:sp>
        <p:nvSpPr>
          <p:cNvPr id="7" name="Shape 5"/>
          <p:cNvSpPr/>
          <p:nvPr/>
        </p:nvSpPr>
        <p:spPr>
          <a:xfrm>
            <a:off x="457200" y="1307592"/>
            <a:ext cx="4069080" cy="680314"/>
          </a:xfrm>
          <a:prstGeom prst="rect">
            <a:avLst/>
          </a:prstGeom>
          <a:solidFill>
            <a:srgbClr val="FFFFFF"/>
          </a:solidFill>
          <a:ln w="12700">
            <a:solidFill>
              <a:srgbClr val="D1D9E6"/>
            </a:solidFill>
            <a:prstDash val="solid"/>
          </a:ln>
        </p:spPr>
      </p:sp>
      <p:sp>
        <p:nvSpPr>
          <p:cNvPr id="8" name="Text 6"/>
          <p:cNvSpPr/>
          <p:nvPr/>
        </p:nvSpPr>
        <p:spPr>
          <a:xfrm>
            <a:off x="548640" y="1344168"/>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Saving is irrational — money loses value sitting still</a:t>
            </a:r>
            <a:endParaRPr lang="en-US" sz="1100" dirty="0"/>
          </a:p>
        </p:txBody>
      </p:sp>
      <p:sp>
        <p:nvSpPr>
          <p:cNvPr id="9" name="Shape 7"/>
          <p:cNvSpPr/>
          <p:nvPr/>
        </p:nvSpPr>
        <p:spPr>
          <a:xfrm>
            <a:off x="4617720" y="1307592"/>
            <a:ext cx="4069080" cy="680314"/>
          </a:xfrm>
          <a:prstGeom prst="rect">
            <a:avLst/>
          </a:prstGeom>
          <a:solidFill>
            <a:srgbClr val="FFFFFF"/>
          </a:solidFill>
          <a:ln w="12700">
            <a:solidFill>
              <a:srgbClr val="D1D9E6"/>
            </a:solidFill>
            <a:prstDash val="solid"/>
          </a:ln>
        </p:spPr>
      </p:sp>
      <p:sp>
        <p:nvSpPr>
          <p:cNvPr id="10" name="Text 8"/>
          <p:cNvSpPr/>
          <p:nvPr/>
        </p:nvSpPr>
        <p:spPr>
          <a:xfrm>
            <a:off x="4709160" y="1344168"/>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Saving is rewarded — purchasing power holds or grows</a:t>
            </a:r>
            <a:endParaRPr lang="en-US" sz="1100" dirty="0"/>
          </a:p>
        </p:txBody>
      </p:sp>
      <p:sp>
        <p:nvSpPr>
          <p:cNvPr id="11" name="Shape 9"/>
          <p:cNvSpPr/>
          <p:nvPr/>
        </p:nvSpPr>
        <p:spPr>
          <a:xfrm>
            <a:off x="457200" y="1987906"/>
            <a:ext cx="4069080" cy="680314"/>
          </a:xfrm>
          <a:prstGeom prst="rect">
            <a:avLst/>
          </a:prstGeom>
          <a:solidFill>
            <a:srgbClr val="F9FAFB"/>
          </a:solidFill>
          <a:ln w="12700">
            <a:solidFill>
              <a:srgbClr val="D1D9E6"/>
            </a:solidFill>
            <a:prstDash val="solid"/>
          </a:ln>
        </p:spPr>
      </p:sp>
      <p:sp>
        <p:nvSpPr>
          <p:cNvPr id="12" name="Text 10"/>
          <p:cNvSpPr/>
          <p:nvPr/>
        </p:nvSpPr>
        <p:spPr>
          <a:xfrm>
            <a:off x="548640" y="2024482"/>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Debt is rational — repay with cheaper future dollars</a:t>
            </a:r>
            <a:endParaRPr lang="en-US" sz="1100" dirty="0"/>
          </a:p>
        </p:txBody>
      </p:sp>
      <p:sp>
        <p:nvSpPr>
          <p:cNvPr id="13" name="Shape 11"/>
          <p:cNvSpPr/>
          <p:nvPr/>
        </p:nvSpPr>
        <p:spPr>
          <a:xfrm>
            <a:off x="4617720" y="1987906"/>
            <a:ext cx="4069080" cy="680314"/>
          </a:xfrm>
          <a:prstGeom prst="rect">
            <a:avLst/>
          </a:prstGeom>
          <a:solidFill>
            <a:srgbClr val="F9FAFB"/>
          </a:solidFill>
          <a:ln w="12700">
            <a:solidFill>
              <a:srgbClr val="D1D9E6"/>
            </a:solidFill>
            <a:prstDash val="solid"/>
          </a:ln>
        </p:spPr>
      </p:sp>
      <p:sp>
        <p:nvSpPr>
          <p:cNvPr id="14" name="Text 12"/>
          <p:cNvSpPr/>
          <p:nvPr/>
        </p:nvSpPr>
        <p:spPr>
          <a:xfrm>
            <a:off x="4709160" y="2024482"/>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Debt is a serious commitment — costs what it costs</a:t>
            </a:r>
            <a:endParaRPr lang="en-US" sz="1100" dirty="0"/>
          </a:p>
        </p:txBody>
      </p:sp>
      <p:sp>
        <p:nvSpPr>
          <p:cNvPr id="15" name="Shape 13"/>
          <p:cNvSpPr/>
          <p:nvPr/>
        </p:nvSpPr>
        <p:spPr>
          <a:xfrm>
            <a:off x="457200" y="2668219"/>
            <a:ext cx="4069080" cy="680314"/>
          </a:xfrm>
          <a:prstGeom prst="rect">
            <a:avLst/>
          </a:prstGeom>
          <a:solidFill>
            <a:srgbClr val="FFFFFF"/>
          </a:solidFill>
          <a:ln w="12700">
            <a:solidFill>
              <a:srgbClr val="D1D9E6"/>
            </a:solidFill>
            <a:prstDash val="solid"/>
          </a:ln>
        </p:spPr>
      </p:sp>
      <p:sp>
        <p:nvSpPr>
          <p:cNvPr id="16" name="Text 14"/>
          <p:cNvSpPr/>
          <p:nvPr/>
        </p:nvSpPr>
        <p:spPr>
          <a:xfrm>
            <a:off x="548640" y="2704795"/>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Build to be replaced — planned obsolescence wins</a:t>
            </a:r>
            <a:endParaRPr lang="en-US" sz="1100" dirty="0"/>
          </a:p>
        </p:txBody>
      </p:sp>
      <p:sp>
        <p:nvSpPr>
          <p:cNvPr id="17" name="Shape 15"/>
          <p:cNvSpPr/>
          <p:nvPr/>
        </p:nvSpPr>
        <p:spPr>
          <a:xfrm>
            <a:off x="4617720" y="2668219"/>
            <a:ext cx="4069080" cy="680314"/>
          </a:xfrm>
          <a:prstGeom prst="rect">
            <a:avLst/>
          </a:prstGeom>
          <a:solidFill>
            <a:srgbClr val="FFFFFF"/>
          </a:solidFill>
          <a:ln w="12700">
            <a:solidFill>
              <a:srgbClr val="D1D9E6"/>
            </a:solidFill>
            <a:prstDash val="solid"/>
          </a:ln>
        </p:spPr>
      </p:sp>
      <p:sp>
        <p:nvSpPr>
          <p:cNvPr id="18" name="Text 16"/>
          <p:cNvSpPr/>
          <p:nvPr/>
        </p:nvSpPr>
        <p:spPr>
          <a:xfrm>
            <a:off x="4709160" y="2704795"/>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Build to last — reputation compounds over generations</a:t>
            </a:r>
            <a:endParaRPr lang="en-US" sz="1100" dirty="0"/>
          </a:p>
        </p:txBody>
      </p:sp>
      <p:sp>
        <p:nvSpPr>
          <p:cNvPr id="19" name="Shape 17"/>
          <p:cNvSpPr/>
          <p:nvPr/>
        </p:nvSpPr>
        <p:spPr>
          <a:xfrm>
            <a:off x="457200" y="3348533"/>
            <a:ext cx="4069080" cy="680314"/>
          </a:xfrm>
          <a:prstGeom prst="rect">
            <a:avLst/>
          </a:prstGeom>
          <a:solidFill>
            <a:srgbClr val="F9FAFB"/>
          </a:solidFill>
          <a:ln w="12700">
            <a:solidFill>
              <a:srgbClr val="D1D9E6"/>
            </a:solidFill>
            <a:prstDash val="solid"/>
          </a:ln>
        </p:spPr>
      </p:sp>
      <p:sp>
        <p:nvSpPr>
          <p:cNvPr id="20" name="Text 18"/>
          <p:cNvSpPr/>
          <p:nvPr/>
        </p:nvSpPr>
        <p:spPr>
          <a:xfrm>
            <a:off x="548640" y="3385109"/>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Governments borrow indefinitely — cost socialized through inflation without a vote</a:t>
            </a:r>
            <a:endParaRPr lang="en-US" sz="1100" dirty="0"/>
          </a:p>
        </p:txBody>
      </p:sp>
      <p:sp>
        <p:nvSpPr>
          <p:cNvPr id="21" name="Shape 19"/>
          <p:cNvSpPr/>
          <p:nvPr/>
        </p:nvSpPr>
        <p:spPr>
          <a:xfrm>
            <a:off x="4617720" y="3348533"/>
            <a:ext cx="4069080" cy="680314"/>
          </a:xfrm>
          <a:prstGeom prst="rect">
            <a:avLst/>
          </a:prstGeom>
          <a:solidFill>
            <a:srgbClr val="F9FAFB"/>
          </a:solidFill>
          <a:ln w="12700">
            <a:solidFill>
              <a:srgbClr val="D1D9E6"/>
            </a:solidFill>
            <a:prstDash val="solid"/>
          </a:ln>
        </p:spPr>
      </p:sp>
      <p:sp>
        <p:nvSpPr>
          <p:cNvPr id="22" name="Text 20"/>
          <p:cNvSpPr/>
          <p:nvPr/>
        </p:nvSpPr>
        <p:spPr>
          <a:xfrm>
            <a:off x="4709160" y="3385109"/>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Governments must balance — no free money to conjure</a:t>
            </a:r>
            <a:endParaRPr lang="en-US" sz="1100" dirty="0"/>
          </a:p>
        </p:txBody>
      </p:sp>
      <p:sp>
        <p:nvSpPr>
          <p:cNvPr id="23" name="Shape 21"/>
          <p:cNvSpPr/>
          <p:nvPr/>
        </p:nvSpPr>
        <p:spPr>
          <a:xfrm>
            <a:off x="457200" y="4028846"/>
            <a:ext cx="4069080" cy="680314"/>
          </a:xfrm>
          <a:prstGeom prst="rect">
            <a:avLst/>
          </a:prstGeom>
          <a:solidFill>
            <a:srgbClr val="FFFFFF"/>
          </a:solidFill>
          <a:ln w="12700">
            <a:solidFill>
              <a:srgbClr val="D1D9E6"/>
            </a:solidFill>
            <a:prstDash val="solid"/>
          </a:ln>
        </p:spPr>
      </p:sp>
      <p:sp>
        <p:nvSpPr>
          <p:cNvPr id="24" name="Text 22"/>
          <p:cNvSpPr/>
          <p:nvPr/>
        </p:nvSpPr>
        <p:spPr>
          <a:xfrm>
            <a:off x="548640" y="4065422"/>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Culture optimizes for the immediate and disposable</a:t>
            </a:r>
            <a:endParaRPr lang="en-US" sz="1100" dirty="0"/>
          </a:p>
        </p:txBody>
      </p:sp>
      <p:sp>
        <p:nvSpPr>
          <p:cNvPr id="25" name="Shape 23"/>
          <p:cNvSpPr/>
          <p:nvPr/>
        </p:nvSpPr>
        <p:spPr>
          <a:xfrm>
            <a:off x="4617720" y="4028846"/>
            <a:ext cx="4069080" cy="680314"/>
          </a:xfrm>
          <a:prstGeom prst="rect">
            <a:avLst/>
          </a:prstGeom>
          <a:solidFill>
            <a:srgbClr val="FFFFFF"/>
          </a:solidFill>
          <a:ln w="12700">
            <a:solidFill>
              <a:srgbClr val="D1D9E6"/>
            </a:solidFill>
            <a:prstDash val="solid"/>
          </a:ln>
        </p:spPr>
      </p:sp>
      <p:sp>
        <p:nvSpPr>
          <p:cNvPr id="26" name="Text 24"/>
          <p:cNvSpPr/>
          <p:nvPr/>
        </p:nvSpPr>
        <p:spPr>
          <a:xfrm>
            <a:off x="4709160" y="4065422"/>
            <a:ext cx="3886200" cy="607162"/>
          </a:xfrm>
          <a:prstGeom prst="rect">
            <a:avLst/>
          </a:prstGeom>
          <a:noFill/>
          <a:ln/>
        </p:spPr>
        <p:txBody>
          <a:bodyPr wrap="square" rtlCol="0" anchor="ctr"/>
          <a:lstStyle/>
          <a:p>
            <a:pPr indent="0" marL="0">
              <a:lnSpc>
                <a:spcPct val="130000"/>
              </a:lnSpc>
              <a:buNone/>
            </a:pPr>
            <a:r>
              <a:rPr lang="en-US" sz="1100" dirty="0">
                <a:solidFill>
                  <a:srgbClr val="4A5568"/>
                </a:solidFill>
                <a:latin typeface="Calibri" pitchFamily="34" charset="0"/>
                <a:ea typeface="Calibri" pitchFamily="34" charset="-122"/>
                <a:cs typeface="Calibri" pitchFamily="34" charset="-120"/>
              </a:rPr>
              <a:t>Culture invests in the enduring — built to outlast its makers</a:t>
            </a:r>
            <a:endParaRPr lang="en-US" sz="1100" dirty="0"/>
          </a:p>
        </p:txBody>
      </p:sp>
      <p:sp>
        <p:nvSpPr>
          <p:cNvPr id="27" name="Text 25"/>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Historical Evidence</a:t>
            </a:r>
            <a:endParaRPr lang="en-US" sz="2600" dirty="0"/>
          </a:p>
        </p:txBody>
      </p:sp>
      <p:sp>
        <p:nvSpPr>
          <p:cNvPr id="3" name="Shape 1"/>
          <p:cNvSpPr/>
          <p:nvPr/>
        </p:nvSpPr>
        <p:spPr>
          <a:xfrm>
            <a:off x="4572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4" name="Text 2"/>
          <p:cNvSpPr/>
          <p:nvPr/>
        </p:nvSpPr>
        <p:spPr>
          <a:xfrm>
            <a:off x="4572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1870</a:t>
            </a:r>
            <a:endParaRPr lang="en-US" sz="3600" dirty="0"/>
          </a:p>
        </p:txBody>
      </p:sp>
      <p:sp>
        <p:nvSpPr>
          <p:cNvPr id="5" name="Text 3"/>
          <p:cNvSpPr/>
          <p:nvPr/>
        </p:nvSpPr>
        <p:spPr>
          <a:xfrm>
            <a:off x="5943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Start of the classical gold standard era</a:t>
            </a:r>
            <a:endParaRPr lang="en-US" sz="1100" dirty="0"/>
          </a:p>
        </p:txBody>
      </p:sp>
      <p:sp>
        <p:nvSpPr>
          <p:cNvPr id="6" name="Shape 4"/>
          <p:cNvSpPr/>
          <p:nvPr/>
        </p:nvSpPr>
        <p:spPr>
          <a:xfrm>
            <a:off x="32004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7" name="Text 5"/>
          <p:cNvSpPr/>
          <p:nvPr/>
        </p:nvSpPr>
        <p:spPr>
          <a:xfrm>
            <a:off x="32004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40%</a:t>
            </a:r>
            <a:endParaRPr lang="en-US" sz="3600" dirty="0"/>
          </a:p>
        </p:txBody>
      </p:sp>
      <p:sp>
        <p:nvSpPr>
          <p:cNvPr id="8" name="Text 6"/>
          <p:cNvSpPr/>
          <p:nvPr/>
        </p:nvSpPr>
        <p:spPr>
          <a:xfrm>
            <a:off x="33375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Rise in real wages for US workers from 1870 to 1914 — broad-based prosperity</a:t>
            </a:r>
            <a:endParaRPr lang="en-US" sz="1100" dirty="0"/>
          </a:p>
        </p:txBody>
      </p:sp>
      <p:sp>
        <p:nvSpPr>
          <p:cNvPr id="9" name="Shape 7"/>
          <p:cNvSpPr/>
          <p:nvPr/>
        </p:nvSpPr>
        <p:spPr>
          <a:xfrm>
            <a:off x="5943600" y="1005840"/>
            <a:ext cx="2606040" cy="1554480"/>
          </a:xfrm>
          <a:prstGeom prst="rect">
            <a:avLst/>
          </a:prstGeom>
          <a:solidFill>
            <a:srgbClr val="1A2E5E"/>
          </a:solidFill>
          <a:ln w="12700">
            <a:solidFill>
              <a:srgbClr val="1A2E5E"/>
            </a:solidFill>
            <a:prstDash val="solid"/>
          </a:ln>
          <a:effectLst>
            <a:outerShdw sx="100000" sy="100000" kx="0" ky="0" algn="bl" rotWithShape="0" blurRad="50800" dist="12700" dir="8100000">
              <a:srgbClr val="000000">
                <a:alpha val="8000"/>
              </a:srgbClr>
            </a:outerShdw>
          </a:effectLst>
        </p:spPr>
      </p:sp>
      <p:sp>
        <p:nvSpPr>
          <p:cNvPr id="10" name="Text 8"/>
          <p:cNvSpPr/>
          <p:nvPr/>
        </p:nvSpPr>
        <p:spPr>
          <a:xfrm>
            <a:off x="5943600" y="1097280"/>
            <a:ext cx="2606040" cy="777240"/>
          </a:xfrm>
          <a:prstGeom prst="rect">
            <a:avLst/>
          </a:prstGeom>
          <a:noFill/>
          <a:ln/>
        </p:spPr>
        <p:txBody>
          <a:bodyPr wrap="square" rtlCol="0" anchor="ctr"/>
          <a:lstStyle/>
          <a:p>
            <a:pPr algn="ctr" indent="0" marL="0">
              <a:buNone/>
            </a:pPr>
            <a:r>
              <a:rPr lang="en-US" sz="3600" b="1" dirty="0">
                <a:solidFill>
                  <a:srgbClr val="C9A84C"/>
                </a:solidFill>
                <a:latin typeface="Georgia" pitchFamily="34" charset="0"/>
                <a:ea typeface="Georgia" pitchFamily="34" charset="-122"/>
                <a:cs typeface="Georgia" pitchFamily="34" charset="-120"/>
              </a:rPr>
              <a:t>1914</a:t>
            </a:r>
            <a:endParaRPr lang="en-US" sz="3600" dirty="0"/>
          </a:p>
        </p:txBody>
      </p:sp>
      <p:sp>
        <p:nvSpPr>
          <p:cNvPr id="11" name="Text 9"/>
          <p:cNvSpPr/>
          <p:nvPr/>
        </p:nvSpPr>
        <p:spPr>
          <a:xfrm>
            <a:off x="6080760" y="1874520"/>
            <a:ext cx="2331720" cy="548640"/>
          </a:xfrm>
          <a:prstGeom prst="rect">
            <a:avLst/>
          </a:prstGeom>
          <a:noFill/>
          <a:ln/>
        </p:spPr>
        <p:txBody>
          <a:bodyPr wrap="square" rtlCol="0" anchor="ctr"/>
          <a:lstStyle/>
          <a:p>
            <a:pPr algn="ctr" indent="0" marL="0">
              <a:lnSpc>
                <a:spcPct val="130000"/>
              </a:lnSpc>
              <a:buNone/>
            </a:pPr>
            <a:r>
              <a:rPr lang="en-US" sz="1100" dirty="0">
                <a:solidFill>
                  <a:srgbClr val="E8EAF6"/>
                </a:solidFill>
                <a:latin typeface="Calibri" pitchFamily="34" charset="0"/>
                <a:ea typeface="Calibri" pitchFamily="34" charset="-122"/>
                <a:cs typeface="Calibri" pitchFamily="34" charset="-120"/>
              </a:rPr>
              <a:t>World War I — governments needed to fund war gold couldn't pay for. The standard was suspended.</a:t>
            </a:r>
            <a:endParaRPr lang="en-US" sz="1100" dirty="0"/>
          </a:p>
        </p:txBody>
      </p:sp>
      <p:sp>
        <p:nvSpPr>
          <p:cNvPr id="12" name="Text 10"/>
          <p:cNvSpPr/>
          <p:nvPr/>
        </p:nvSpPr>
        <p:spPr>
          <a:xfrm>
            <a:off x="548640" y="2743200"/>
            <a:ext cx="8046720" cy="1645920"/>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 gold standard era produced more sustained economic growth, more technological invention, and more broadly shared prosperity than any comparable period before or since. Price stability meant you could plan decades ahead. That is not a coincidence.</a:t>
            </a:r>
            <a:endParaRPr lang="en-US" sz="1300" dirty="0"/>
          </a:p>
        </p:txBody>
      </p:sp>
      <p:sp>
        <p:nvSpPr>
          <p:cNvPr id="13" name="Text 11"/>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Why We Abandoned It</a:t>
            </a:r>
            <a:endParaRPr lang="en-US" sz="2600" dirty="0"/>
          </a:p>
        </p:txBody>
      </p:sp>
      <p:sp>
        <p:nvSpPr>
          <p:cNvPr id="3" name="Text 1"/>
          <p:cNvSpPr/>
          <p:nvPr/>
        </p:nvSpPr>
        <p:spPr>
          <a:xfrm>
            <a:off x="548640" y="960120"/>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Not because hard money failed. Because it constrained power. Governments could not fund wars, expand welfare states, or bail out failing institutions while bound by gold.</a:t>
            </a:r>
            <a:endParaRPr lang="en-US" sz="1300" dirty="0"/>
          </a:p>
        </p:txBody>
      </p:sp>
      <p:sp>
        <p:nvSpPr>
          <p:cNvPr id="4" name="Text 2"/>
          <p:cNvSpPr/>
          <p:nvPr/>
        </p:nvSpPr>
        <p:spPr>
          <a:xfrm>
            <a:off x="548640" y="1929384"/>
            <a:ext cx="8046720" cy="859536"/>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 discipline that made hard money good for citizens made it inconvenient for governments. One by one, the constraints were loosened — until 1971, when the last one was removed entirely.</a:t>
            </a:r>
            <a:endParaRPr lang="en-US" sz="1300" dirty="0"/>
          </a:p>
        </p:txBody>
      </p:sp>
      <p:sp>
        <p:nvSpPr>
          <p:cNvPr id="5" name="Text 3"/>
          <p:cNvSpPr/>
          <p:nvPr/>
        </p:nvSpPr>
        <p:spPr>
          <a:xfrm>
            <a:off x="548640" y="2898648"/>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The question that follows is obvious: if gold was the best hard money humanity ever found — and its only flaw was that it could not be transported and verified without trusting a third party — what would happen if that flaw could be fixed?</a:t>
            </a:r>
            <a:endParaRPr lang="en-US" sz="1300" dirty="0"/>
          </a:p>
        </p:txBody>
      </p:sp>
      <p:sp>
        <p:nvSpPr>
          <p:cNvPr id="6" name="Text 4"/>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457200"/>
            <a:ext cx="8229600" cy="41148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DISCUSSION — Session 4</a:t>
            </a:r>
            <a:endParaRPr lang="en-US" sz="2000" dirty="0"/>
          </a:p>
        </p:txBody>
      </p:sp>
      <p:sp>
        <p:nvSpPr>
          <p:cNvPr id="4" name="Shape 2"/>
          <p:cNvSpPr/>
          <p:nvPr/>
        </p:nvSpPr>
        <p:spPr>
          <a:xfrm>
            <a:off x="457200" y="1005840"/>
            <a:ext cx="8229600" cy="713232"/>
          </a:xfrm>
          <a:prstGeom prst="rect">
            <a:avLst/>
          </a:prstGeom>
          <a:solidFill>
            <a:srgbClr val="1E3A6E"/>
          </a:solidFill>
          <a:ln w="12700">
            <a:solidFill>
              <a:srgbClr val="2A4A7E"/>
            </a:solidFill>
            <a:prstDash val="solid"/>
          </a:ln>
        </p:spPr>
      </p:sp>
      <p:sp>
        <p:nvSpPr>
          <p:cNvPr id="5" name="Text 3"/>
          <p:cNvSpPr/>
          <p:nvPr/>
        </p:nvSpPr>
        <p:spPr>
          <a:xfrm>
            <a:off x="640080" y="107899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1.  Can you think of something in your community built with cathedral-level long-term thinking? Is that still happening?</a:t>
            </a:r>
            <a:endParaRPr lang="en-US" sz="1250" dirty="0"/>
          </a:p>
        </p:txBody>
      </p:sp>
      <p:sp>
        <p:nvSpPr>
          <p:cNvPr id="6" name="Shape 4"/>
          <p:cNvSpPr/>
          <p:nvPr/>
        </p:nvSpPr>
        <p:spPr>
          <a:xfrm>
            <a:off x="457200" y="1874520"/>
            <a:ext cx="8229600" cy="713232"/>
          </a:xfrm>
          <a:prstGeom prst="rect">
            <a:avLst/>
          </a:prstGeom>
          <a:solidFill>
            <a:srgbClr val="1E3A6E"/>
          </a:solidFill>
          <a:ln w="12700">
            <a:solidFill>
              <a:srgbClr val="2A4A7E"/>
            </a:solidFill>
            <a:prstDash val="solid"/>
          </a:ln>
        </p:spPr>
      </p:sp>
      <p:sp>
        <p:nvSpPr>
          <p:cNvPr id="7" name="Text 5"/>
          <p:cNvSpPr/>
          <p:nvPr/>
        </p:nvSpPr>
        <p:spPr>
          <a:xfrm>
            <a:off x="640080" y="194767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2.  "The gold standard didn't fail — it was abandoned by those it constrained." Does that change how you think about monetary history?</a:t>
            </a:r>
            <a:endParaRPr lang="en-US" sz="1250" dirty="0"/>
          </a:p>
        </p:txBody>
      </p:sp>
      <p:sp>
        <p:nvSpPr>
          <p:cNvPr id="8" name="Shape 6"/>
          <p:cNvSpPr/>
          <p:nvPr/>
        </p:nvSpPr>
        <p:spPr>
          <a:xfrm>
            <a:off x="457200" y="2743200"/>
            <a:ext cx="8229600" cy="713232"/>
          </a:xfrm>
          <a:prstGeom prst="rect">
            <a:avLst/>
          </a:prstGeom>
          <a:solidFill>
            <a:srgbClr val="1E3A6E"/>
          </a:solidFill>
          <a:ln w="12700">
            <a:solidFill>
              <a:srgbClr val="2A4A7E"/>
            </a:solidFill>
            <a:prstDash val="solid"/>
          </a:ln>
        </p:spPr>
      </p:sp>
      <p:sp>
        <p:nvSpPr>
          <p:cNvPr id="9" name="Text 7"/>
          <p:cNvSpPr/>
          <p:nvPr/>
        </p:nvSpPr>
        <p:spPr>
          <a:xfrm>
            <a:off x="640080" y="281635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3.  If savings actually held value, what would you do differently — in your business, your family, your community?</a:t>
            </a:r>
            <a:endParaRPr lang="en-US" sz="1250" dirty="0"/>
          </a:p>
        </p:txBody>
      </p:sp>
      <p:sp>
        <p:nvSpPr>
          <p:cNvPr id="10" name="Shape 8"/>
          <p:cNvSpPr/>
          <p:nvPr/>
        </p:nvSpPr>
        <p:spPr>
          <a:xfrm>
            <a:off x="457200" y="3611880"/>
            <a:ext cx="8229600" cy="713232"/>
          </a:xfrm>
          <a:prstGeom prst="rect">
            <a:avLst/>
          </a:prstGeom>
          <a:solidFill>
            <a:srgbClr val="1E3A6E"/>
          </a:solidFill>
          <a:ln w="12700">
            <a:solidFill>
              <a:srgbClr val="2A4A7E"/>
            </a:solidFill>
            <a:prstDash val="solid"/>
          </a:ln>
        </p:spPr>
      </p:sp>
      <p:sp>
        <p:nvSpPr>
          <p:cNvPr id="11" name="Text 9"/>
          <p:cNvSpPr/>
          <p:nvPr/>
        </p:nvSpPr>
        <p:spPr>
          <a:xfrm>
            <a:off x="640080" y="3685032"/>
            <a:ext cx="7863840" cy="566928"/>
          </a:xfrm>
          <a:prstGeom prst="rect">
            <a:avLst/>
          </a:prstGeom>
          <a:noFill/>
          <a:ln/>
        </p:spPr>
        <p:txBody>
          <a:bodyPr wrap="square" rtlCol="0" anchor="ctr"/>
          <a:lstStyle/>
          <a:p>
            <a:pPr indent="0" marL="0">
              <a:lnSpc>
                <a:spcPct val="140000"/>
              </a:lnSpc>
              <a:buNone/>
            </a:pPr>
            <a:r>
              <a:rPr lang="en-US" sz="1250" dirty="0">
                <a:solidFill>
                  <a:srgbClr val="E8EAF6"/>
                </a:solidFill>
                <a:latin typeface="Calibri" pitchFamily="34" charset="0"/>
                <a:ea typeface="Calibri" pitchFamily="34" charset="-122"/>
                <a:cs typeface="Calibri" pitchFamily="34" charset="-120"/>
              </a:rPr>
              <a:t>4.  We've identified the problem and the historical alternative. What is the obvious question we haven't answered yet?</a:t>
            </a:r>
            <a:endParaRPr lang="en-US" sz="1250" dirty="0"/>
          </a:p>
        </p:txBody>
      </p:sp>
      <p:sp>
        <p:nvSpPr>
          <p:cNvPr id="12" name="Text 10"/>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Coming Next — Session 5</a:t>
            </a:r>
            <a:endParaRPr lang="en-US" sz="2600" dirty="0"/>
          </a:p>
        </p:txBody>
      </p:sp>
      <p:sp>
        <p:nvSpPr>
          <p:cNvPr id="4" name="Shape 2"/>
          <p:cNvSpPr/>
          <p:nvPr/>
        </p:nvSpPr>
        <p:spPr>
          <a:xfrm>
            <a:off x="457200" y="1188720"/>
            <a:ext cx="8229600" cy="1371600"/>
          </a:xfrm>
          <a:prstGeom prst="rect">
            <a:avLst/>
          </a:prstGeom>
          <a:solidFill>
            <a:srgbClr val="1A2E5E"/>
          </a:solidFill>
          <a:ln w="12700">
            <a:solidFill>
              <a:srgbClr val="1A2E5E"/>
            </a:solidFill>
            <a:prstDash val="solid"/>
          </a:ln>
        </p:spPr>
      </p:sp>
      <p:sp>
        <p:nvSpPr>
          <p:cNvPr id="5" name="Text 3"/>
          <p:cNvSpPr/>
          <p:nvPr/>
        </p:nvSpPr>
        <p:spPr>
          <a:xfrm>
            <a:off x="640080" y="1280160"/>
            <a:ext cx="7863840" cy="1188720"/>
          </a:xfrm>
          <a:prstGeom prst="rect">
            <a:avLst/>
          </a:prstGeom>
          <a:noFill/>
          <a:ln/>
        </p:spPr>
        <p:txBody>
          <a:bodyPr wrap="square" rtlCol="0" anchor="ctr"/>
          <a:lstStyle/>
          <a:p>
            <a:pPr indent="0" marL="0">
              <a:lnSpc>
                <a:spcPct val="160000"/>
              </a:lnSpc>
              <a:buNone/>
            </a:pPr>
            <a:r>
              <a:rPr lang="en-US" sz="1500" i="1" dirty="0">
                <a:solidFill>
                  <a:srgbClr val="E8EAF6"/>
                </a:solidFill>
                <a:latin typeface="Georgia" pitchFamily="34" charset="0"/>
                <a:ea typeface="Georgia" pitchFamily="34" charset="-122"/>
                <a:cs typeface="Georgia" pitchFamily="34" charset="-120"/>
              </a:rPr>
              <a:t>“For the first time in history, gold's fatal flaw has been fixed. Not by a government, not by a bank — by mathematics.”</a:t>
            </a:r>
            <a:endParaRPr lang="en-US" sz="1500" dirty="0"/>
          </a:p>
        </p:txBody>
      </p:sp>
      <p:sp>
        <p:nvSpPr>
          <p:cNvPr id="6" name="Shape 4"/>
          <p:cNvSpPr/>
          <p:nvPr/>
        </p:nvSpPr>
        <p:spPr>
          <a:xfrm>
            <a:off x="457200" y="2834640"/>
            <a:ext cx="2651760" cy="1463040"/>
          </a:xfrm>
          <a:prstGeom prst="rect">
            <a:avLst/>
          </a:prstGeom>
          <a:solidFill>
            <a:srgbClr val="111827"/>
          </a:solidFill>
          <a:ln w="12700">
            <a:solidFill>
              <a:srgbClr val="1F2937"/>
            </a:solidFill>
            <a:prstDash val="solid"/>
          </a:ln>
        </p:spPr>
      </p:sp>
      <p:sp>
        <p:nvSpPr>
          <p:cNvPr id="7" name="Text 5"/>
          <p:cNvSpPr/>
          <p:nvPr/>
        </p:nvSpPr>
        <p:spPr>
          <a:xfrm>
            <a:off x="59436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Homework prompt</a:t>
            </a:r>
            <a:endParaRPr lang="en-US" sz="1200" dirty="0"/>
          </a:p>
        </p:txBody>
      </p:sp>
      <p:sp>
        <p:nvSpPr>
          <p:cNvPr id="8" name="Text 6"/>
          <p:cNvSpPr/>
          <p:nvPr/>
        </p:nvSpPr>
        <p:spPr>
          <a:xfrm>
            <a:off x="59436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Think of something in your life built to last — a tool, a building, a relationship. What made that long-term investment possible? What would have prevented it?</a:t>
            </a:r>
            <a:endParaRPr lang="en-US" sz="1050" dirty="0"/>
          </a:p>
        </p:txBody>
      </p:sp>
      <p:sp>
        <p:nvSpPr>
          <p:cNvPr id="9" name="Shape 7"/>
          <p:cNvSpPr/>
          <p:nvPr/>
        </p:nvSpPr>
        <p:spPr>
          <a:xfrm>
            <a:off x="3291840" y="2834640"/>
            <a:ext cx="2651760" cy="1463040"/>
          </a:xfrm>
          <a:prstGeom prst="rect">
            <a:avLst/>
          </a:prstGeom>
          <a:solidFill>
            <a:srgbClr val="111827"/>
          </a:solidFill>
          <a:ln w="12700">
            <a:solidFill>
              <a:srgbClr val="1F2937"/>
            </a:solidFill>
            <a:prstDash val="solid"/>
          </a:ln>
        </p:spPr>
      </p:sp>
      <p:sp>
        <p:nvSpPr>
          <p:cNvPr id="10" name="Text 8"/>
          <p:cNvSpPr/>
          <p:nvPr/>
        </p:nvSpPr>
        <p:spPr>
          <a:xfrm>
            <a:off x="342900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Explore the data</a:t>
            </a:r>
            <a:endParaRPr lang="en-US" sz="1200" dirty="0"/>
          </a:p>
        </p:txBody>
      </p:sp>
      <p:sp>
        <p:nvSpPr>
          <p:cNvPr id="11" name="Text 9"/>
          <p:cNvSpPr/>
          <p:nvPr/>
        </p:nvSpPr>
        <p:spPr>
          <a:xfrm>
            <a:off x="342900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freemarketwatch.world — compare hard assets (gold, bitcoin) vs currencies over 10 years</a:t>
            </a:r>
            <a:endParaRPr lang="en-US" sz="1050" dirty="0"/>
          </a:p>
        </p:txBody>
      </p:sp>
      <p:sp>
        <p:nvSpPr>
          <p:cNvPr id="12" name="Shape 10"/>
          <p:cNvSpPr/>
          <p:nvPr/>
        </p:nvSpPr>
        <p:spPr>
          <a:xfrm>
            <a:off x="6126480" y="2834640"/>
            <a:ext cx="2651760" cy="1463040"/>
          </a:xfrm>
          <a:prstGeom prst="rect">
            <a:avLst/>
          </a:prstGeom>
          <a:solidFill>
            <a:srgbClr val="111827"/>
          </a:solidFill>
          <a:ln w="12700">
            <a:solidFill>
              <a:srgbClr val="1F2937"/>
            </a:solidFill>
            <a:prstDash val="solid"/>
          </a:ln>
        </p:spPr>
      </p:sp>
      <p:sp>
        <p:nvSpPr>
          <p:cNvPr id="13" name="Text 11"/>
          <p:cNvSpPr/>
          <p:nvPr/>
        </p:nvSpPr>
        <p:spPr>
          <a:xfrm>
            <a:off x="626364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Session 5 preview</a:t>
            </a:r>
            <a:endParaRPr lang="en-US" sz="1200" dirty="0"/>
          </a:p>
        </p:txBody>
      </p:sp>
      <p:sp>
        <p:nvSpPr>
          <p:cNvPr id="14" name="Text 12"/>
          <p:cNvSpPr/>
          <p:nvPr/>
        </p:nvSpPr>
        <p:spPr>
          <a:xfrm>
            <a:off x="626364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Bitcoin — why it is not speculation, what problem it actually solves, and why it is the natural conclusion of everything we've learned</a:t>
            </a:r>
            <a:endParaRPr lang="en-US" sz="1050" dirty="0"/>
          </a:p>
        </p:txBody>
      </p:sp>
      <p:sp>
        <p:nvSpPr>
          <p:cNvPr id="15" name="Text 13"/>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2026-05-25T15:22:23Z</dcterms:created>
  <dcterms:modified xsi:type="dcterms:W3CDTF">2026-05-25T15:22:23Z</dcterms:modified>
</cp:coreProperties>
</file>