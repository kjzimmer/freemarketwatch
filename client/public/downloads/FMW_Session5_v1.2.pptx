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5 — THE RESOLUTION.
Recap all four sessions in 10 minutes: money from trade → gold won → flaw exploited → blast radius → hard money restores.
"Tonight I'm going to tell you about Bitcoin. Not the price. Not whether to buy it. The idea — what problem it solves and why that matters. Whether you ever own a single satoshi, understanding this changes how you think about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pull quote is the pivot point of the entire six-session series. Let it land.
"Going back to gold would repeat the same cycle. The flaw is structural — physical gold requires physical trust, and physical trust is always eventually abused."
Then: "In 2009, something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say that again: the first money in human history with a provably fixed supply. Not a promise. Not a policy. Mathematics."
"Bitcoin is not a company. There is no CEO, no board, no headquarters to raid or shut down. It is a protocol — running on thousands of computers simultaneously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wins on every property — and Bitcoin matches it. But Bitcoin solves the one property gold never could: portability without trust."
"That removes the pressure point that every previous hard money system eventually collapsed through."
Walk through the grid property by property. Spend extra time on portability — it is the core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these one at a time. Invite pushback. You are not trying to sell Bitcoin — you are helping people think clearly.
On energy: be honest. "It uses significant energy. The question is whether the value of sound money justifies it. I think it does, but it's a fair question."
Also be ready for: "What about CBDCs?" — A government digital currency is the opposite of Bitcoin. Programmable, controllable, and issued without limit by the same institutions that debased the money we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 steel-man — generates the best discussion. The strongest arguments:
- Regulatory risk (real)
- Technical failure risk (small but real)
- Adoption may not happen in our lifetimes (possible)
- Competing sound money technologies (possible)
Engage these honestly. You're helping people think, not recruiting.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6 is the landing. We connect all the dots, answer the remaining questions, and talk about what to do with this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11827"/>
          </a:solidFill>
          <a:ln w="12700">
            <a:solidFill>
              <a:srgbClr val="111827"/>
            </a:solidFill>
            <a:prstDash val="solid"/>
          </a:ln>
        </p:spPr>
      </p:sp>
      <p:sp>
        <p:nvSpPr>
          <p:cNvPr id="3" name="Shape 1"/>
          <p:cNvSpPr/>
          <p:nvPr/>
        </p:nvSpPr>
        <p:spPr>
          <a:xfrm>
            <a:off x="6583680" y="0"/>
            <a:ext cx="54864" cy="5143500"/>
          </a:xfrm>
          <a:prstGeom prst="rect">
            <a:avLst/>
          </a:prstGeom>
          <a:solidFill>
            <a:srgbClr val="C9A84C"/>
          </a:solidFill>
          <a:ln w="12700">
            <a:solidFill>
              <a:srgbClr val="C9A84C"/>
            </a:solidFill>
            <a:prstDash val="solid"/>
          </a:ln>
        </p:spPr>
      </p:sp>
      <p:sp>
        <p:nvSpPr>
          <p:cNvPr id="4" name="Text 2"/>
          <p:cNvSpPr/>
          <p:nvPr/>
        </p:nvSpPr>
        <p:spPr>
          <a:xfrm>
            <a:off x="548640" y="1188720"/>
            <a:ext cx="5669280" cy="274320"/>
          </a:xfrm>
          <a:prstGeom prst="rect">
            <a:avLst/>
          </a:prstGeom>
          <a:noFill/>
          <a:ln/>
        </p:spPr>
        <p:txBody>
          <a:bodyPr wrap="square" lIns="0" tIns="0" rIns="0" bIns="0" rtlCol="0" anchor="ctr"/>
          <a:lstStyle/>
          <a:p>
            <a:pPr indent="0" marL="0">
              <a:buNone/>
            </a:pPr>
            <a:r>
              <a:rPr lang="en-US" sz="1000" b="1" spc="400" kern="0" dirty="0">
                <a:solidFill>
                  <a:srgbClr val="C9A84C"/>
                </a:solidFill>
                <a:latin typeface="Calibri" pitchFamily="34" charset="0"/>
                <a:ea typeface="Calibri" pitchFamily="34" charset="-122"/>
                <a:cs typeface="Calibri" pitchFamily="34" charset="-120"/>
              </a:rPr>
              <a:t>FREEMARKETWATCH.WORLD</a:t>
            </a:r>
            <a:endParaRPr lang="en-US" sz="1000" dirty="0"/>
          </a:p>
        </p:txBody>
      </p:sp>
      <p:sp>
        <p:nvSpPr>
          <p:cNvPr id="5" name="Text 3"/>
          <p:cNvSpPr/>
          <p:nvPr/>
        </p:nvSpPr>
        <p:spPr>
          <a:xfrm>
            <a:off x="548640" y="1508760"/>
            <a:ext cx="5669280" cy="228600"/>
          </a:xfrm>
          <a:prstGeom prst="rect">
            <a:avLst/>
          </a:prstGeom>
          <a:noFill/>
          <a:ln/>
        </p:spPr>
        <p:txBody>
          <a:bodyPr wrap="square" lIns="0" tIns="0" rIns="0" bIns="0" rtlCol="0" anchor="ctr"/>
          <a:lstStyle/>
          <a:p>
            <a:pPr indent="0" marL="0">
              <a:buNone/>
            </a:pPr>
            <a:r>
              <a:rPr lang="en-US" sz="1100" dirty="0">
                <a:solidFill>
                  <a:srgbClr val="7A8EA8"/>
                </a:solidFill>
                <a:latin typeface="Calibri" pitchFamily="34" charset="0"/>
                <a:ea typeface="Calibri" pitchFamily="34" charset="-122"/>
                <a:cs typeface="Calibri" pitchFamily="34" charset="-120"/>
              </a:rPr>
              <a:t>Session 5 of 6  ·  ~2 hours including discussion</a:t>
            </a:r>
            <a:endParaRPr lang="en-US" sz="1100" dirty="0"/>
          </a:p>
        </p:txBody>
      </p:sp>
      <p:sp>
        <p:nvSpPr>
          <p:cNvPr id="6" name="Text 4"/>
          <p:cNvSpPr/>
          <p:nvPr/>
        </p:nvSpPr>
        <p:spPr>
          <a:xfrm>
            <a:off x="548640" y="1783080"/>
            <a:ext cx="5669280" cy="1463040"/>
          </a:xfrm>
          <a:prstGeom prst="rect">
            <a:avLst/>
          </a:prstGeom>
          <a:noFill/>
          <a:ln/>
        </p:spPr>
        <p:txBody>
          <a:bodyPr wrap="square" rtlCol="0" anchor="ctr"/>
          <a:lstStyle/>
          <a:p>
            <a:pPr indent="0" marL="0">
              <a:lnSpc>
                <a:spcPct val="115000"/>
              </a:lnSpc>
              <a:buNone/>
            </a:pPr>
            <a:r>
              <a:rPr lang="en-US" sz="4000" b="1" dirty="0">
                <a:solidFill>
                  <a:srgbClr val="FFFFFF"/>
                </a:solidFill>
                <a:latin typeface="Georgia" pitchFamily="34" charset="0"/>
                <a:ea typeface="Georgia" pitchFamily="34" charset="-122"/>
                <a:cs typeface="Georgia" pitchFamily="34" charset="-120"/>
              </a:rPr>
              <a:t>Bitcoin</a:t>
            </a:r>
            <a:endParaRPr lang="en-US" sz="4000" dirty="0"/>
          </a:p>
        </p:txBody>
      </p:sp>
      <p:sp>
        <p:nvSpPr>
          <p:cNvPr id="7" name="Text 5"/>
          <p:cNvSpPr/>
          <p:nvPr/>
        </p:nvSpPr>
        <p:spPr>
          <a:xfrm>
            <a:off x="548640" y="3291840"/>
            <a:ext cx="5669280" cy="640080"/>
          </a:xfrm>
          <a:prstGeom prst="rect">
            <a:avLst/>
          </a:prstGeom>
          <a:noFill/>
          <a:ln/>
        </p:spPr>
        <p:txBody>
          <a:bodyPr wrap="square" rtlCol="0" anchor="ctr"/>
          <a:lstStyle/>
          <a:p>
            <a:pPr indent="0" marL="0">
              <a:lnSpc>
                <a:spcPct val="140000"/>
              </a:lnSpc>
              <a:buNone/>
            </a:pPr>
            <a:r>
              <a:rPr lang="en-US" sz="1500" dirty="0">
                <a:solidFill>
                  <a:srgbClr val="A0AEC0"/>
                </a:solidFill>
                <a:latin typeface="Calibri" pitchFamily="34" charset="0"/>
                <a:ea typeface="Calibri" pitchFamily="34" charset="-122"/>
                <a:cs typeface="Calibri" pitchFamily="34" charset="-120"/>
              </a:rPr>
              <a:t>The answer to the question gold could not solve</a:t>
            </a:r>
            <a:endParaRPr lang="en-US" sz="1500" dirty="0"/>
          </a:p>
        </p:txBody>
      </p:sp>
      <p:sp>
        <p:nvSpPr>
          <p:cNvPr id="8" name="Text 6"/>
          <p:cNvSpPr/>
          <p:nvPr/>
        </p:nvSpPr>
        <p:spPr>
          <a:xfrm>
            <a:off x="548640" y="4773168"/>
            <a:ext cx="5669280" cy="2011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Version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Why We Can't Just Go Back to Gold</a:t>
            </a:r>
            <a:endParaRPr lang="en-US" sz="2600" dirty="0"/>
          </a:p>
        </p:txBody>
      </p:sp>
      <p:sp>
        <p:nvSpPr>
          <p:cNvPr id="3" name="Shape 1"/>
          <p:cNvSpPr/>
          <p:nvPr/>
        </p:nvSpPr>
        <p:spPr>
          <a:xfrm>
            <a:off x="457200" y="960120"/>
            <a:ext cx="64008" cy="1005840"/>
          </a:xfrm>
          <a:prstGeom prst="rect">
            <a:avLst/>
          </a:prstGeom>
          <a:solidFill>
            <a:srgbClr val="C9A84C"/>
          </a:solidFill>
          <a:ln w="12700">
            <a:solidFill>
              <a:srgbClr val="C9A84C"/>
            </a:solidFill>
            <a:prstDash val="solid"/>
          </a:ln>
        </p:spPr>
      </p:sp>
      <p:sp>
        <p:nvSpPr>
          <p:cNvPr id="4" name="Shape 2"/>
          <p:cNvSpPr/>
          <p:nvPr/>
        </p:nvSpPr>
        <p:spPr>
          <a:xfrm>
            <a:off x="457200" y="960120"/>
            <a:ext cx="8229600" cy="1005840"/>
          </a:xfrm>
          <a:prstGeom prst="rect">
            <a:avLst/>
          </a:prstGeom>
          <a:solidFill>
            <a:srgbClr val="1A2E5E"/>
          </a:solidFill>
          <a:ln w="12700">
            <a:solidFill>
              <a:srgbClr val="1A2E5E"/>
            </a:solidFill>
            <a:prstDash val="solid"/>
          </a:ln>
        </p:spPr>
      </p:sp>
      <p:sp>
        <p:nvSpPr>
          <p:cNvPr id="5" name="Text 3"/>
          <p:cNvSpPr/>
          <p:nvPr/>
        </p:nvSpPr>
        <p:spPr>
          <a:xfrm>
            <a:off x="685800" y="1051560"/>
            <a:ext cx="7772400" cy="822960"/>
          </a:xfrm>
          <a:prstGeom prst="rect">
            <a:avLst/>
          </a:prstGeom>
          <a:noFill/>
          <a:ln/>
        </p:spPr>
        <p:txBody>
          <a:bodyPr wrap="square" rtlCol="0" anchor="ctr"/>
          <a:lstStyle/>
          <a:p>
            <a:pPr indent="0" marL="0">
              <a:lnSpc>
                <a:spcPct val="150000"/>
              </a:lnSpc>
              <a:buNone/>
            </a:pPr>
            <a:r>
              <a:rPr lang="en-US" sz="1350" i="1" dirty="0">
                <a:solidFill>
                  <a:srgbClr val="E8EAF6"/>
                </a:solidFill>
                <a:latin typeface="Georgia" pitchFamily="34" charset="0"/>
                <a:ea typeface="Georgia" pitchFamily="34" charset="-122"/>
                <a:cs typeface="Georgia" pitchFamily="34" charset="-120"/>
              </a:rPr>
              <a:t>“What the world needed was something with all of gold's monetary properties — but that could be sent anywhere, verified by anyone, and controlled by no one. For most of history, that was simply impossible. Then, in 2009, it was not.”</a:t>
            </a:r>
            <a:endParaRPr lang="en-US" sz="1350" dirty="0"/>
          </a:p>
        </p:txBody>
      </p:sp>
      <p:sp>
        <p:nvSpPr>
          <p:cNvPr id="6" name="Text 4"/>
          <p:cNvSpPr/>
          <p:nvPr/>
        </p:nvSpPr>
        <p:spPr>
          <a:xfrm>
            <a:off x="548640" y="2075688"/>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To return to a gold standard would be to repeat the same cycle. Gold's fatal flaw is structural, not political. Governments, banks, and institutions entrusted to issue certificates equal to their gold holdings found ways — quietly, incrementally, without public knowledge — to issue more claims than gold existed.</a:t>
            </a:r>
            <a:endParaRPr lang="en-US" sz="1300" dirty="0"/>
          </a:p>
        </p:txBody>
      </p:sp>
      <p:sp>
        <p:nvSpPr>
          <p:cNvPr id="7" name="Text 5"/>
          <p:cNvSpPr/>
          <p:nvPr/>
        </p:nvSpPr>
        <p:spPr>
          <a:xfrm>
            <a:off x="548640" y="3246120"/>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Each step seemed small and justified at the time. The full picture only became visible in hindsight. No amount of good intentions fixes the fact that gold is heavy, hard to verify, and impossible to move across the world instantly without trusting someone.</a:t>
            </a:r>
            <a:endParaRPr lang="en-US" sz="1300" dirty="0"/>
          </a:p>
        </p:txBody>
      </p:sp>
      <p:sp>
        <p:nvSpPr>
          <p:cNvPr id="8" name="Text 6"/>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Bitcoin Is</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A peer-to-peer system</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Send value directly between two people anywhere in the world — without any trusted third party. Not a bank. Not an exchange. Not a payment processor. Two people, transacting directly.</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Fixed supply: 21 million</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Hard capped. Unchangeable. The first monetary asset in human history with a provably fixed supply — not policy, not law, but mathematics running on thousands of computers.</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No controlling authority</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 government issues it. No central bank sets its supply. No institution can inflate it. Rules enforced by mathematics and a globally distributed network.</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Fifteen years of operation</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Introduced January 2009. Has operated continuously without failure for fifteen years. No CEO. No headquarters. A protocol, like the internet itself.</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Bitcoin vs Gold — Head to Head</a:t>
            </a:r>
            <a:endParaRPr lang="en-US" sz="2600" dirty="0"/>
          </a:p>
        </p:txBody>
      </p:sp>
      <p:sp>
        <p:nvSpPr>
          <p:cNvPr id="3" name="Shape 1"/>
          <p:cNvSpPr/>
          <p:nvPr/>
        </p:nvSpPr>
        <p:spPr>
          <a:xfrm>
            <a:off x="457200" y="96012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Text 2"/>
          <p:cNvSpPr/>
          <p:nvPr/>
        </p:nvSpPr>
        <p:spPr>
          <a:xfrm>
            <a:off x="566928" y="105156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Scarcity</a:t>
            </a:r>
            <a:endParaRPr lang="en-US" sz="1200" dirty="0"/>
          </a:p>
        </p:txBody>
      </p:sp>
      <p:sp>
        <p:nvSpPr>
          <p:cNvPr id="5" name="Text 3"/>
          <p:cNvSpPr/>
          <p:nvPr/>
        </p:nvSpPr>
        <p:spPr>
          <a:xfrm>
            <a:off x="566928" y="134416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6" name="Text 4"/>
          <p:cNvSpPr/>
          <p:nvPr/>
        </p:nvSpPr>
        <p:spPr>
          <a:xfrm>
            <a:off x="566928" y="152704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Finite but unknown total. New gold mined continuously.</a:t>
            </a:r>
            <a:endParaRPr lang="en-US" sz="1000" dirty="0"/>
          </a:p>
        </p:txBody>
      </p:sp>
      <p:sp>
        <p:nvSpPr>
          <p:cNvPr id="7" name="Text 5"/>
          <p:cNvSpPr/>
          <p:nvPr/>
        </p:nvSpPr>
        <p:spPr>
          <a:xfrm>
            <a:off x="566928" y="202082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8" name="Text 6"/>
          <p:cNvSpPr/>
          <p:nvPr/>
        </p:nvSpPr>
        <p:spPr>
          <a:xfrm>
            <a:off x="566928" y="220370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Hard cap: 21M. The last bitcoin mined ~2140. Unchangeable by anyone.</a:t>
            </a:r>
            <a:endParaRPr lang="en-US" sz="1000" dirty="0"/>
          </a:p>
        </p:txBody>
      </p:sp>
      <p:sp>
        <p:nvSpPr>
          <p:cNvPr id="9" name="Shape 7"/>
          <p:cNvSpPr/>
          <p:nvPr/>
        </p:nvSpPr>
        <p:spPr>
          <a:xfrm>
            <a:off x="3273552" y="96012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0" name="Text 8"/>
          <p:cNvSpPr/>
          <p:nvPr/>
        </p:nvSpPr>
        <p:spPr>
          <a:xfrm>
            <a:off x="3383280" y="105156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Portability</a:t>
            </a:r>
            <a:endParaRPr lang="en-US" sz="1200" dirty="0"/>
          </a:p>
        </p:txBody>
      </p:sp>
      <p:sp>
        <p:nvSpPr>
          <p:cNvPr id="11" name="Text 9"/>
          <p:cNvSpPr/>
          <p:nvPr/>
        </p:nvSpPr>
        <p:spPr>
          <a:xfrm>
            <a:off x="3383280" y="134416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12" name="Text 10"/>
          <p:cNvSpPr/>
          <p:nvPr/>
        </p:nvSpPr>
        <p:spPr>
          <a:xfrm>
            <a:off x="3383280" y="152704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Heavy and slow. Requires physical infrastructure and trusted custodians.</a:t>
            </a:r>
            <a:endParaRPr lang="en-US" sz="1000" dirty="0"/>
          </a:p>
        </p:txBody>
      </p:sp>
      <p:sp>
        <p:nvSpPr>
          <p:cNvPr id="13" name="Text 11"/>
          <p:cNvSpPr/>
          <p:nvPr/>
        </p:nvSpPr>
        <p:spPr>
          <a:xfrm>
            <a:off x="3383280" y="202082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14" name="Text 12"/>
          <p:cNvSpPr/>
          <p:nvPr/>
        </p:nvSpPr>
        <p:spPr>
          <a:xfrm>
            <a:off x="3383280" y="220370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Sent anywhere in minutes. A billion dollars moves as easily as a dollar.</a:t>
            </a:r>
            <a:endParaRPr lang="en-US" sz="1000" dirty="0"/>
          </a:p>
        </p:txBody>
      </p:sp>
      <p:sp>
        <p:nvSpPr>
          <p:cNvPr id="15" name="Shape 13"/>
          <p:cNvSpPr/>
          <p:nvPr/>
        </p:nvSpPr>
        <p:spPr>
          <a:xfrm>
            <a:off x="6089904" y="96012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Text 14"/>
          <p:cNvSpPr/>
          <p:nvPr/>
        </p:nvSpPr>
        <p:spPr>
          <a:xfrm>
            <a:off x="6199632" y="105156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Verifiability</a:t>
            </a:r>
            <a:endParaRPr lang="en-US" sz="1200" dirty="0"/>
          </a:p>
        </p:txBody>
      </p:sp>
      <p:sp>
        <p:nvSpPr>
          <p:cNvPr id="17" name="Text 15"/>
          <p:cNvSpPr/>
          <p:nvPr/>
        </p:nvSpPr>
        <p:spPr>
          <a:xfrm>
            <a:off x="6199632" y="134416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18" name="Text 16"/>
          <p:cNvSpPr/>
          <p:nvPr/>
        </p:nvSpPr>
        <p:spPr>
          <a:xfrm>
            <a:off x="6199632" y="152704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Requires physical testing. Certificates require trust.</a:t>
            </a:r>
            <a:endParaRPr lang="en-US" sz="1000" dirty="0"/>
          </a:p>
        </p:txBody>
      </p:sp>
      <p:sp>
        <p:nvSpPr>
          <p:cNvPr id="19" name="Text 17"/>
          <p:cNvSpPr/>
          <p:nvPr/>
        </p:nvSpPr>
        <p:spPr>
          <a:xfrm>
            <a:off x="6199632" y="202082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20" name="Text 18"/>
          <p:cNvSpPr/>
          <p:nvPr/>
        </p:nvSpPr>
        <p:spPr>
          <a:xfrm>
            <a:off x="6199632" y="220370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Every transaction verified instantly by the entire network. Counterfeiting is mathematically impossible.</a:t>
            </a:r>
            <a:endParaRPr lang="en-US" sz="1000" dirty="0"/>
          </a:p>
        </p:txBody>
      </p:sp>
      <p:sp>
        <p:nvSpPr>
          <p:cNvPr id="21" name="Shape 19"/>
          <p:cNvSpPr/>
          <p:nvPr/>
        </p:nvSpPr>
        <p:spPr>
          <a:xfrm>
            <a:off x="457200" y="297180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2" name="Text 20"/>
          <p:cNvSpPr/>
          <p:nvPr/>
        </p:nvSpPr>
        <p:spPr>
          <a:xfrm>
            <a:off x="566928" y="306324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Decentralization</a:t>
            </a:r>
            <a:endParaRPr lang="en-US" sz="1200" dirty="0"/>
          </a:p>
        </p:txBody>
      </p:sp>
      <p:sp>
        <p:nvSpPr>
          <p:cNvPr id="23" name="Text 21"/>
          <p:cNvSpPr/>
          <p:nvPr/>
        </p:nvSpPr>
        <p:spPr>
          <a:xfrm>
            <a:off x="566928" y="335584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24" name="Text 22"/>
          <p:cNvSpPr/>
          <p:nvPr/>
        </p:nvSpPr>
        <p:spPr>
          <a:xfrm>
            <a:off x="566928" y="353872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Storage concentrates in vaults. Custodians become control points.</a:t>
            </a:r>
            <a:endParaRPr lang="en-US" sz="1000" dirty="0"/>
          </a:p>
        </p:txBody>
      </p:sp>
      <p:sp>
        <p:nvSpPr>
          <p:cNvPr id="25" name="Text 23"/>
          <p:cNvSpPr/>
          <p:nvPr/>
        </p:nvSpPr>
        <p:spPr>
          <a:xfrm>
            <a:off x="566928" y="403250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26" name="Text 24"/>
          <p:cNvSpPr/>
          <p:nvPr/>
        </p:nvSpPr>
        <p:spPr>
          <a:xfrm>
            <a:off x="566928" y="421538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Thousands of independent nodes worldwide. No single point of control.</a:t>
            </a:r>
            <a:endParaRPr lang="en-US" sz="1000" dirty="0"/>
          </a:p>
        </p:txBody>
      </p:sp>
      <p:sp>
        <p:nvSpPr>
          <p:cNvPr id="27" name="Shape 25"/>
          <p:cNvSpPr/>
          <p:nvPr/>
        </p:nvSpPr>
        <p:spPr>
          <a:xfrm>
            <a:off x="3273552" y="297180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8" name="Text 26"/>
          <p:cNvSpPr/>
          <p:nvPr/>
        </p:nvSpPr>
        <p:spPr>
          <a:xfrm>
            <a:off x="3383280" y="306324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Durability</a:t>
            </a:r>
            <a:endParaRPr lang="en-US" sz="1200" dirty="0"/>
          </a:p>
        </p:txBody>
      </p:sp>
      <p:sp>
        <p:nvSpPr>
          <p:cNvPr id="29" name="Text 27"/>
          <p:cNvSpPr/>
          <p:nvPr/>
        </p:nvSpPr>
        <p:spPr>
          <a:xfrm>
            <a:off x="3383280" y="335584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30" name="Text 28"/>
          <p:cNvSpPr/>
          <p:nvPr/>
        </p:nvSpPr>
        <p:spPr>
          <a:xfrm>
            <a:off x="3383280" y="353872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Does not corrode. Physically durable over millennia.</a:t>
            </a:r>
            <a:endParaRPr lang="en-US" sz="1000" dirty="0"/>
          </a:p>
        </p:txBody>
      </p:sp>
      <p:sp>
        <p:nvSpPr>
          <p:cNvPr id="31" name="Text 29"/>
          <p:cNvSpPr/>
          <p:nvPr/>
        </p:nvSpPr>
        <p:spPr>
          <a:xfrm>
            <a:off x="3383280" y="403250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32" name="Text 30"/>
          <p:cNvSpPr/>
          <p:nvPr/>
        </p:nvSpPr>
        <p:spPr>
          <a:xfrm>
            <a:off x="3383280" y="421538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Indestructible as long as the network exists.</a:t>
            </a:r>
            <a:endParaRPr lang="en-US" sz="1000" dirty="0"/>
          </a:p>
        </p:txBody>
      </p:sp>
      <p:sp>
        <p:nvSpPr>
          <p:cNvPr id="33" name="Shape 31"/>
          <p:cNvSpPr/>
          <p:nvPr/>
        </p:nvSpPr>
        <p:spPr>
          <a:xfrm>
            <a:off x="6089904" y="2971800"/>
            <a:ext cx="2743200" cy="19202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34" name="Text 32"/>
          <p:cNvSpPr/>
          <p:nvPr/>
        </p:nvSpPr>
        <p:spPr>
          <a:xfrm>
            <a:off x="6199632" y="3063240"/>
            <a:ext cx="2523744"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Divisibility</a:t>
            </a:r>
            <a:endParaRPr lang="en-US" sz="1200" dirty="0"/>
          </a:p>
        </p:txBody>
      </p:sp>
      <p:sp>
        <p:nvSpPr>
          <p:cNvPr id="35" name="Text 33"/>
          <p:cNvSpPr/>
          <p:nvPr/>
        </p:nvSpPr>
        <p:spPr>
          <a:xfrm>
            <a:off x="6199632" y="3355848"/>
            <a:ext cx="2523744" cy="164592"/>
          </a:xfrm>
          <a:prstGeom prst="rect">
            <a:avLst/>
          </a:prstGeom>
          <a:noFill/>
          <a:ln/>
        </p:spPr>
        <p:txBody>
          <a:bodyPr wrap="square" lIns="0" tIns="0" rIns="0" bIns="0" rtlCol="0" anchor="ctr"/>
          <a:lstStyle/>
          <a:p>
            <a:pPr indent="0" marL="0">
              <a:buNone/>
            </a:pPr>
            <a:r>
              <a:rPr lang="en-US" sz="900" b="1" dirty="0">
                <a:solidFill>
                  <a:srgbClr val="A32D2D"/>
                </a:solidFill>
                <a:latin typeface="Calibri" pitchFamily="34" charset="0"/>
                <a:ea typeface="Calibri" pitchFamily="34" charset="-122"/>
                <a:cs typeface="Calibri" pitchFamily="34" charset="-120"/>
              </a:rPr>
              <a:t>GOLD</a:t>
            </a:r>
            <a:endParaRPr lang="en-US" sz="900" dirty="0"/>
          </a:p>
        </p:txBody>
      </p:sp>
      <p:sp>
        <p:nvSpPr>
          <p:cNvPr id="36" name="Text 34"/>
          <p:cNvSpPr/>
          <p:nvPr/>
        </p:nvSpPr>
        <p:spPr>
          <a:xfrm>
            <a:off x="6199632" y="3538728"/>
            <a:ext cx="2523744" cy="475488"/>
          </a:xfrm>
          <a:prstGeom prst="rect">
            <a:avLst/>
          </a:prstGeom>
          <a:noFill/>
          <a:ln/>
        </p:spPr>
        <p:txBody>
          <a:bodyPr wrap="square" lIns="0" tIns="0" rIns="0" bIns="0" rtlCol="0" anchor="ctr"/>
          <a:lstStyle/>
          <a:p>
            <a:pPr indent="0" marL="0">
              <a:lnSpc>
                <a:spcPct val="125000"/>
              </a:lnSpc>
              <a:buNone/>
            </a:pPr>
            <a:r>
              <a:rPr lang="en-US" sz="1000" dirty="0">
                <a:solidFill>
                  <a:srgbClr val="791F1F"/>
                </a:solidFill>
                <a:latin typeface="Calibri" pitchFamily="34" charset="0"/>
                <a:ea typeface="Calibri" pitchFamily="34" charset="-122"/>
                <a:cs typeface="Calibri" pitchFamily="34" charset="-120"/>
              </a:rPr>
              <a:t>Requires physical manipulation. Small transactions impractical.</a:t>
            </a:r>
            <a:endParaRPr lang="en-US" sz="1000" dirty="0"/>
          </a:p>
        </p:txBody>
      </p:sp>
      <p:sp>
        <p:nvSpPr>
          <p:cNvPr id="37" name="Text 35"/>
          <p:cNvSpPr/>
          <p:nvPr/>
        </p:nvSpPr>
        <p:spPr>
          <a:xfrm>
            <a:off x="6199632" y="4032504"/>
            <a:ext cx="2523744" cy="164592"/>
          </a:xfrm>
          <a:prstGeom prst="rect">
            <a:avLst/>
          </a:prstGeom>
          <a:noFill/>
          <a:ln/>
        </p:spPr>
        <p:txBody>
          <a:bodyPr wrap="square" lIns="0" tIns="0" rIns="0" bIns="0" rtlCol="0" anchor="ctr"/>
          <a:lstStyle/>
          <a:p>
            <a:pPr indent="0" marL="0">
              <a:buNone/>
            </a:pPr>
            <a:r>
              <a:rPr lang="en-US" sz="900" b="1" dirty="0">
                <a:solidFill>
                  <a:srgbClr val="3B6D11"/>
                </a:solidFill>
                <a:latin typeface="Calibri" pitchFamily="34" charset="0"/>
                <a:ea typeface="Calibri" pitchFamily="34" charset="-122"/>
                <a:cs typeface="Calibri" pitchFamily="34" charset="-120"/>
              </a:rPr>
              <a:t>BITCOIN</a:t>
            </a:r>
            <a:endParaRPr lang="en-US" sz="900" dirty="0"/>
          </a:p>
        </p:txBody>
      </p:sp>
      <p:sp>
        <p:nvSpPr>
          <p:cNvPr id="38" name="Text 36"/>
          <p:cNvSpPr/>
          <p:nvPr/>
        </p:nvSpPr>
        <p:spPr>
          <a:xfrm>
            <a:off x="6199632" y="4215384"/>
            <a:ext cx="2523744" cy="548640"/>
          </a:xfrm>
          <a:prstGeom prst="rect">
            <a:avLst/>
          </a:prstGeom>
          <a:noFill/>
          <a:ln/>
        </p:spPr>
        <p:txBody>
          <a:bodyPr wrap="square" lIns="0" tIns="0" rIns="0" bIns="0" rtlCol="0" anchor="ctr"/>
          <a:lstStyle/>
          <a:p>
            <a:pPr indent="0" marL="0">
              <a:lnSpc>
                <a:spcPct val="125000"/>
              </a:lnSpc>
              <a:buNone/>
            </a:pPr>
            <a:r>
              <a:rPr lang="en-US" sz="1000" dirty="0">
                <a:solidFill>
                  <a:srgbClr val="27500A"/>
                </a:solidFill>
                <a:latin typeface="Calibri" pitchFamily="34" charset="0"/>
                <a:ea typeface="Calibri" pitchFamily="34" charset="-122"/>
                <a:cs typeface="Calibri" pitchFamily="34" charset="-120"/>
              </a:rPr>
              <a:t>Divisible to 8 decimal places — one satoshi enables any transaction size.</a:t>
            </a:r>
            <a:endParaRPr lang="en-US" sz="1000" dirty="0"/>
          </a:p>
        </p:txBody>
      </p:sp>
      <p:sp>
        <p:nvSpPr>
          <p:cNvPr id="39" name="Text 3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Common Questions — Honest Answers</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Isn't it just speculation?</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Volatility reflects early adoption stage — like any emerging asset class. Gold was also volatile early. What matters is whether the monetary properties hold. Fifteen years says they do.</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Can governments ban it?</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They can restrict. They cannot shut down a global distributed network with no central point. Every outright ban has been extremely difficult to enforce.</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about other cryptos?</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Most have no fixed supply and central teams who can change the rules. Bitcoin is categorically different — provably fixed supply, no controlling authority, fifteen years unbroken.</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about energy use?</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Real tradeoff worth understanding. Compare to the energy cost of gold mining, armored transport, and the global banking system. Whether the value justifies the cost is a legitimate debate.</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457200"/>
            <a:ext cx="8229600" cy="41148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DISCUSSION — Session 5</a:t>
            </a:r>
            <a:endParaRPr lang="en-US" sz="2000" dirty="0"/>
          </a:p>
        </p:txBody>
      </p:sp>
      <p:sp>
        <p:nvSpPr>
          <p:cNvPr id="4" name="Shape 2"/>
          <p:cNvSpPr/>
          <p:nvPr/>
        </p:nvSpPr>
        <p:spPr>
          <a:xfrm>
            <a:off x="457200" y="1005840"/>
            <a:ext cx="8229600" cy="713232"/>
          </a:xfrm>
          <a:prstGeom prst="rect">
            <a:avLst/>
          </a:prstGeom>
          <a:solidFill>
            <a:srgbClr val="1E3A6E"/>
          </a:solidFill>
          <a:ln w="12700">
            <a:solidFill>
              <a:srgbClr val="2A4A7E"/>
            </a:solidFill>
            <a:prstDash val="solid"/>
          </a:ln>
        </p:spPr>
      </p:sp>
      <p:sp>
        <p:nvSpPr>
          <p:cNvPr id="5" name="Text 3"/>
          <p:cNvSpPr/>
          <p:nvPr/>
        </p:nvSpPr>
        <p:spPr>
          <a:xfrm>
            <a:off x="640080" y="107899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1.  Gold's fatal flaw was portability requiring trust. Does Bitcoin's solution make sense to you? What is your remaining skepticism?</a:t>
            </a:r>
            <a:endParaRPr lang="en-US" sz="1250" dirty="0"/>
          </a:p>
        </p:txBody>
      </p:sp>
      <p:sp>
        <p:nvSpPr>
          <p:cNvPr id="6" name="Shape 4"/>
          <p:cNvSpPr/>
          <p:nvPr/>
        </p:nvSpPr>
        <p:spPr>
          <a:xfrm>
            <a:off x="457200" y="1874520"/>
            <a:ext cx="8229600" cy="713232"/>
          </a:xfrm>
          <a:prstGeom prst="rect">
            <a:avLst/>
          </a:prstGeom>
          <a:solidFill>
            <a:srgbClr val="1E3A6E"/>
          </a:solidFill>
          <a:ln w="12700">
            <a:solidFill>
              <a:srgbClr val="2A4A7E"/>
            </a:solidFill>
            <a:prstDash val="solid"/>
          </a:ln>
        </p:spPr>
      </p:sp>
      <p:sp>
        <p:nvSpPr>
          <p:cNvPr id="7" name="Text 5"/>
          <p:cNvSpPr/>
          <p:nvPr/>
        </p:nvSpPr>
        <p:spPr>
          <a:xfrm>
            <a:off x="640080" y="194767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2.  "The first money in history with a provably fixed supply." If that is true — what are the implications?</a:t>
            </a:r>
            <a:endParaRPr lang="en-US" sz="1250" dirty="0"/>
          </a:p>
        </p:txBody>
      </p:sp>
      <p:sp>
        <p:nvSpPr>
          <p:cNvPr id="8" name="Shape 6"/>
          <p:cNvSpPr/>
          <p:nvPr/>
        </p:nvSpPr>
        <p:spPr>
          <a:xfrm>
            <a:off x="457200" y="2743200"/>
            <a:ext cx="8229600" cy="713232"/>
          </a:xfrm>
          <a:prstGeom prst="rect">
            <a:avLst/>
          </a:prstGeom>
          <a:solidFill>
            <a:srgbClr val="1E3A6E"/>
          </a:solidFill>
          <a:ln w="12700">
            <a:solidFill>
              <a:srgbClr val="2A4A7E"/>
            </a:solidFill>
            <a:prstDash val="solid"/>
          </a:ln>
        </p:spPr>
      </p:sp>
      <p:sp>
        <p:nvSpPr>
          <p:cNvPr id="9" name="Text 7"/>
          <p:cNvSpPr/>
          <p:nvPr/>
        </p:nvSpPr>
        <p:spPr>
          <a:xfrm>
            <a:off x="640080" y="281635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3.  What is the strongest argument against Bitcoin you can make? Steel-man the skeptic position.</a:t>
            </a:r>
            <a:endParaRPr lang="en-US" sz="1250" dirty="0"/>
          </a:p>
        </p:txBody>
      </p:sp>
      <p:sp>
        <p:nvSpPr>
          <p:cNvPr id="10" name="Shape 8"/>
          <p:cNvSpPr/>
          <p:nvPr/>
        </p:nvSpPr>
        <p:spPr>
          <a:xfrm>
            <a:off x="457200" y="3611880"/>
            <a:ext cx="8229600" cy="713232"/>
          </a:xfrm>
          <a:prstGeom prst="rect">
            <a:avLst/>
          </a:prstGeom>
          <a:solidFill>
            <a:srgbClr val="1E3A6E"/>
          </a:solidFill>
          <a:ln w="12700">
            <a:solidFill>
              <a:srgbClr val="2A4A7E"/>
            </a:solidFill>
            <a:prstDash val="solid"/>
          </a:ln>
        </p:spPr>
      </p:sp>
      <p:sp>
        <p:nvSpPr>
          <p:cNvPr id="11" name="Text 9"/>
          <p:cNvSpPr/>
          <p:nvPr/>
        </p:nvSpPr>
        <p:spPr>
          <a:xfrm>
            <a:off x="640080" y="368503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4.  We haven't talked about what to do with this information. What questions are you sitting with going into the final session?</a:t>
            </a:r>
            <a:endParaRPr lang="en-US" sz="1250" dirty="0"/>
          </a:p>
        </p:txBody>
      </p:sp>
      <p:sp>
        <p:nvSpPr>
          <p:cNvPr id="12" name="Text 10"/>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Coming Next — Session 6</a:t>
            </a:r>
            <a:endParaRPr lang="en-US" sz="2600" dirty="0"/>
          </a:p>
        </p:txBody>
      </p:sp>
      <p:sp>
        <p:nvSpPr>
          <p:cNvPr id="4" name="Shape 2"/>
          <p:cNvSpPr/>
          <p:nvPr/>
        </p:nvSpPr>
        <p:spPr>
          <a:xfrm>
            <a:off x="457200" y="1188720"/>
            <a:ext cx="8229600" cy="1371600"/>
          </a:xfrm>
          <a:prstGeom prst="rect">
            <a:avLst/>
          </a:prstGeom>
          <a:solidFill>
            <a:srgbClr val="1A2E5E"/>
          </a:solidFill>
          <a:ln w="12700">
            <a:solidFill>
              <a:srgbClr val="1A2E5E"/>
            </a:solidFill>
            <a:prstDash val="solid"/>
          </a:ln>
        </p:spPr>
      </p:sp>
      <p:sp>
        <p:nvSpPr>
          <p:cNvPr id="5" name="Text 3"/>
          <p:cNvSpPr/>
          <p:nvPr/>
        </p:nvSpPr>
        <p:spPr>
          <a:xfrm>
            <a:off x="640080" y="1280160"/>
            <a:ext cx="7863840" cy="1188720"/>
          </a:xfrm>
          <a:prstGeom prst="rect">
            <a:avLst/>
          </a:prstGeom>
          <a:noFill/>
          <a:ln/>
        </p:spPr>
        <p:txBody>
          <a:bodyPr wrap="square" rtlCol="0" anchor="ctr"/>
          <a:lstStyle/>
          <a:p>
            <a:pPr indent="0" marL="0">
              <a:lnSpc>
                <a:spcPct val="160000"/>
              </a:lnSpc>
              <a:buNone/>
            </a:pPr>
            <a:r>
              <a:rPr lang="en-US" sz="1500" i="1" dirty="0">
                <a:solidFill>
                  <a:srgbClr val="E8EAF6"/>
                </a:solidFill>
                <a:latin typeface="Georgia" pitchFamily="34" charset="0"/>
                <a:ea typeface="Georgia" pitchFamily="34" charset="-122"/>
                <a:cs typeface="Georgia" pitchFamily="34" charset="-120"/>
              </a:rPr>
              <a:t>“Understanding Bitcoin is the first step. But understanding alone does not change anything. What does actually living on a bitcoin standard look like?”</a:t>
            </a:r>
            <a:endParaRPr lang="en-US" sz="1500" dirty="0"/>
          </a:p>
        </p:txBody>
      </p:sp>
      <p:sp>
        <p:nvSpPr>
          <p:cNvPr id="6" name="Shape 4"/>
          <p:cNvSpPr/>
          <p:nvPr/>
        </p:nvSpPr>
        <p:spPr>
          <a:xfrm>
            <a:off x="457200" y="2834640"/>
            <a:ext cx="2651760" cy="1463040"/>
          </a:xfrm>
          <a:prstGeom prst="rect">
            <a:avLst/>
          </a:prstGeom>
          <a:solidFill>
            <a:srgbClr val="111827"/>
          </a:solidFill>
          <a:ln w="12700">
            <a:solidFill>
              <a:srgbClr val="1F2937"/>
            </a:solidFill>
            <a:prstDash val="solid"/>
          </a:ln>
        </p:spPr>
      </p:sp>
      <p:sp>
        <p:nvSpPr>
          <p:cNvPr id="7" name="Text 5"/>
          <p:cNvSpPr/>
          <p:nvPr/>
        </p:nvSpPr>
        <p:spPr>
          <a:xfrm>
            <a:off x="59436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Homework prompt</a:t>
            </a:r>
            <a:endParaRPr lang="en-US" sz="1200" dirty="0"/>
          </a:p>
        </p:txBody>
      </p:sp>
      <p:sp>
        <p:nvSpPr>
          <p:cNvPr id="8" name="Text 6"/>
          <p:cNvSpPr/>
          <p:nvPr/>
        </p:nvSpPr>
        <p:spPr>
          <a:xfrm>
            <a:off x="59436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Describe Bitcoin to someone who has never heard of it in three sentences. Not the price — the idea. See what questions they ask.</a:t>
            </a:r>
            <a:endParaRPr lang="en-US" sz="1050" dirty="0"/>
          </a:p>
        </p:txBody>
      </p:sp>
      <p:sp>
        <p:nvSpPr>
          <p:cNvPr id="9" name="Shape 7"/>
          <p:cNvSpPr/>
          <p:nvPr/>
        </p:nvSpPr>
        <p:spPr>
          <a:xfrm>
            <a:off x="3291840" y="2834640"/>
            <a:ext cx="2651760" cy="1463040"/>
          </a:xfrm>
          <a:prstGeom prst="rect">
            <a:avLst/>
          </a:prstGeom>
          <a:solidFill>
            <a:srgbClr val="111827"/>
          </a:solidFill>
          <a:ln w="12700">
            <a:solidFill>
              <a:srgbClr val="1F2937"/>
            </a:solidFill>
            <a:prstDash val="solid"/>
          </a:ln>
        </p:spPr>
      </p:sp>
      <p:sp>
        <p:nvSpPr>
          <p:cNvPr id="10" name="Text 8"/>
          <p:cNvSpPr/>
          <p:nvPr/>
        </p:nvSpPr>
        <p:spPr>
          <a:xfrm>
            <a:off x="342900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Explore the data</a:t>
            </a:r>
            <a:endParaRPr lang="en-US" sz="1200" dirty="0"/>
          </a:p>
        </p:txBody>
      </p:sp>
      <p:sp>
        <p:nvSpPr>
          <p:cNvPr id="11" name="Text 9"/>
          <p:cNvSpPr/>
          <p:nvPr/>
        </p:nvSpPr>
        <p:spPr>
          <a:xfrm>
            <a:off x="342900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 — see Bitcoin's purchasing power performance vs currencies and other assets</a:t>
            </a:r>
            <a:endParaRPr lang="en-US" sz="1050" dirty="0"/>
          </a:p>
        </p:txBody>
      </p:sp>
      <p:sp>
        <p:nvSpPr>
          <p:cNvPr id="12" name="Shape 10"/>
          <p:cNvSpPr/>
          <p:nvPr/>
        </p:nvSpPr>
        <p:spPr>
          <a:xfrm>
            <a:off x="6126480" y="2834640"/>
            <a:ext cx="2651760" cy="1463040"/>
          </a:xfrm>
          <a:prstGeom prst="rect">
            <a:avLst/>
          </a:prstGeom>
          <a:solidFill>
            <a:srgbClr val="111827"/>
          </a:solidFill>
          <a:ln w="12700">
            <a:solidFill>
              <a:srgbClr val="1F2937"/>
            </a:solidFill>
            <a:prstDash val="solid"/>
          </a:ln>
        </p:spPr>
      </p:sp>
      <p:sp>
        <p:nvSpPr>
          <p:cNvPr id="13" name="Text 11"/>
          <p:cNvSpPr/>
          <p:nvPr/>
        </p:nvSpPr>
        <p:spPr>
          <a:xfrm>
            <a:off x="626364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Session 6 preview</a:t>
            </a:r>
            <a:endParaRPr lang="en-US" sz="1200" dirty="0"/>
          </a:p>
        </p:txBody>
      </p:sp>
      <p:sp>
        <p:nvSpPr>
          <p:cNvPr id="14" name="Text 12"/>
          <p:cNvSpPr/>
          <p:nvPr/>
        </p:nvSpPr>
        <p:spPr>
          <a:xfrm>
            <a:off x="626364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What you now understand — and what comes next. Resources, community, and the path forward for individuals and communities.</a:t>
            </a:r>
            <a:endParaRPr lang="en-US" sz="1050" dirty="0"/>
          </a:p>
        </p:txBody>
      </p:sp>
      <p:sp>
        <p:nvSpPr>
          <p:cNvPr id="15" name="Text 13"/>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2026-05-25T15:22:23Z</dcterms:created>
  <dcterms:modified xsi:type="dcterms:W3CDTF">2026-05-25T15:22:23Z</dcterms:modified>
</cp:coreProperties>
</file>