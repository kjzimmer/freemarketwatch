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let people settle in.
Introduce yourself in one sentence. Make it personal and relatable:
"I started asking why working hard and saving money didn't seem to be working the way it should. What I found surprised me — and I think it'll surprise you too."
Tell them: 30 minutes of content, 15 minutes of questions. Three ideas. Each one builds on the last.
"You don't need any economics background. In fact, it might help not to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expectations. Read each one briefly — 10 seconds each.
"These three things connect. By the end tonight they'll fit together in a way that might explain some things you've already noticed."
Don't elaborate yet. Move 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pause before Part 1.
"Let's start not with money, but with what money makes possible. Because I think most of us have never stopped to think about where our world actually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morning example before touching the slide.
"Think about your morning. Coffee from South America, a phone from five continents, roads built by workers paid with wages. Nobody planned all of that. Money is how it coordinates itself."
Pull quote: read it slowly. Let it land.
CARD 3 is the key setup: "Money is as human as language. It emerged from human need — not government design. And like any tool, some versions of it work far better than others."
Transition: "So what makes money good? And what happens when it's bad? That's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2 minutes maximum.
SCARCE: "A bumper crop of wheat makes wheat cheaper. A flood of new money makes money cheaper. Same principle."
DECENTRALIZED: "Think about what it would mean if you could create money in your basement. You'd get rich — but you'd make everyone else's money worth less. That's not hypothetical. That happens at the national level."
Gold closing: "Gold won the competition for thousands of years. But it had one critical weakness — and that weakness was exploited. That's what Part 2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shift here. This is the part that connects to things people have already felt.
"This is the part that might make some things click that haven't quite made sense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the key reframe. Let it sit for a moment before explaining.
"If your TV gets cheaper every year because manufacturing improves — why does your grocery bill go up every year? That's not because food got harder to grow. It's because the money you're using got weaker."
"Debasement is the right word. It's not a natural phenomenon like weather. It's an action. And the value doesn't vanish — it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emotional and intellectual pivot of the presentation.
Read the two headline lines slowly, with a pause between them.
"The value your savings lose doesn't vanish into thin air. It moves — from people who hold money to the people who were first in line to spend the new supply."
Walk the three steps one at a time. Don't rush.
STEP 1: "New money enters the economy not evenly — at the top, through banks and governments."
STEP 2: "Those early recipients aren't spending randomly. They're buying assets they know will appreciate. Real estate. Stocks. Businesses. At today's prices, before inflation spreads."
STEP 3: "By the time it reaches ordinary wages, prices have already moved. You didn't get the new money — you got the price increases."
Footer: "This has a name. The Cantillon effect. Named after an 18th-century economist who first described it. It is not a theory — it is the mechanism. And it has been widening the wealth gap for decades."
Transition: "The numbers make this concrete."Pause on each number.
97%: "A dollar in 1913 bought what $33 buys today."
1971: "The year the last constraint was removed."
85x: "The gold standard forced discipline. Without it, spending became unlimited — and debt soared."
Body text: "This is the mechanism. And it affects everyone in this room — just not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shift again — from diagnosis to possibility.
"We've spent most of tonight on the problem. This last part is about what a solution looks like — and the fact that it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cards are the demographic bridge. Each one speaks to someone different in the room.
Housing: young adults, families priced out.
Wages: anyone who feels the treadmill.
Debt: everyone — student loans, mortgages, car payments.
Quality: business owners, anyone who's noticed things don't last.
KEY POINT: "These aren't random outcomes. They have causes. And knowing the causes changes how you respond — you stop blaming yourself for things that aren't your fault."
"None of this required a villain. These are emergent consequences of removing the one constraint that kept money honest: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theoretical. The gold standard era — roughly 1870 to 1914 — looked like the right column. Real wages rose 40% in 40 years. Prices were stable. You could plan decades ahead."
"The gold standard was not abandoned because it failed. It was abandoned because it constrained government spending. The discipline that made it good for citizens made it inconvenient for governments."
Ask: "Which world does your community want to live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 4 minutes.
"Tonight is not about whether to buy Bitcoin. It's about understanding what problem it solves."
Left card: "Gold won the competition for thousands of years but had one weakness. Bitcoin fixes exactly that weakness. Nothing else has."
CARD 1 — Fixed supply: "The first money in human history where the supply is mathematically guaranteed. Not policy. Not law. Mathematics."
CARD 2 — No third party: "Not a bank, not an exchange, not a payment processor. Two people transacting directly — which is exactly what Satoshi Nakamoto described in 2009."
CARD 3 — Already exists: "This isn't theory or a proposal. It has been running continuously for fifteen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landing. Speak slowly.
"In 30 minutes you've covered what most people never hear in a lifetime of news and schooling. That's not because it's complicated. It's because the system works better when most people don't think too hard about it."
"The most important thing you can do with tonight is not buy Bitcoin. It's keep asking questions. The six-session series goes much deeper on every one of these three ideas."
"Questions now — 15 minutes — then I'll point you to where to go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full 15 minutes.
Start with: "I'll take any question — including 'this is wrong because...' Those are often the best ones."
If nobody starts: use Question 1 from the left column — "which of the four things hit closest to home?"
At the end: "Tonight was the 30,000 foot view. The six-session series goes deep on each piece. If your group wants to run that — the materials are available."
Direct them to freemarketwatch.world.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502920"/>
            <a:ext cx="5669280" cy="256032"/>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914400"/>
            <a:ext cx="5669280" cy="1828800"/>
          </a:xfrm>
          <a:prstGeom prst="rect">
            <a:avLst/>
          </a:prstGeom>
          <a:noFill/>
          <a:ln/>
        </p:spPr>
        <p:txBody>
          <a:bodyPr wrap="square" rtlCol="0" anchor="ctr"/>
          <a:lstStyle/>
          <a:p>
            <a:pPr indent="0" marL="0">
              <a:lnSpc>
                <a:spcPct val="120000"/>
              </a:lnSpc>
              <a:buNone/>
            </a:pPr>
            <a:r>
              <a:rPr lang="en-US" sz="3600" b="1" dirty="0">
                <a:solidFill>
                  <a:srgbClr val="FFFFFF"/>
                </a:solidFill>
                <a:latin typeface="Georgia" pitchFamily="34" charset="0"/>
                <a:ea typeface="Georgia" pitchFamily="34" charset="-122"/>
                <a:cs typeface="Georgia" pitchFamily="34" charset="-120"/>
              </a:rPr>
              <a:t>The Money You Were Never Taught About</a:t>
            </a:r>
            <a:endParaRPr lang="en-US" sz="3600" dirty="0"/>
          </a:p>
        </p:txBody>
      </p:sp>
      <p:sp>
        <p:nvSpPr>
          <p:cNvPr id="6" name="Text 4"/>
          <p:cNvSpPr/>
          <p:nvPr/>
        </p:nvSpPr>
        <p:spPr>
          <a:xfrm>
            <a:off x="548640" y="3200400"/>
            <a:ext cx="5669280" cy="73152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A 45-minute introduction to why the financial system feels broken — and what to do about it</a:t>
            </a:r>
            <a:endParaRPr lang="en-US" sz="1500" dirty="0"/>
          </a:p>
        </p:txBody>
      </p:sp>
      <p:sp>
        <p:nvSpPr>
          <p:cNvPr id="7" name="Text 5"/>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Three Things You'll Leave With Tonight</a:t>
            </a:r>
            <a:endParaRPr lang="en-US" sz="2600" dirty="0"/>
          </a:p>
        </p:txBody>
      </p:sp>
      <p:sp>
        <p:nvSpPr>
          <p:cNvPr id="3" name="Shape 1"/>
          <p:cNvSpPr/>
          <p:nvPr/>
        </p:nvSpPr>
        <p:spPr>
          <a:xfrm>
            <a:off x="457200" y="1051560"/>
            <a:ext cx="8229600" cy="109728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51560"/>
            <a:ext cx="502920" cy="1097280"/>
          </a:xfrm>
          <a:prstGeom prst="rect">
            <a:avLst/>
          </a:prstGeom>
          <a:solidFill>
            <a:srgbClr val="1A2E5E"/>
          </a:solidFill>
          <a:ln w="12700">
            <a:solidFill>
              <a:srgbClr val="1A2E5E"/>
            </a:solidFill>
            <a:prstDash val="solid"/>
          </a:ln>
        </p:spPr>
      </p:sp>
      <p:sp>
        <p:nvSpPr>
          <p:cNvPr id="5" name="Text 3"/>
          <p:cNvSpPr/>
          <p:nvPr/>
        </p:nvSpPr>
        <p:spPr>
          <a:xfrm>
            <a:off x="457200" y="1069848"/>
            <a:ext cx="502920" cy="1060704"/>
          </a:xfrm>
          <a:prstGeom prst="rect">
            <a:avLst/>
          </a:prstGeom>
          <a:noFill/>
          <a:ln/>
        </p:spPr>
        <p:txBody>
          <a:bodyPr wrap="square" lIns="0" tIns="0" rIns="0" bIns="0" rtlCol="0" anchor="ctr"/>
          <a:lstStyle/>
          <a:p>
            <a:pPr algn="ctr" indent="0" marL="0">
              <a:buNone/>
            </a:pPr>
            <a:r>
              <a:rPr lang="en-US" sz="2200" b="1" dirty="0">
                <a:solidFill>
                  <a:srgbClr val="C9A84C"/>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1051560" y="1161288"/>
            <a:ext cx="7498080" cy="292608"/>
          </a:xfrm>
          <a:prstGeom prst="rect">
            <a:avLst/>
          </a:prstGeom>
          <a:noFill/>
          <a:ln/>
        </p:spPr>
        <p:txBody>
          <a:bodyPr wrap="square" lIns="0" tIns="0" rIns="0" bIns="0" rtlCol="0" anchor="ctr"/>
          <a:lstStyle/>
          <a:p>
            <a:pPr indent="0" marL="0">
              <a:buNone/>
            </a:pPr>
            <a:r>
              <a:rPr lang="en-US" sz="1300" b="1" dirty="0">
                <a:solidFill>
                  <a:srgbClr val="1C1C2E"/>
                </a:solidFill>
                <a:latin typeface="Calibri" pitchFamily="34" charset="0"/>
                <a:ea typeface="Calibri" pitchFamily="34" charset="-122"/>
                <a:cs typeface="Calibri" pitchFamily="34" charset="-120"/>
              </a:rPr>
              <a:t>Why money exists — and why it matters more than you think</a:t>
            </a:r>
            <a:endParaRPr lang="en-US" sz="1300" dirty="0"/>
          </a:p>
        </p:txBody>
      </p:sp>
      <p:sp>
        <p:nvSpPr>
          <p:cNvPr id="7" name="Text 5"/>
          <p:cNvSpPr/>
          <p:nvPr/>
        </p:nvSpPr>
        <p:spPr>
          <a:xfrm>
            <a:off x="1051560" y="1508760"/>
            <a:ext cx="7498080" cy="502920"/>
          </a:xfrm>
          <a:prstGeom prst="rect">
            <a:avLst/>
          </a:prstGeom>
          <a:noFill/>
          <a:ln/>
        </p:spPr>
        <p:txBody>
          <a:bodyPr wrap="square" lIns="0" tIns="0" rIns="0" bIns="0" rtlCol="0" anchor="ctr"/>
          <a:lstStyle/>
          <a:p>
            <a:pPr indent="0" marL="0">
              <a:lnSpc>
                <a:spcPct val="135000"/>
              </a:lnSpc>
              <a:buNone/>
            </a:pPr>
            <a:r>
              <a:rPr lang="en-US" sz="1150" dirty="0">
                <a:solidFill>
                  <a:srgbClr val="4A5568"/>
                </a:solidFill>
                <a:latin typeface="Calibri" pitchFamily="34" charset="0"/>
                <a:ea typeface="Calibri" pitchFamily="34" charset="-122"/>
                <a:cs typeface="Calibri" pitchFamily="34" charset="-120"/>
              </a:rPr>
              <a:t>Most of us use money every day without knowing what it actually is or where it came from. That gap turns out to matter.</a:t>
            </a:r>
            <a:endParaRPr lang="en-US" sz="1150" dirty="0"/>
          </a:p>
        </p:txBody>
      </p:sp>
      <p:sp>
        <p:nvSpPr>
          <p:cNvPr id="8" name="Shape 6"/>
          <p:cNvSpPr/>
          <p:nvPr/>
        </p:nvSpPr>
        <p:spPr>
          <a:xfrm>
            <a:off x="457200" y="2286000"/>
            <a:ext cx="8229600" cy="109728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9" name="Shape 7"/>
          <p:cNvSpPr/>
          <p:nvPr/>
        </p:nvSpPr>
        <p:spPr>
          <a:xfrm>
            <a:off x="457200" y="2286000"/>
            <a:ext cx="502920" cy="1097280"/>
          </a:xfrm>
          <a:prstGeom prst="rect">
            <a:avLst/>
          </a:prstGeom>
          <a:solidFill>
            <a:srgbClr val="1A2E5E"/>
          </a:solidFill>
          <a:ln w="12700">
            <a:solidFill>
              <a:srgbClr val="1A2E5E"/>
            </a:solidFill>
            <a:prstDash val="solid"/>
          </a:ln>
        </p:spPr>
      </p:sp>
      <p:sp>
        <p:nvSpPr>
          <p:cNvPr id="10" name="Text 8"/>
          <p:cNvSpPr/>
          <p:nvPr/>
        </p:nvSpPr>
        <p:spPr>
          <a:xfrm>
            <a:off x="457200" y="2304288"/>
            <a:ext cx="502920" cy="1060704"/>
          </a:xfrm>
          <a:prstGeom prst="rect">
            <a:avLst/>
          </a:prstGeom>
          <a:noFill/>
          <a:ln/>
        </p:spPr>
        <p:txBody>
          <a:bodyPr wrap="square" lIns="0" tIns="0" rIns="0" bIns="0" rtlCol="0" anchor="ctr"/>
          <a:lstStyle/>
          <a:p>
            <a:pPr algn="ctr" indent="0" marL="0">
              <a:buNone/>
            </a:pPr>
            <a:r>
              <a:rPr lang="en-US" sz="2200" b="1" dirty="0">
                <a:solidFill>
                  <a:srgbClr val="C9A84C"/>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051560" y="2395728"/>
            <a:ext cx="7498080" cy="292608"/>
          </a:xfrm>
          <a:prstGeom prst="rect">
            <a:avLst/>
          </a:prstGeom>
          <a:noFill/>
          <a:ln/>
        </p:spPr>
        <p:txBody>
          <a:bodyPr wrap="square" lIns="0" tIns="0" rIns="0" bIns="0" rtlCol="0" anchor="ctr"/>
          <a:lstStyle/>
          <a:p>
            <a:pPr indent="0" marL="0">
              <a:buNone/>
            </a:pPr>
            <a:r>
              <a:rPr lang="en-US" sz="1300" b="1" dirty="0">
                <a:solidFill>
                  <a:srgbClr val="1C1C2E"/>
                </a:solidFill>
                <a:latin typeface="Calibri" pitchFamily="34" charset="0"/>
                <a:ea typeface="Calibri" pitchFamily="34" charset="-122"/>
                <a:cs typeface="Calibri" pitchFamily="34" charset="-120"/>
              </a:rPr>
              <a:t>Why the system feels broken — and it's not your fault</a:t>
            </a:r>
            <a:endParaRPr lang="en-US" sz="1300" dirty="0"/>
          </a:p>
        </p:txBody>
      </p:sp>
      <p:sp>
        <p:nvSpPr>
          <p:cNvPr id="12" name="Text 10"/>
          <p:cNvSpPr/>
          <p:nvPr/>
        </p:nvSpPr>
        <p:spPr>
          <a:xfrm>
            <a:off x="1051560" y="2743200"/>
            <a:ext cx="7498080" cy="502920"/>
          </a:xfrm>
          <a:prstGeom prst="rect">
            <a:avLst/>
          </a:prstGeom>
          <a:noFill/>
          <a:ln/>
        </p:spPr>
        <p:txBody>
          <a:bodyPr wrap="square" lIns="0" tIns="0" rIns="0" bIns="0" rtlCol="0" anchor="ctr"/>
          <a:lstStyle/>
          <a:p>
            <a:pPr indent="0" marL="0">
              <a:lnSpc>
                <a:spcPct val="135000"/>
              </a:lnSpc>
              <a:buNone/>
            </a:pPr>
            <a:r>
              <a:rPr lang="en-US" sz="1150" dirty="0">
                <a:solidFill>
                  <a:srgbClr val="4A5568"/>
                </a:solidFill>
                <a:latin typeface="Calibri" pitchFamily="34" charset="0"/>
                <a:ea typeface="Calibri" pitchFamily="34" charset="-122"/>
                <a:cs typeface="Calibri" pitchFamily="34" charset="-120"/>
              </a:rPr>
              <a:t>Rising costs, wages that don't keep up, debt that's hard to escape. These aren't random. They have a cause.</a:t>
            </a:r>
            <a:endParaRPr lang="en-US" sz="1150" dirty="0"/>
          </a:p>
        </p:txBody>
      </p:sp>
      <p:sp>
        <p:nvSpPr>
          <p:cNvPr id="13" name="Shape 11"/>
          <p:cNvSpPr/>
          <p:nvPr/>
        </p:nvSpPr>
        <p:spPr>
          <a:xfrm>
            <a:off x="457200" y="3520440"/>
            <a:ext cx="8229600" cy="109728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457200" y="3520440"/>
            <a:ext cx="502920" cy="1097280"/>
          </a:xfrm>
          <a:prstGeom prst="rect">
            <a:avLst/>
          </a:prstGeom>
          <a:solidFill>
            <a:srgbClr val="1A2E5E"/>
          </a:solidFill>
          <a:ln w="12700">
            <a:solidFill>
              <a:srgbClr val="1A2E5E"/>
            </a:solidFill>
            <a:prstDash val="solid"/>
          </a:ln>
        </p:spPr>
      </p:sp>
      <p:sp>
        <p:nvSpPr>
          <p:cNvPr id="15" name="Text 13"/>
          <p:cNvSpPr/>
          <p:nvPr/>
        </p:nvSpPr>
        <p:spPr>
          <a:xfrm>
            <a:off x="457200" y="3538728"/>
            <a:ext cx="502920" cy="1060704"/>
          </a:xfrm>
          <a:prstGeom prst="rect">
            <a:avLst/>
          </a:prstGeom>
          <a:noFill/>
          <a:ln/>
        </p:spPr>
        <p:txBody>
          <a:bodyPr wrap="square" lIns="0" tIns="0" rIns="0" bIns="0" rtlCol="0" anchor="ctr"/>
          <a:lstStyle/>
          <a:p>
            <a:pPr algn="ctr" indent="0" marL="0">
              <a:buNone/>
            </a:pPr>
            <a:r>
              <a:rPr lang="en-US" sz="2200" b="1" dirty="0">
                <a:solidFill>
                  <a:srgbClr val="C9A84C"/>
                </a:solidFill>
                <a:latin typeface="Georgia" pitchFamily="34" charset="0"/>
                <a:ea typeface="Georgia" pitchFamily="34" charset="-122"/>
                <a:cs typeface="Georgia" pitchFamily="34" charset="-120"/>
              </a:rPr>
              <a:t>3</a:t>
            </a:r>
            <a:endParaRPr lang="en-US" sz="2200" dirty="0"/>
          </a:p>
        </p:txBody>
      </p:sp>
      <p:sp>
        <p:nvSpPr>
          <p:cNvPr id="16" name="Text 14"/>
          <p:cNvSpPr/>
          <p:nvPr/>
        </p:nvSpPr>
        <p:spPr>
          <a:xfrm>
            <a:off x="1051560" y="3630168"/>
            <a:ext cx="7498080" cy="292608"/>
          </a:xfrm>
          <a:prstGeom prst="rect">
            <a:avLst/>
          </a:prstGeom>
          <a:noFill/>
          <a:ln/>
        </p:spPr>
        <p:txBody>
          <a:bodyPr wrap="square" lIns="0" tIns="0" rIns="0" bIns="0" rtlCol="0" anchor="ctr"/>
          <a:lstStyle/>
          <a:p>
            <a:pPr indent="0" marL="0">
              <a:buNone/>
            </a:pPr>
            <a:r>
              <a:rPr lang="en-US" sz="1300" b="1" dirty="0">
                <a:solidFill>
                  <a:srgbClr val="1C1C2E"/>
                </a:solidFill>
                <a:latin typeface="Calibri" pitchFamily="34" charset="0"/>
                <a:ea typeface="Calibri" pitchFamily="34" charset="-122"/>
                <a:cs typeface="Calibri" pitchFamily="34" charset="-120"/>
              </a:rPr>
              <a:t>That a better system exists — and anyone can access it</a:t>
            </a:r>
            <a:endParaRPr lang="en-US" sz="1300" dirty="0"/>
          </a:p>
        </p:txBody>
      </p:sp>
      <p:sp>
        <p:nvSpPr>
          <p:cNvPr id="17" name="Text 15"/>
          <p:cNvSpPr/>
          <p:nvPr/>
        </p:nvSpPr>
        <p:spPr>
          <a:xfrm>
            <a:off x="1051560" y="3977640"/>
            <a:ext cx="7498080" cy="502920"/>
          </a:xfrm>
          <a:prstGeom prst="rect">
            <a:avLst/>
          </a:prstGeom>
          <a:noFill/>
          <a:ln/>
        </p:spPr>
        <p:txBody>
          <a:bodyPr wrap="square" lIns="0" tIns="0" rIns="0" bIns="0" rtlCol="0" anchor="ctr"/>
          <a:lstStyle/>
          <a:p>
            <a:pPr indent="0" marL="0">
              <a:lnSpc>
                <a:spcPct val="135000"/>
              </a:lnSpc>
              <a:buNone/>
            </a:pPr>
            <a:r>
              <a:rPr lang="en-US" sz="1150" dirty="0">
                <a:solidFill>
                  <a:srgbClr val="4A5568"/>
                </a:solidFill>
                <a:latin typeface="Calibri" pitchFamily="34" charset="0"/>
                <a:ea typeface="Calibri" pitchFamily="34" charset="-122"/>
                <a:cs typeface="Calibri" pitchFamily="34" charset="-120"/>
              </a:rPr>
              <a:t>This isn't a dead end. Hard money and Bitcoin offer a real alternative — and understanding why is the first step.</a:t>
            </a:r>
            <a:endParaRPr lang="en-US" sz="1150" dirty="0"/>
          </a:p>
        </p:txBody>
      </p:sp>
      <p:sp>
        <p:nvSpPr>
          <p:cNvPr id="18" name="Text 16"/>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1 OF 3 — 10 MINUTES</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The World You Live In</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Everything you own exists because of this</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This Morning Was Thousands of Years in the Making</a:t>
            </a:r>
            <a:endParaRPr lang="en-US" sz="2600" dirty="0"/>
          </a:p>
        </p:txBody>
      </p:sp>
      <p:sp>
        <p:nvSpPr>
          <p:cNvPr id="3" name="Shape 1"/>
          <p:cNvSpPr/>
          <p:nvPr/>
        </p:nvSpPr>
        <p:spPr>
          <a:xfrm>
            <a:off x="457200" y="960120"/>
            <a:ext cx="4023360" cy="338328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640080" y="1097280"/>
            <a:ext cx="3657600" cy="2377440"/>
          </a:xfrm>
          <a:prstGeom prst="rect">
            <a:avLst/>
          </a:prstGeom>
          <a:noFill/>
          <a:ln/>
        </p:spPr>
        <p:txBody>
          <a:bodyPr wrap="square" rtlCol="0" anchor="ctr"/>
          <a:lstStyle/>
          <a:p>
            <a:pPr indent="0" marL="0">
              <a:lnSpc>
                <a:spcPct val="160000"/>
              </a:lnSpc>
              <a:buNone/>
            </a:pPr>
            <a:r>
              <a:rPr lang="en-US" sz="1350" i="1" dirty="0">
                <a:solidFill>
                  <a:srgbClr val="E8EAF6"/>
                </a:solidFill>
                <a:latin typeface="Georgia" pitchFamily="34" charset="0"/>
                <a:ea typeface="Georgia" pitchFamily="34" charset="-122"/>
                <a:cs typeface="Georgia" pitchFamily="34" charset="-120"/>
              </a:rPr>
              <a:t>“Every product you own, every service you use, every medicine that has ever saved a life — all of it exists because humans figured out how to trade with strangers they would never meet.”</a:t>
            </a:r>
            <a:endParaRPr lang="en-US" sz="1350" dirty="0"/>
          </a:p>
        </p:txBody>
      </p:sp>
      <p:sp>
        <p:nvSpPr>
          <p:cNvPr id="5" name="Shape 3"/>
          <p:cNvSpPr/>
          <p:nvPr/>
        </p:nvSpPr>
        <p:spPr>
          <a:xfrm>
            <a:off x="640080" y="3547872"/>
            <a:ext cx="365760" cy="36576"/>
          </a:xfrm>
          <a:prstGeom prst="rect">
            <a:avLst/>
          </a:prstGeom>
          <a:solidFill>
            <a:srgbClr val="C9A84C"/>
          </a:solidFill>
          <a:ln w="12700">
            <a:solidFill>
              <a:srgbClr val="C9A84C"/>
            </a:solidFill>
            <a:prstDash val="solid"/>
          </a:ln>
        </p:spPr>
      </p:sp>
      <p:sp>
        <p:nvSpPr>
          <p:cNvPr id="6" name="Text 4"/>
          <p:cNvSpPr/>
          <p:nvPr/>
        </p:nvSpPr>
        <p:spPr>
          <a:xfrm>
            <a:off x="640080" y="3611880"/>
            <a:ext cx="3657600" cy="201168"/>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freeMarketWatch Education Series</a:t>
            </a:r>
            <a:endParaRPr lang="en-US" sz="900" dirty="0"/>
          </a:p>
        </p:txBody>
      </p:sp>
      <p:sp>
        <p:nvSpPr>
          <p:cNvPr id="7" name="Shape 5"/>
          <p:cNvSpPr/>
          <p:nvPr/>
        </p:nvSpPr>
        <p:spPr>
          <a:xfrm>
            <a:off x="4754880" y="960120"/>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754880" y="960120"/>
            <a:ext cx="54864" cy="1051560"/>
          </a:xfrm>
          <a:prstGeom prst="rect">
            <a:avLst/>
          </a:prstGeom>
          <a:solidFill>
            <a:srgbClr val="C9A84C"/>
          </a:solidFill>
          <a:ln w="12700">
            <a:solidFill>
              <a:srgbClr val="C9A84C"/>
            </a:solidFill>
            <a:prstDash val="solid"/>
          </a:ln>
        </p:spPr>
      </p:sp>
      <p:sp>
        <p:nvSpPr>
          <p:cNvPr id="9" name="Text 7"/>
          <p:cNvSpPr/>
          <p:nvPr/>
        </p:nvSpPr>
        <p:spPr>
          <a:xfrm>
            <a:off x="4882896" y="1051560"/>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Your coffee came from Colombia</a:t>
            </a:r>
            <a:endParaRPr lang="en-US" sz="1200" dirty="0"/>
          </a:p>
        </p:txBody>
      </p:sp>
      <p:sp>
        <p:nvSpPr>
          <p:cNvPr id="10" name="Text 8"/>
          <p:cNvSpPr/>
          <p:nvPr/>
        </p:nvSpPr>
        <p:spPr>
          <a:xfrm>
            <a:off x="4882896" y="1344168"/>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Grown, roasted, transported, and sold by people who have never met — coordinated entirely by prices and money.</a:t>
            </a:r>
            <a:endParaRPr lang="en-US" sz="1050" dirty="0"/>
          </a:p>
        </p:txBody>
      </p:sp>
      <p:sp>
        <p:nvSpPr>
          <p:cNvPr id="11" name="Shape 9"/>
          <p:cNvSpPr/>
          <p:nvPr/>
        </p:nvSpPr>
        <p:spPr>
          <a:xfrm>
            <a:off x="4754880" y="2121408"/>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754880" y="2121408"/>
            <a:ext cx="54864" cy="1051560"/>
          </a:xfrm>
          <a:prstGeom prst="rect">
            <a:avLst/>
          </a:prstGeom>
          <a:solidFill>
            <a:srgbClr val="C9A84C"/>
          </a:solidFill>
          <a:ln w="12700">
            <a:solidFill>
              <a:srgbClr val="C9A84C"/>
            </a:solidFill>
            <a:prstDash val="solid"/>
          </a:ln>
        </p:spPr>
      </p:sp>
      <p:sp>
        <p:nvSpPr>
          <p:cNvPr id="13" name="Text 11"/>
          <p:cNvSpPr/>
          <p:nvPr/>
        </p:nvSpPr>
        <p:spPr>
          <a:xfrm>
            <a:off x="4882896" y="2212848"/>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Specialization built civilization</a:t>
            </a:r>
            <a:endParaRPr lang="en-US" sz="1200" dirty="0"/>
          </a:p>
        </p:txBody>
      </p:sp>
      <p:sp>
        <p:nvSpPr>
          <p:cNvPr id="14" name="Text 12"/>
          <p:cNvSpPr/>
          <p:nvPr/>
        </p:nvSpPr>
        <p:spPr>
          <a:xfrm>
            <a:off x="4882896" y="2505456"/>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When people trade, they specialize. Economists call this lengthening the lines of production. The longer the chain, the more complex what we can build together.</a:t>
            </a:r>
            <a:endParaRPr lang="en-US" sz="1050" dirty="0"/>
          </a:p>
        </p:txBody>
      </p:sp>
      <p:sp>
        <p:nvSpPr>
          <p:cNvPr id="15" name="Shape 13"/>
          <p:cNvSpPr/>
          <p:nvPr/>
        </p:nvSpPr>
        <p:spPr>
          <a:xfrm>
            <a:off x="4754880" y="3282696"/>
            <a:ext cx="3931920" cy="105156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754880" y="3282696"/>
            <a:ext cx="54864" cy="1051560"/>
          </a:xfrm>
          <a:prstGeom prst="rect">
            <a:avLst/>
          </a:prstGeom>
          <a:solidFill>
            <a:srgbClr val="C9A84C"/>
          </a:solidFill>
          <a:ln w="12700">
            <a:solidFill>
              <a:srgbClr val="C9A84C"/>
            </a:solidFill>
            <a:prstDash val="solid"/>
          </a:ln>
        </p:spPr>
      </p:sp>
      <p:sp>
        <p:nvSpPr>
          <p:cNvPr id="17" name="Text 15"/>
          <p:cNvSpPr/>
          <p:nvPr/>
        </p:nvSpPr>
        <p:spPr>
          <a:xfrm>
            <a:off x="4882896" y="3374136"/>
            <a:ext cx="365760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But it only works with money</a:t>
            </a:r>
            <a:endParaRPr lang="en-US" sz="1200" dirty="0"/>
          </a:p>
        </p:txBody>
      </p:sp>
      <p:sp>
        <p:nvSpPr>
          <p:cNvPr id="18" name="Text 16"/>
          <p:cNvSpPr/>
          <p:nvPr/>
        </p:nvSpPr>
        <p:spPr>
          <a:xfrm>
            <a:off x="4882896" y="3666744"/>
            <a:ext cx="3657600" cy="548640"/>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Without a trusted medium of exchange, global trade is impossible. Money didn't come from a government — it emerged naturally wherever people traded.</a:t>
            </a:r>
            <a:endParaRPr lang="en-US" sz="105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Makes Money Good — In 60 Seconds</a:t>
            </a:r>
            <a:endParaRPr lang="en-US" sz="2600" dirty="0"/>
          </a:p>
        </p:txBody>
      </p:sp>
      <p:sp>
        <p:nvSpPr>
          <p:cNvPr id="3" name="Shape 1"/>
          <p:cNvSpPr/>
          <p:nvPr/>
        </p:nvSpPr>
        <p:spPr>
          <a:xfrm>
            <a:off x="457200" y="960120"/>
            <a:ext cx="4069080" cy="192024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457200" y="1024128"/>
            <a:ext cx="4069080" cy="502920"/>
          </a:xfrm>
          <a:prstGeom prst="rect">
            <a:avLst/>
          </a:prstGeom>
          <a:noFill/>
          <a:ln/>
        </p:spPr>
        <p:txBody>
          <a:bodyPr wrap="square" rtlCol="0" anchor="ctr"/>
          <a:lstStyle/>
          <a:p>
            <a:pPr algn="ctr" indent="0" marL="0">
              <a:buNone/>
            </a:pPr>
            <a:r>
              <a:rPr lang="en-US" sz="3200" b="1" dirty="0">
                <a:solidFill>
                  <a:srgbClr val="C9A84C"/>
                </a:solidFill>
                <a:latin typeface="Georgia" pitchFamily="34" charset="0"/>
                <a:ea typeface="Georgia" pitchFamily="34" charset="-122"/>
                <a:cs typeface="Georgia" pitchFamily="34" charset="-120"/>
              </a:rPr>
              <a:t>SCARCE</a:t>
            </a:r>
            <a:endParaRPr lang="en-US" sz="3200" dirty="0"/>
          </a:p>
        </p:txBody>
      </p:sp>
      <p:sp>
        <p:nvSpPr>
          <p:cNvPr id="5" name="Text 3"/>
          <p:cNvSpPr/>
          <p:nvPr/>
        </p:nvSpPr>
        <p:spPr>
          <a:xfrm>
            <a:off x="594360" y="1572768"/>
            <a:ext cx="3794760" cy="1005840"/>
          </a:xfrm>
          <a:prstGeom prst="rect">
            <a:avLst/>
          </a:prstGeom>
          <a:noFill/>
          <a:ln/>
        </p:spPr>
        <p:txBody>
          <a:bodyPr wrap="square" rtlCol="0" anchor="ctr"/>
          <a:lstStyle/>
          <a:p>
            <a:pPr algn="ctr" indent="0" marL="0">
              <a:lnSpc>
                <a:spcPct val="150000"/>
              </a:lnSpc>
              <a:buNone/>
            </a:pPr>
            <a:r>
              <a:rPr lang="en-US" sz="1300" dirty="0">
                <a:solidFill>
                  <a:srgbClr val="E8EAF6"/>
                </a:solidFill>
                <a:latin typeface="Calibri" pitchFamily="34" charset="0"/>
                <a:ea typeface="Calibri" pitchFamily="34" charset="-122"/>
                <a:cs typeface="Calibri" pitchFamily="34" charset="-120"/>
              </a:rPr>
              <a:t>If anyone can create more of it, they will — and each unit buys less. Scarcity is what gives money its value.</a:t>
            </a:r>
            <a:endParaRPr lang="en-US" sz="1300" dirty="0"/>
          </a:p>
        </p:txBody>
      </p:sp>
      <p:sp>
        <p:nvSpPr>
          <p:cNvPr id="6" name="Shape 4"/>
          <p:cNvSpPr/>
          <p:nvPr/>
        </p:nvSpPr>
        <p:spPr>
          <a:xfrm>
            <a:off x="4617720" y="960120"/>
            <a:ext cx="4069080" cy="192024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7" name="Text 5"/>
          <p:cNvSpPr/>
          <p:nvPr/>
        </p:nvSpPr>
        <p:spPr>
          <a:xfrm>
            <a:off x="4617720" y="1024128"/>
            <a:ext cx="4069080" cy="502920"/>
          </a:xfrm>
          <a:prstGeom prst="rect">
            <a:avLst/>
          </a:prstGeom>
          <a:noFill/>
          <a:ln/>
        </p:spPr>
        <p:txBody>
          <a:bodyPr wrap="square" rtlCol="0" anchor="ctr"/>
          <a:lstStyle/>
          <a:p>
            <a:pPr algn="ctr" indent="0" marL="0">
              <a:buNone/>
            </a:pPr>
            <a:r>
              <a:rPr lang="en-US" sz="2800" b="1" dirty="0">
                <a:solidFill>
                  <a:srgbClr val="C9A84C"/>
                </a:solidFill>
                <a:latin typeface="Georgia" pitchFamily="34" charset="0"/>
                <a:ea typeface="Georgia" pitchFamily="34" charset="-122"/>
                <a:cs typeface="Georgia" pitchFamily="34" charset="-120"/>
              </a:rPr>
              <a:t>DECENTRALIZED</a:t>
            </a:r>
            <a:endParaRPr lang="en-US" sz="2800" dirty="0"/>
          </a:p>
        </p:txBody>
      </p:sp>
      <p:sp>
        <p:nvSpPr>
          <p:cNvPr id="8" name="Text 6"/>
          <p:cNvSpPr/>
          <p:nvPr/>
        </p:nvSpPr>
        <p:spPr>
          <a:xfrm>
            <a:off x="4754880" y="1572768"/>
            <a:ext cx="3794760" cy="1005840"/>
          </a:xfrm>
          <a:prstGeom prst="rect">
            <a:avLst/>
          </a:prstGeom>
          <a:noFill/>
          <a:ln/>
        </p:spPr>
        <p:txBody>
          <a:bodyPr wrap="square" rtlCol="0" anchor="ctr"/>
          <a:lstStyle/>
          <a:p>
            <a:pPr algn="ctr" indent="0" marL="0">
              <a:lnSpc>
                <a:spcPct val="150000"/>
              </a:lnSpc>
              <a:buNone/>
            </a:pPr>
            <a:r>
              <a:rPr lang="en-US" sz="1300" dirty="0">
                <a:solidFill>
                  <a:srgbClr val="E8EAF6"/>
                </a:solidFill>
                <a:latin typeface="Calibri" pitchFamily="34" charset="0"/>
                <a:ea typeface="Calibri" pitchFamily="34" charset="-122"/>
                <a:cs typeface="Calibri" pitchFamily="34" charset="-120"/>
              </a:rPr>
              <a:t>Control the money and you control everything purchased with it. History shows what happens when that power is concentrated.</a:t>
            </a:r>
            <a:endParaRPr lang="en-US" sz="1300" dirty="0"/>
          </a:p>
        </p:txBody>
      </p:sp>
      <p:sp>
        <p:nvSpPr>
          <p:cNvPr id="9" name="Text 7"/>
          <p:cNvSpPr/>
          <p:nvPr/>
        </p:nvSpPr>
        <p:spPr>
          <a:xfrm>
            <a:off x="548640" y="3017520"/>
            <a:ext cx="8046720" cy="502920"/>
          </a:xfrm>
          <a:prstGeom prst="rect">
            <a:avLst/>
          </a:prstGeom>
          <a:noFill/>
          <a:ln/>
        </p:spPr>
        <p:txBody>
          <a:bodyPr wrap="square" rtlCol="0" anchor="ctr"/>
          <a:lstStyle/>
          <a:p>
            <a:pPr indent="0" marL="0">
              <a:lnSpc>
                <a:spcPct val="145000"/>
              </a:lnSpc>
              <a:buNone/>
            </a:pPr>
            <a:r>
              <a:rPr lang="en-US" sz="1250" dirty="0">
                <a:solidFill>
                  <a:srgbClr val="4A5568"/>
                </a:solidFill>
                <a:latin typeface="Calibri" pitchFamily="34" charset="0"/>
                <a:ea typeface="Calibri" pitchFamily="34" charset="-122"/>
                <a:cs typeface="Calibri" pitchFamily="34" charset="-120"/>
              </a:rPr>
              <a:t>Gold checked nearly every box — the best natural money humanity ever found. It had one fatal flaw: too heavy to move without trusting someone. That trust was eventually abused.</a:t>
            </a:r>
            <a:endParaRPr lang="en-US" sz="1250" dirty="0"/>
          </a:p>
        </p:txBody>
      </p:sp>
      <p:sp>
        <p:nvSpPr>
          <p:cNvPr id="10" name="Shape 8"/>
          <p:cNvSpPr/>
          <p:nvPr/>
        </p:nvSpPr>
        <p:spPr>
          <a:xfrm>
            <a:off x="457200" y="3639312"/>
            <a:ext cx="8229600" cy="566928"/>
          </a:xfrm>
          <a:prstGeom prst="rect">
            <a:avLst/>
          </a:prstGeom>
          <a:solidFill>
            <a:srgbClr val="1A2E5E"/>
          </a:solidFill>
          <a:ln w="12700">
            <a:solidFill>
              <a:srgbClr val="1A2E5E"/>
            </a:solidFill>
            <a:prstDash val="solid"/>
          </a:ln>
        </p:spPr>
      </p:sp>
      <p:sp>
        <p:nvSpPr>
          <p:cNvPr id="11" name="Text 9"/>
          <p:cNvSpPr/>
          <p:nvPr/>
        </p:nvSpPr>
        <p:spPr>
          <a:xfrm>
            <a:off x="594360" y="3639312"/>
            <a:ext cx="7955280" cy="566928"/>
          </a:xfrm>
          <a:prstGeom prst="rect">
            <a:avLst/>
          </a:prstGeom>
          <a:noFill/>
          <a:ln/>
        </p:spPr>
        <p:txBody>
          <a:bodyPr wrap="square" rtlCol="0" anchor="ctr"/>
          <a:lstStyle/>
          <a:p>
            <a:pPr indent="0" marL="0">
              <a:lnSpc>
                <a:spcPct val="145000"/>
              </a:lnSpc>
              <a:buNone/>
            </a:pPr>
            <a:r>
              <a:rPr lang="en-US" sz="1300" dirty="0">
                <a:solidFill>
                  <a:srgbClr val="C9A84C"/>
                </a:solidFill>
                <a:latin typeface="Calibri" pitchFamily="34" charset="0"/>
                <a:ea typeface="Calibri" pitchFamily="34" charset="-122"/>
                <a:cs typeface="Calibri" pitchFamily="34" charset="-120"/>
              </a:rPr>
              <a:t>Our current money fails both tests. It is neither scarce nor decentralized. That is not an accident — and it has consequences.</a:t>
            </a:r>
            <a:endParaRPr lang="en-US" sz="1300" dirty="0"/>
          </a:p>
        </p:txBody>
      </p:sp>
      <p:sp>
        <p:nvSpPr>
          <p:cNvPr id="12" name="Text 10"/>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2 OF 3 — 12 MINUTES</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Why the System Feels Broken</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And why it's not your fault</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Things Aren't Getting More Expensive</a:t>
            </a:r>
            <a:endParaRPr lang="en-US" sz="2600" dirty="0"/>
          </a:p>
        </p:txBody>
      </p:sp>
      <p:sp>
        <p:nvSpPr>
          <p:cNvPr id="3" name="Shape 1"/>
          <p:cNvSpPr/>
          <p:nvPr/>
        </p:nvSpPr>
        <p:spPr>
          <a:xfrm>
            <a:off x="457200" y="960120"/>
            <a:ext cx="8229600" cy="868680"/>
          </a:xfrm>
          <a:prstGeom prst="rect">
            <a:avLst/>
          </a:prstGeom>
          <a:solidFill>
            <a:srgbClr val="1A2E5E"/>
          </a:solidFill>
          <a:ln w="12700">
            <a:solidFill>
              <a:srgbClr val="1A2E5E"/>
            </a:solidFill>
            <a:prstDash val="solid"/>
          </a:ln>
        </p:spPr>
      </p:sp>
      <p:sp>
        <p:nvSpPr>
          <p:cNvPr id="4" name="Text 2"/>
          <p:cNvSpPr/>
          <p:nvPr/>
        </p:nvSpPr>
        <p:spPr>
          <a:xfrm>
            <a:off x="457200" y="960120"/>
            <a:ext cx="8229600" cy="868680"/>
          </a:xfrm>
          <a:prstGeom prst="rect">
            <a:avLst/>
          </a:prstGeom>
          <a:noFill/>
          <a:ln/>
        </p:spPr>
        <p:txBody>
          <a:bodyPr wrap="square" rtlCol="0" anchor="ctr"/>
          <a:lstStyle/>
          <a:p>
            <a:pPr algn="ctr" indent="0" marL="0">
              <a:buNone/>
            </a:pPr>
            <a:r>
              <a:rPr lang="en-US" sz="2600" b="1" dirty="0">
                <a:solidFill>
                  <a:srgbClr val="C9A84C"/>
                </a:solidFill>
                <a:latin typeface="Georgia" pitchFamily="34" charset="0"/>
                <a:ea typeface="Georgia" pitchFamily="34" charset="-122"/>
                <a:cs typeface="Georgia" pitchFamily="34" charset="-120"/>
              </a:rPr>
              <a:t>Your money is getting weaker.</a:t>
            </a:r>
            <a:endParaRPr lang="en-US" sz="2600" dirty="0"/>
          </a:p>
        </p:txBody>
      </p:sp>
      <p:sp>
        <p:nvSpPr>
          <p:cNvPr id="5" name="Shape 3"/>
          <p:cNvSpPr/>
          <p:nvPr/>
        </p:nvSpPr>
        <p:spPr>
          <a:xfrm>
            <a:off x="457200" y="1965960"/>
            <a:ext cx="3931920" cy="233172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6" name="Shape 4"/>
          <p:cNvSpPr/>
          <p:nvPr/>
        </p:nvSpPr>
        <p:spPr>
          <a:xfrm>
            <a:off x="457200" y="1965960"/>
            <a:ext cx="64008" cy="2331720"/>
          </a:xfrm>
          <a:prstGeom prst="rect">
            <a:avLst/>
          </a:prstGeom>
          <a:solidFill>
            <a:srgbClr val="B94040"/>
          </a:solidFill>
          <a:ln w="12700">
            <a:solidFill>
              <a:srgbClr val="B94040"/>
            </a:solidFill>
            <a:prstDash val="solid"/>
          </a:ln>
        </p:spPr>
      </p:sp>
      <p:sp>
        <p:nvSpPr>
          <p:cNvPr id="7" name="Text 5"/>
          <p:cNvSpPr/>
          <p:nvPr/>
        </p:nvSpPr>
        <p:spPr>
          <a:xfrm>
            <a:off x="594360" y="2057400"/>
            <a:ext cx="370332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instinctive explanation</a:t>
            </a:r>
            <a:endParaRPr lang="en-US" sz="1200" dirty="0"/>
          </a:p>
        </p:txBody>
      </p:sp>
      <p:sp>
        <p:nvSpPr>
          <p:cNvPr id="8" name="Text 6"/>
          <p:cNvSpPr/>
          <p:nvPr/>
        </p:nvSpPr>
        <p:spPr>
          <a:xfrm>
            <a:off x="594360" y="2359152"/>
            <a:ext cx="3703320" cy="1737360"/>
          </a:xfrm>
          <a:prstGeom prst="rect">
            <a:avLst/>
          </a:prstGeom>
          <a:noFill/>
          <a:ln/>
        </p:spPr>
        <p:txBody>
          <a:bodyPr wrap="square" lIns="0" tIns="0" rIns="0" bIns="0" rtlCol="0" anchor="ctr"/>
          <a:lstStyle/>
          <a:p>
            <a:pPr indent="0" marL="0">
              <a:lnSpc>
                <a:spcPct val="145000"/>
              </a:lnSpc>
              <a:buNone/>
            </a:pPr>
            <a:r>
              <a:rPr lang="en-US" sz="1150" dirty="0">
                <a:solidFill>
                  <a:srgbClr val="4A5568"/>
                </a:solidFill>
                <a:latin typeface="Calibri" pitchFamily="34" charset="0"/>
                <a:ea typeface="Calibri" pitchFamily="34" charset="-122"/>
                <a:cs typeface="Calibri" pitchFamily="34" charset="-120"/>
              </a:rPr>
              <a:t>Things cost more because they're getting harder to make and we're getting more functionality. That's just how the economy works — prices go up, everybody knows that. And quality suffers because it's all made in China.</a:t>
            </a:r>
            <a:endParaRPr lang="en-US" sz="1150" dirty="0"/>
          </a:p>
        </p:txBody>
      </p:sp>
      <p:sp>
        <p:nvSpPr>
          <p:cNvPr id="9" name="Shape 7"/>
          <p:cNvSpPr/>
          <p:nvPr/>
        </p:nvSpPr>
        <p:spPr>
          <a:xfrm>
            <a:off x="4572000" y="1965960"/>
            <a:ext cx="4114800" cy="233172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0" name="Shape 8"/>
          <p:cNvSpPr/>
          <p:nvPr/>
        </p:nvSpPr>
        <p:spPr>
          <a:xfrm>
            <a:off x="4572000" y="1965960"/>
            <a:ext cx="64008" cy="2331720"/>
          </a:xfrm>
          <a:prstGeom prst="rect">
            <a:avLst/>
          </a:prstGeom>
          <a:solidFill>
            <a:srgbClr val="2E8B57"/>
          </a:solidFill>
          <a:ln w="12700">
            <a:solidFill>
              <a:srgbClr val="2E8B57"/>
            </a:solidFill>
            <a:prstDash val="solid"/>
          </a:ln>
        </p:spPr>
      </p:sp>
      <p:sp>
        <p:nvSpPr>
          <p:cNvPr id="11" name="Text 9"/>
          <p:cNvSpPr/>
          <p:nvPr/>
        </p:nvSpPr>
        <p:spPr>
          <a:xfrm>
            <a:off x="4709160" y="2057400"/>
            <a:ext cx="384048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real explanation</a:t>
            </a:r>
            <a:endParaRPr lang="en-US" sz="1200" dirty="0"/>
          </a:p>
        </p:txBody>
      </p:sp>
      <p:sp>
        <p:nvSpPr>
          <p:cNvPr id="12" name="Text 10"/>
          <p:cNvSpPr/>
          <p:nvPr/>
        </p:nvSpPr>
        <p:spPr>
          <a:xfrm>
            <a:off x="4709160" y="2359152"/>
            <a:ext cx="3840480" cy="1737360"/>
          </a:xfrm>
          <a:prstGeom prst="rect">
            <a:avLst/>
          </a:prstGeom>
          <a:noFill/>
          <a:ln/>
        </p:spPr>
        <p:txBody>
          <a:bodyPr wrap="square" lIns="0" tIns="0" rIns="0" bIns="0" rtlCol="0" anchor="ctr"/>
          <a:lstStyle/>
          <a:p>
            <a:pPr indent="0" marL="0">
              <a:lnSpc>
                <a:spcPct val="145000"/>
              </a:lnSpc>
              <a:buNone/>
            </a:pPr>
            <a:r>
              <a:rPr lang="en-US" sz="1150" dirty="0">
                <a:solidFill>
                  <a:srgbClr val="4A5568"/>
                </a:solidFill>
                <a:latin typeface="Calibri" pitchFamily="34" charset="0"/>
                <a:ea typeface="Calibri" pitchFamily="34" charset="-122"/>
                <a:cs typeface="Calibri" pitchFamily="34" charset="-120"/>
              </a:rPr>
              <a:t>We constantly get better at making things — production costs should be falling. Quality suffers not because of where products are made, but because manufacturers cut corners to keep prices low. The truth: prices aren't going up. The money we use is losing value. That's debasement — not inflation.</a:t>
            </a:r>
            <a:endParaRPr lang="en-US" sz="1150" dirty="0"/>
          </a:p>
        </p:txBody>
      </p:sp>
      <p:sp>
        <p:nvSpPr>
          <p:cNvPr id="13" name="Text 11"/>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
        <p:nvSpPr>
          <p:cNvPr id="14" name="Shape 12"/>
          <p:cNvSpPr/>
          <p:nvPr/>
        </p:nvSpPr>
        <p:spPr>
          <a:xfrm>
            <a:off x="457200" y="4434840"/>
            <a:ext cx="8229600" cy="347472"/>
          </a:xfrm>
          <a:prstGeom prst="rect">
            <a:avLst/>
          </a:prstGeom>
          <a:solidFill>
            <a:srgbClr val="1A2E5E"/>
          </a:solidFill>
          <a:ln w="12700">
            <a:solidFill>
              <a:srgbClr val="1A2E5E"/>
            </a:solidFill>
            <a:prstDash val="solid"/>
          </a:ln>
        </p:spPr>
      </p:sp>
      <p:sp>
        <p:nvSpPr>
          <p:cNvPr id="15" name="Text 13"/>
          <p:cNvSpPr/>
          <p:nvPr/>
        </p:nvSpPr>
        <p:spPr>
          <a:xfrm>
            <a:off x="594360" y="4434840"/>
            <a:ext cx="7955280" cy="347472"/>
          </a:xfrm>
          <a:prstGeom prst="rect">
            <a:avLst/>
          </a:prstGeom>
          <a:noFill/>
          <a:ln/>
        </p:spPr>
        <p:txBody>
          <a:bodyPr wrap="square" rtlCol="0" anchor="ctr"/>
          <a:lstStyle/>
          <a:p>
            <a:pPr indent="0" marL="0">
              <a:lnSpc>
                <a:spcPct val="130000"/>
              </a:lnSpc>
              <a:buNone/>
            </a:pPr>
            <a:r>
              <a:rPr lang="en-US" sz="1050" dirty="0">
                <a:solidFill>
                  <a:srgbClr val="C9A84C"/>
                </a:solidFill>
                <a:latin typeface="Calibri" pitchFamily="34" charset="0"/>
                <a:ea typeface="Calibri" pitchFamily="34" charset="-122"/>
                <a:cs typeface="Calibri" pitchFamily="34" charset="-120"/>
              </a:rPr>
              <a:t>The key mechanism: when new money is created, it dilutes the value of every dollar already in existence. This is why our money loses its value — and where that value goes is the next question.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Value Doesn't Disappear.</a:t>
            </a:r>
            <a:endParaRPr lang="en-US" sz="3600" dirty="0"/>
          </a:p>
        </p:txBody>
      </p:sp>
      <p:sp>
        <p:nvSpPr>
          <p:cNvPr id="4" name="Text 2"/>
          <p:cNvSpPr/>
          <p:nvPr/>
        </p:nvSpPr>
        <p:spPr>
          <a:xfrm>
            <a:off x="457200" y="1371600"/>
            <a:ext cx="8229600" cy="548640"/>
          </a:xfrm>
          <a:prstGeom prst="rect">
            <a:avLst/>
          </a:prstGeom>
          <a:noFill/>
          <a:ln/>
        </p:spPr>
        <p:txBody>
          <a:bodyPr wrap="square" rtlCol="0" anchor="ctr"/>
          <a:lstStyle/>
          <a:p>
            <a:pPr indent="0" marL="0">
              <a:buNone/>
            </a:pPr>
            <a:r>
              <a:rPr lang="en-US" sz="3600" b="1" dirty="0">
                <a:solidFill>
                  <a:srgbClr val="C9A84C"/>
                </a:solidFill>
                <a:latin typeface="Georgia" pitchFamily="34" charset="0"/>
                <a:ea typeface="Georgia" pitchFamily="34" charset="-122"/>
                <a:cs typeface="Georgia" pitchFamily="34" charset="-120"/>
              </a:rPr>
              <a:t>It is redistributed.</a:t>
            </a:r>
            <a:endParaRPr lang="en-US" sz="3600" dirty="0"/>
          </a:p>
        </p:txBody>
      </p:sp>
      <p:sp>
        <p:nvSpPr>
          <p:cNvPr id="5" name="Shape 3"/>
          <p:cNvSpPr/>
          <p:nvPr/>
        </p:nvSpPr>
        <p:spPr>
          <a:xfrm>
            <a:off x="457200" y="2194560"/>
            <a:ext cx="2697480" cy="2377440"/>
          </a:xfrm>
          <a:prstGeom prst="rect">
            <a:avLst/>
          </a:prstGeom>
          <a:solidFill>
            <a:srgbClr val="111827"/>
          </a:solidFill>
          <a:ln w="12700">
            <a:solidFill>
              <a:srgbClr val="1F2937"/>
            </a:solidFill>
            <a:prstDash val="solid"/>
          </a:ln>
        </p:spPr>
      </p:sp>
      <p:sp>
        <p:nvSpPr>
          <p:cNvPr id="6" name="Shape 4"/>
          <p:cNvSpPr/>
          <p:nvPr/>
        </p:nvSpPr>
        <p:spPr>
          <a:xfrm>
            <a:off x="457200" y="2194560"/>
            <a:ext cx="2697480" cy="411480"/>
          </a:xfrm>
          <a:prstGeom prst="rect">
            <a:avLst/>
          </a:prstGeom>
          <a:solidFill>
            <a:srgbClr val="1A2E5E"/>
          </a:solidFill>
          <a:ln w="12700">
            <a:solidFill>
              <a:srgbClr val="1A2E5E"/>
            </a:solidFill>
            <a:prstDash val="solid"/>
          </a:ln>
        </p:spPr>
      </p:sp>
      <p:sp>
        <p:nvSpPr>
          <p:cNvPr id="7" name="Text 5"/>
          <p:cNvSpPr/>
          <p:nvPr/>
        </p:nvSpPr>
        <p:spPr>
          <a:xfrm>
            <a:off x="457200" y="2194560"/>
            <a:ext cx="2697480" cy="411480"/>
          </a:xfrm>
          <a:prstGeom prst="rect">
            <a:avLst/>
          </a:prstGeom>
          <a:noFill/>
          <a:ln/>
        </p:spPr>
        <p:txBody>
          <a:bodyPr wrap="square" lIns="0" tIns="0" rIns="0" bIns="0" rtlCol="0" anchor="ctr"/>
          <a:lstStyle/>
          <a:p>
            <a:pPr algn="ctr" indent="0" marL="0">
              <a:buNone/>
            </a:pPr>
            <a:r>
              <a:rPr lang="en-US" sz="1400" b="1" dirty="0">
                <a:solidFill>
                  <a:srgbClr val="C9A84C"/>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594360" y="2670048"/>
            <a:ext cx="24231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New money is created</a:t>
            </a:r>
            <a:endParaRPr lang="en-US" sz="1200" dirty="0"/>
          </a:p>
        </p:txBody>
      </p:sp>
      <p:sp>
        <p:nvSpPr>
          <p:cNvPr id="9" name="Text 7"/>
          <p:cNvSpPr/>
          <p:nvPr/>
        </p:nvSpPr>
        <p:spPr>
          <a:xfrm>
            <a:off x="594360" y="3063240"/>
            <a:ext cx="2423160" cy="1371600"/>
          </a:xfrm>
          <a:prstGeom prst="rect">
            <a:avLst/>
          </a:prstGeom>
          <a:noFill/>
          <a:ln/>
        </p:spPr>
        <p:txBody>
          <a:bodyPr wrap="square" lIns="0" tIns="0" rIns="0" bIns="0" rtlCol="0" anchor="ctr"/>
          <a:lstStyle/>
          <a:p>
            <a:pPr indent="0" marL="0">
              <a:lnSpc>
                <a:spcPct val="145000"/>
              </a:lnSpc>
              <a:buNone/>
            </a:pPr>
            <a:r>
              <a:rPr lang="en-US" sz="1100" dirty="0">
                <a:solidFill>
                  <a:srgbClr val="8899AA"/>
                </a:solidFill>
                <a:latin typeface="Calibri" pitchFamily="34" charset="0"/>
                <a:ea typeface="Calibri" pitchFamily="34" charset="-122"/>
                <a:cs typeface="Calibri" pitchFamily="34" charset="-120"/>
              </a:rPr>
              <a:t>Banks, governments, and large financial institutions receive it first — before prices have risen anywhere.</a:t>
            </a:r>
            <a:endParaRPr lang="en-US" sz="1100" dirty="0"/>
          </a:p>
        </p:txBody>
      </p:sp>
      <p:sp>
        <p:nvSpPr>
          <p:cNvPr id="10" name="Shape 8"/>
          <p:cNvSpPr/>
          <p:nvPr/>
        </p:nvSpPr>
        <p:spPr>
          <a:xfrm>
            <a:off x="3291840" y="2194560"/>
            <a:ext cx="2697480" cy="2377440"/>
          </a:xfrm>
          <a:prstGeom prst="rect">
            <a:avLst/>
          </a:prstGeom>
          <a:solidFill>
            <a:srgbClr val="111827"/>
          </a:solidFill>
          <a:ln w="12700">
            <a:solidFill>
              <a:srgbClr val="1F2937"/>
            </a:solidFill>
            <a:prstDash val="solid"/>
          </a:ln>
        </p:spPr>
      </p:sp>
      <p:sp>
        <p:nvSpPr>
          <p:cNvPr id="11" name="Shape 9"/>
          <p:cNvSpPr/>
          <p:nvPr/>
        </p:nvSpPr>
        <p:spPr>
          <a:xfrm>
            <a:off x="3291840" y="2194560"/>
            <a:ext cx="2697480" cy="411480"/>
          </a:xfrm>
          <a:prstGeom prst="rect">
            <a:avLst/>
          </a:prstGeom>
          <a:solidFill>
            <a:srgbClr val="1A2E5E"/>
          </a:solidFill>
          <a:ln w="12700">
            <a:solidFill>
              <a:srgbClr val="1A2E5E"/>
            </a:solidFill>
            <a:prstDash val="solid"/>
          </a:ln>
        </p:spPr>
      </p:sp>
      <p:sp>
        <p:nvSpPr>
          <p:cNvPr id="12" name="Text 10"/>
          <p:cNvSpPr/>
          <p:nvPr/>
        </p:nvSpPr>
        <p:spPr>
          <a:xfrm>
            <a:off x="3291840" y="2194560"/>
            <a:ext cx="2697480" cy="411480"/>
          </a:xfrm>
          <a:prstGeom prst="rect">
            <a:avLst/>
          </a:prstGeom>
          <a:noFill/>
          <a:ln/>
        </p:spPr>
        <p:txBody>
          <a:bodyPr wrap="square" lIns="0" tIns="0" rIns="0" bIns="0" rtlCol="0" anchor="ctr"/>
          <a:lstStyle/>
          <a:p>
            <a:pPr algn="ctr" indent="0" marL="0">
              <a:buNone/>
            </a:pPr>
            <a:r>
              <a:rPr lang="en-US" sz="1400" b="1" dirty="0">
                <a:solidFill>
                  <a:srgbClr val="C9A84C"/>
                </a:solidFill>
                <a:latin typeface="Georgia" pitchFamily="34" charset="0"/>
                <a:ea typeface="Georgia" pitchFamily="34" charset="-122"/>
                <a:cs typeface="Georgia" pitchFamily="34" charset="-120"/>
              </a:rPr>
              <a:t>2</a:t>
            </a:r>
            <a:endParaRPr lang="en-US" sz="1400" dirty="0"/>
          </a:p>
        </p:txBody>
      </p:sp>
      <p:sp>
        <p:nvSpPr>
          <p:cNvPr id="13" name="Text 11"/>
          <p:cNvSpPr/>
          <p:nvPr/>
        </p:nvSpPr>
        <p:spPr>
          <a:xfrm>
            <a:off x="3429000" y="2670048"/>
            <a:ext cx="24231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Early recipients spend immediately</a:t>
            </a:r>
            <a:endParaRPr lang="en-US" sz="1200" dirty="0"/>
          </a:p>
        </p:txBody>
      </p:sp>
      <p:sp>
        <p:nvSpPr>
          <p:cNvPr id="14" name="Text 12"/>
          <p:cNvSpPr/>
          <p:nvPr/>
        </p:nvSpPr>
        <p:spPr>
          <a:xfrm>
            <a:off x="3429000" y="3063240"/>
            <a:ext cx="2423160" cy="1371600"/>
          </a:xfrm>
          <a:prstGeom prst="rect">
            <a:avLst/>
          </a:prstGeom>
          <a:noFill/>
          <a:ln/>
        </p:spPr>
        <p:txBody>
          <a:bodyPr wrap="square" lIns="0" tIns="0" rIns="0" bIns="0" rtlCol="0" anchor="ctr"/>
          <a:lstStyle/>
          <a:p>
            <a:pPr indent="0" marL="0">
              <a:lnSpc>
                <a:spcPct val="145000"/>
              </a:lnSpc>
              <a:buNone/>
            </a:pPr>
            <a:r>
              <a:rPr lang="en-US" sz="1100" dirty="0">
                <a:solidFill>
                  <a:srgbClr val="8899AA"/>
                </a:solidFill>
                <a:latin typeface="Calibri" pitchFamily="34" charset="0"/>
                <a:ea typeface="Calibri" pitchFamily="34" charset="-122"/>
                <a:cs typeface="Calibri" pitchFamily="34" charset="-120"/>
              </a:rPr>
              <a:t>They buy assets — real estate, equities, businesses — at today's prices, knowing those prices will rise as the new money spreads.</a:t>
            </a:r>
            <a:endParaRPr lang="en-US" sz="1100" dirty="0"/>
          </a:p>
        </p:txBody>
      </p:sp>
      <p:sp>
        <p:nvSpPr>
          <p:cNvPr id="15" name="Shape 13"/>
          <p:cNvSpPr/>
          <p:nvPr/>
        </p:nvSpPr>
        <p:spPr>
          <a:xfrm>
            <a:off x="6126480" y="2194560"/>
            <a:ext cx="2697480" cy="2377440"/>
          </a:xfrm>
          <a:prstGeom prst="rect">
            <a:avLst/>
          </a:prstGeom>
          <a:solidFill>
            <a:srgbClr val="111827"/>
          </a:solidFill>
          <a:ln w="12700">
            <a:solidFill>
              <a:srgbClr val="1F2937"/>
            </a:solidFill>
            <a:prstDash val="solid"/>
          </a:ln>
        </p:spPr>
      </p:sp>
      <p:sp>
        <p:nvSpPr>
          <p:cNvPr id="16" name="Shape 14"/>
          <p:cNvSpPr/>
          <p:nvPr/>
        </p:nvSpPr>
        <p:spPr>
          <a:xfrm>
            <a:off x="6126480" y="2194560"/>
            <a:ext cx="2697480" cy="411480"/>
          </a:xfrm>
          <a:prstGeom prst="rect">
            <a:avLst/>
          </a:prstGeom>
          <a:solidFill>
            <a:srgbClr val="1A2E5E"/>
          </a:solidFill>
          <a:ln w="12700">
            <a:solidFill>
              <a:srgbClr val="1A2E5E"/>
            </a:solidFill>
            <a:prstDash val="solid"/>
          </a:ln>
        </p:spPr>
      </p:sp>
      <p:sp>
        <p:nvSpPr>
          <p:cNvPr id="17" name="Text 15"/>
          <p:cNvSpPr/>
          <p:nvPr/>
        </p:nvSpPr>
        <p:spPr>
          <a:xfrm>
            <a:off x="6126480" y="2194560"/>
            <a:ext cx="2697480" cy="411480"/>
          </a:xfrm>
          <a:prstGeom prst="rect">
            <a:avLst/>
          </a:prstGeom>
          <a:noFill/>
          <a:ln/>
        </p:spPr>
        <p:txBody>
          <a:bodyPr wrap="square" lIns="0" tIns="0" rIns="0" bIns="0" rtlCol="0" anchor="ctr"/>
          <a:lstStyle/>
          <a:p>
            <a:pPr algn="ctr" indent="0" marL="0">
              <a:buNone/>
            </a:pPr>
            <a:r>
              <a:rPr lang="en-US" sz="1400" b="1" dirty="0">
                <a:solidFill>
                  <a:srgbClr val="C9A84C"/>
                </a:solidFill>
                <a:latin typeface="Georgia" pitchFamily="34" charset="0"/>
                <a:ea typeface="Georgia" pitchFamily="34" charset="-122"/>
                <a:cs typeface="Georgia" pitchFamily="34" charset="-120"/>
              </a:rPr>
              <a:t>3</a:t>
            </a:r>
            <a:endParaRPr lang="en-US" sz="1400" dirty="0"/>
          </a:p>
        </p:txBody>
      </p:sp>
      <p:sp>
        <p:nvSpPr>
          <p:cNvPr id="18" name="Text 16"/>
          <p:cNvSpPr/>
          <p:nvPr/>
        </p:nvSpPr>
        <p:spPr>
          <a:xfrm>
            <a:off x="6263640" y="2670048"/>
            <a:ext cx="242316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By the time it reaches wages, prices have already moved</a:t>
            </a:r>
            <a:endParaRPr lang="en-US" sz="1200" dirty="0"/>
          </a:p>
        </p:txBody>
      </p:sp>
      <p:sp>
        <p:nvSpPr>
          <p:cNvPr id="19" name="Text 17"/>
          <p:cNvSpPr/>
          <p:nvPr/>
        </p:nvSpPr>
        <p:spPr>
          <a:xfrm>
            <a:off x="6263640" y="3063240"/>
            <a:ext cx="2423160" cy="1371600"/>
          </a:xfrm>
          <a:prstGeom prst="rect">
            <a:avLst/>
          </a:prstGeom>
          <a:noFill/>
          <a:ln/>
        </p:spPr>
        <p:txBody>
          <a:bodyPr wrap="square" lIns="0" tIns="0" rIns="0" bIns="0" rtlCol="0" anchor="ctr"/>
          <a:lstStyle/>
          <a:p>
            <a:pPr indent="0" marL="0">
              <a:lnSpc>
                <a:spcPct val="145000"/>
              </a:lnSpc>
              <a:buNone/>
            </a:pPr>
            <a:r>
              <a:rPr lang="en-US" sz="1100" dirty="0">
                <a:solidFill>
                  <a:srgbClr val="8899AA"/>
                </a:solidFill>
                <a:latin typeface="Calibri" pitchFamily="34" charset="0"/>
                <a:ea typeface="Calibri" pitchFamily="34" charset="-122"/>
                <a:cs typeface="Calibri" pitchFamily="34" charset="-120"/>
              </a:rPr>
              <a:t>Workers and savers experience the new money not as higher pay — but as higher costs. The value was already taken.</a:t>
            </a:r>
            <a:endParaRPr lang="en-US" sz="1100" dirty="0"/>
          </a:p>
        </p:txBody>
      </p:sp>
      <p:sp>
        <p:nvSpPr>
          <p:cNvPr id="20" name="Text 18"/>
          <p:cNvSpPr/>
          <p:nvPr/>
        </p:nvSpPr>
        <p:spPr>
          <a:xfrm>
            <a:off x="457200" y="4663440"/>
            <a:ext cx="8229600" cy="274320"/>
          </a:xfrm>
          <a:prstGeom prst="rect">
            <a:avLst/>
          </a:prstGeom>
          <a:noFill/>
          <a:ln/>
        </p:spPr>
        <p:txBody>
          <a:bodyPr wrap="square" rtlCol="0" anchor="ctr"/>
          <a:lstStyle/>
          <a:p>
            <a:pPr indent="0" marL="0">
              <a:buNone/>
            </a:pPr>
            <a:r>
              <a:rPr lang="en-US" sz="1050" i="1" dirty="0">
                <a:solidFill>
                  <a:srgbClr val="5A7090"/>
                </a:solidFill>
                <a:latin typeface="Calibri" pitchFamily="34" charset="0"/>
                <a:ea typeface="Calibri" pitchFamily="34" charset="-122"/>
                <a:cs typeface="Calibri" pitchFamily="34" charset="-120"/>
              </a:rPr>
              <a:t>Economists call this the Cantillon effect. It is not a conspiracy — it is a structural feature of how money creation works.</a:t>
            </a:r>
            <a:endParaRPr lang="en-US" sz="1050" dirty="0"/>
          </a:p>
        </p:txBody>
      </p:sp>
      <p:sp>
        <p:nvSpPr>
          <p:cNvPr id="22" name="Text 19"/>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Numbers Tell the Story</a:t>
            </a:r>
            <a:endParaRPr lang="en-US" sz="2600" dirty="0"/>
          </a:p>
        </p:txBody>
      </p:sp>
      <p:sp>
        <p:nvSpPr>
          <p:cNvPr id="3" name="Shape 1"/>
          <p:cNvSpPr/>
          <p:nvPr/>
        </p:nvSpPr>
        <p:spPr>
          <a:xfrm>
            <a:off x="4572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4572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97%</a:t>
            </a:r>
            <a:endParaRPr lang="en-US" sz="3600" dirty="0"/>
          </a:p>
        </p:txBody>
      </p:sp>
      <p:sp>
        <p:nvSpPr>
          <p:cNvPr id="5" name="Text 3"/>
          <p:cNvSpPr/>
          <p:nvPr/>
        </p:nvSpPr>
        <p:spPr>
          <a:xfrm>
            <a:off x="5943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Loss in US dollar purchasing power since the Federal Reserve was created in 1913</a:t>
            </a:r>
            <a:endParaRPr lang="en-US" sz="1100" dirty="0"/>
          </a:p>
        </p:txBody>
      </p:sp>
      <p:sp>
        <p:nvSpPr>
          <p:cNvPr id="6" name="Shape 4"/>
          <p:cNvSpPr/>
          <p:nvPr/>
        </p:nvSpPr>
        <p:spPr>
          <a:xfrm>
            <a:off x="32004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7" name="Text 5"/>
          <p:cNvSpPr/>
          <p:nvPr/>
        </p:nvSpPr>
        <p:spPr>
          <a:xfrm>
            <a:off x="32004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1971</a:t>
            </a:r>
            <a:endParaRPr lang="en-US" sz="3600" dirty="0"/>
          </a:p>
        </p:txBody>
      </p:sp>
      <p:sp>
        <p:nvSpPr>
          <p:cNvPr id="8" name="Text 6"/>
          <p:cNvSpPr/>
          <p:nvPr/>
        </p:nvSpPr>
        <p:spPr>
          <a:xfrm>
            <a:off x="33375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Year the last link between the dollar and gold was severed — money creation became unlimited</a:t>
            </a:r>
            <a:endParaRPr lang="en-US" sz="1100" dirty="0"/>
          </a:p>
        </p:txBody>
      </p:sp>
      <p:sp>
        <p:nvSpPr>
          <p:cNvPr id="9" name="Shape 7"/>
          <p:cNvSpPr/>
          <p:nvPr/>
        </p:nvSpPr>
        <p:spPr>
          <a:xfrm>
            <a:off x="59436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59436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85×</a:t>
            </a:r>
            <a:endParaRPr lang="en-US" sz="3600" dirty="0"/>
          </a:p>
        </p:txBody>
      </p:sp>
      <p:sp>
        <p:nvSpPr>
          <p:cNvPr id="11" name="Text 9"/>
          <p:cNvSpPr/>
          <p:nvPr/>
        </p:nvSpPr>
        <p:spPr>
          <a:xfrm>
            <a:off x="60807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Increase in US national debt since 1971 — from $400 billion to over $34 trillion</a:t>
            </a:r>
            <a:endParaRPr lang="en-US" sz="1100" dirty="0"/>
          </a:p>
        </p:txBody>
      </p:sp>
      <p:sp>
        <p:nvSpPr>
          <p:cNvPr id="12" name="Text 10"/>
          <p:cNvSpPr/>
          <p:nvPr/>
        </p:nvSpPr>
        <p:spPr>
          <a:xfrm>
            <a:off x="548640" y="2743200"/>
            <a:ext cx="8046720" cy="1645920"/>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When the constraint on money creation was removed in 1971, something changed — not just in prices, but in who benefits from the system and who pays for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Four Things You've Already Felt</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Housing out of reach</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Housing isn't more expensive because it became more valuable. It's more expensive because money became less valuable — and the wealthy use real estate to protect their wealth from debasement.</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Wages that never catch up</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New money flows to financial institutions first. By the time it reaches wages, prices have already risen. Workers see rising costs, not rising pay. This has a name: the Cantillon effect.</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Debt that feels inescapable</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 modern monetary system cannot function without debt — money is literally created when banks issue loans. Saving is punished; borrowing is subsidized. Debt is the rational response, not a personal failure.</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Quality that keeps declining</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Not greed. Not cheap foreign manufacturing. When inflation erodes purchasing power, consumers buy on price, producers cut costs, quality falls. The monetary system sets the incentives.</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1463040"/>
            <a:ext cx="8229600" cy="320040"/>
          </a:xfrm>
          <a:prstGeom prst="rect">
            <a:avLst/>
          </a:prstGeom>
          <a:noFill/>
          <a:ln/>
        </p:spPr>
        <p:txBody>
          <a:bodyPr wrap="square" lIns="0" tIns="0" rIns="0" bIns="0" rtlCol="0" anchor="ctr"/>
          <a:lstStyle/>
          <a:p>
            <a:pPr indent="0" marL="0">
              <a:buNone/>
            </a:pPr>
            <a:r>
              <a:rPr lang="en-US" sz="1100" b="1" spc="500" kern="0" dirty="0">
                <a:solidFill>
                  <a:srgbClr val="C9A84C"/>
                </a:solidFill>
                <a:latin typeface="Calibri" pitchFamily="34" charset="0"/>
                <a:ea typeface="Calibri" pitchFamily="34" charset="-122"/>
                <a:cs typeface="Calibri" pitchFamily="34" charset="-120"/>
              </a:rPr>
              <a:t>PART 3 OF 3 — 8 MINUTES</a:t>
            </a:r>
            <a:endParaRPr lang="en-US" sz="1100" dirty="0"/>
          </a:p>
        </p:txBody>
      </p:sp>
      <p:sp>
        <p:nvSpPr>
          <p:cNvPr id="4" name="Text 2"/>
          <p:cNvSpPr/>
          <p:nvPr/>
        </p:nvSpPr>
        <p:spPr>
          <a:xfrm>
            <a:off x="457200" y="1828800"/>
            <a:ext cx="8229600" cy="118872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There Is a Better Way</a:t>
            </a:r>
            <a:endParaRPr lang="en-US" sz="46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700" dirty="0">
                <a:solidFill>
                  <a:srgbClr val="A0AEC0"/>
                </a:solidFill>
                <a:latin typeface="Calibri" pitchFamily="34" charset="0"/>
                <a:ea typeface="Calibri" pitchFamily="34" charset="-122"/>
                <a:cs typeface="Calibri" pitchFamily="34" charset="-120"/>
              </a:rPr>
              <a:t>Hard money restores what debasement destroys</a:t>
            </a:r>
            <a:endParaRPr lang="en-US" sz="1700" dirty="0"/>
          </a:p>
        </p:txBody>
      </p:sp>
      <p:sp>
        <p:nvSpPr>
          <p:cNvPr id="6" name="Text 4"/>
          <p:cNvSpPr/>
          <p:nvPr/>
        </p:nvSpPr>
        <p:spPr>
          <a:xfrm>
            <a:off x="457200" y="4800600"/>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When Money Holds Its Value, Everything Changes</a:t>
            </a:r>
            <a:endParaRPr lang="en-US" sz="2600" dirty="0"/>
          </a:p>
        </p:txBody>
      </p:sp>
      <p:sp>
        <p:nvSpPr>
          <p:cNvPr id="3" name="Shape 1"/>
          <p:cNvSpPr/>
          <p:nvPr/>
        </p:nvSpPr>
        <p:spPr>
          <a:xfrm>
            <a:off x="457200" y="960120"/>
            <a:ext cx="4069080" cy="347472"/>
          </a:xfrm>
          <a:prstGeom prst="rect">
            <a:avLst/>
          </a:prstGeom>
          <a:solidFill>
            <a:srgbClr val="FCEBEB"/>
          </a:solidFill>
          <a:ln w="12700">
            <a:solidFill>
              <a:srgbClr val="FCEBEB"/>
            </a:solidFill>
            <a:prstDash val="solid"/>
          </a:ln>
        </p:spPr>
      </p:sp>
      <p:sp>
        <p:nvSpPr>
          <p:cNvPr id="4" name="Text 2"/>
          <p:cNvSpPr/>
          <p:nvPr/>
        </p:nvSpPr>
        <p:spPr>
          <a:xfrm>
            <a:off x="457200" y="960120"/>
            <a:ext cx="4069080" cy="347472"/>
          </a:xfrm>
          <a:prstGeom prst="rect">
            <a:avLst/>
          </a:prstGeom>
          <a:noFill/>
          <a:ln/>
        </p:spPr>
        <p:txBody>
          <a:bodyPr wrap="square" rtlCol="0" anchor="ctr"/>
          <a:lstStyle/>
          <a:p>
            <a:pPr algn="ctr" indent="0" marL="0">
              <a:buNone/>
            </a:pPr>
            <a:r>
              <a:rPr lang="en-US" sz="1200" b="1" dirty="0">
                <a:solidFill>
                  <a:srgbClr val="A32D2D"/>
                </a:solidFill>
                <a:latin typeface="Calibri" pitchFamily="34" charset="0"/>
                <a:ea typeface="Calibri" pitchFamily="34" charset="-122"/>
                <a:cs typeface="Calibri" pitchFamily="34" charset="-120"/>
              </a:rPr>
              <a:t>Today — soft money</a:t>
            </a:r>
            <a:endParaRPr lang="en-US" sz="1200" dirty="0"/>
          </a:p>
        </p:txBody>
      </p:sp>
      <p:sp>
        <p:nvSpPr>
          <p:cNvPr id="5" name="Shape 3"/>
          <p:cNvSpPr/>
          <p:nvPr/>
        </p:nvSpPr>
        <p:spPr>
          <a:xfrm>
            <a:off x="4617720" y="960120"/>
            <a:ext cx="4069080" cy="347472"/>
          </a:xfrm>
          <a:prstGeom prst="rect">
            <a:avLst/>
          </a:prstGeom>
          <a:solidFill>
            <a:srgbClr val="EAF3DE"/>
          </a:solidFill>
          <a:ln w="12700">
            <a:solidFill>
              <a:srgbClr val="EAF3DE"/>
            </a:solidFill>
            <a:prstDash val="solid"/>
          </a:ln>
        </p:spPr>
      </p:sp>
      <p:sp>
        <p:nvSpPr>
          <p:cNvPr id="6" name="Text 4"/>
          <p:cNvSpPr/>
          <p:nvPr/>
        </p:nvSpPr>
        <p:spPr>
          <a:xfrm>
            <a:off x="4617720" y="960120"/>
            <a:ext cx="4069080" cy="347472"/>
          </a:xfrm>
          <a:prstGeom prst="rect">
            <a:avLst/>
          </a:prstGeom>
          <a:noFill/>
          <a:ln/>
        </p:spPr>
        <p:txBody>
          <a:bodyPr wrap="square" rtlCol="0" anchor="ctr"/>
          <a:lstStyle/>
          <a:p>
            <a:pPr algn="ctr" indent="0" marL="0">
              <a:buNone/>
            </a:pPr>
            <a:r>
              <a:rPr lang="en-US" sz="1200" b="1" dirty="0">
                <a:solidFill>
                  <a:srgbClr val="3B6D11"/>
                </a:solidFill>
                <a:latin typeface="Calibri" pitchFamily="34" charset="0"/>
                <a:ea typeface="Calibri" pitchFamily="34" charset="-122"/>
                <a:cs typeface="Calibri" pitchFamily="34" charset="-120"/>
              </a:rPr>
              <a:t>Hard money world</a:t>
            </a:r>
            <a:endParaRPr lang="en-US" sz="1200" dirty="0"/>
          </a:p>
        </p:txBody>
      </p:sp>
      <p:sp>
        <p:nvSpPr>
          <p:cNvPr id="7" name="Shape 5"/>
          <p:cNvSpPr/>
          <p:nvPr/>
        </p:nvSpPr>
        <p:spPr>
          <a:xfrm>
            <a:off x="457200" y="1307592"/>
            <a:ext cx="4069080" cy="676656"/>
          </a:xfrm>
          <a:prstGeom prst="rect">
            <a:avLst/>
          </a:prstGeom>
          <a:solidFill>
            <a:srgbClr val="FFFFFF"/>
          </a:solidFill>
          <a:ln w="12700">
            <a:solidFill>
              <a:srgbClr val="D1D9E6"/>
            </a:solidFill>
            <a:prstDash val="solid"/>
          </a:ln>
        </p:spPr>
      </p:sp>
      <p:sp>
        <p:nvSpPr>
          <p:cNvPr id="8" name="Text 6"/>
          <p:cNvSpPr/>
          <p:nvPr/>
        </p:nvSpPr>
        <p:spPr>
          <a:xfrm>
            <a:off x="548640" y="1362456"/>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punished — money loses value sitting still</a:t>
            </a:r>
            <a:endParaRPr lang="en-US" sz="1100" dirty="0"/>
          </a:p>
        </p:txBody>
      </p:sp>
      <p:sp>
        <p:nvSpPr>
          <p:cNvPr id="9" name="Shape 7"/>
          <p:cNvSpPr/>
          <p:nvPr/>
        </p:nvSpPr>
        <p:spPr>
          <a:xfrm>
            <a:off x="4617720" y="1307592"/>
            <a:ext cx="4069080" cy="676656"/>
          </a:xfrm>
          <a:prstGeom prst="rect">
            <a:avLst/>
          </a:prstGeom>
          <a:solidFill>
            <a:srgbClr val="FFFFFF"/>
          </a:solidFill>
          <a:ln w="12700">
            <a:solidFill>
              <a:srgbClr val="D1D9E6"/>
            </a:solidFill>
            <a:prstDash val="solid"/>
          </a:ln>
        </p:spPr>
      </p:sp>
      <p:sp>
        <p:nvSpPr>
          <p:cNvPr id="10" name="Text 8"/>
          <p:cNvSpPr/>
          <p:nvPr/>
        </p:nvSpPr>
        <p:spPr>
          <a:xfrm>
            <a:off x="4709160" y="1362456"/>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rewarded — your money holds its value over time</a:t>
            </a:r>
            <a:endParaRPr lang="en-US" sz="1100" dirty="0"/>
          </a:p>
        </p:txBody>
      </p:sp>
      <p:sp>
        <p:nvSpPr>
          <p:cNvPr id="11" name="Shape 9"/>
          <p:cNvSpPr/>
          <p:nvPr/>
        </p:nvSpPr>
        <p:spPr>
          <a:xfrm>
            <a:off x="457200" y="1984248"/>
            <a:ext cx="4069080" cy="676656"/>
          </a:xfrm>
          <a:prstGeom prst="rect">
            <a:avLst/>
          </a:prstGeom>
          <a:solidFill>
            <a:srgbClr val="F9FAFB"/>
          </a:solidFill>
          <a:ln w="12700">
            <a:solidFill>
              <a:srgbClr val="D1D9E6"/>
            </a:solidFill>
            <a:prstDash val="solid"/>
          </a:ln>
        </p:spPr>
      </p:sp>
      <p:sp>
        <p:nvSpPr>
          <p:cNvPr id="12" name="Text 10"/>
          <p:cNvSpPr/>
          <p:nvPr/>
        </p:nvSpPr>
        <p:spPr>
          <a:xfrm>
            <a:off x="548640" y="2039112"/>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Debt is rational — repay with cheaper future dollars</a:t>
            </a:r>
            <a:endParaRPr lang="en-US" sz="1100" dirty="0"/>
          </a:p>
        </p:txBody>
      </p:sp>
      <p:sp>
        <p:nvSpPr>
          <p:cNvPr id="13" name="Shape 11"/>
          <p:cNvSpPr/>
          <p:nvPr/>
        </p:nvSpPr>
        <p:spPr>
          <a:xfrm>
            <a:off x="4617720" y="1984248"/>
            <a:ext cx="4069080" cy="676656"/>
          </a:xfrm>
          <a:prstGeom prst="rect">
            <a:avLst/>
          </a:prstGeom>
          <a:solidFill>
            <a:srgbClr val="F9FAFB"/>
          </a:solidFill>
          <a:ln w="12700">
            <a:solidFill>
              <a:srgbClr val="D1D9E6"/>
            </a:solidFill>
            <a:prstDash val="solid"/>
          </a:ln>
        </p:spPr>
      </p:sp>
      <p:sp>
        <p:nvSpPr>
          <p:cNvPr id="14" name="Text 12"/>
          <p:cNvSpPr/>
          <p:nvPr/>
        </p:nvSpPr>
        <p:spPr>
          <a:xfrm>
            <a:off x="4709160" y="2039112"/>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Debt is taken seriously — it costs what it costs</a:t>
            </a:r>
            <a:endParaRPr lang="en-US" sz="1100" dirty="0"/>
          </a:p>
        </p:txBody>
      </p:sp>
      <p:sp>
        <p:nvSpPr>
          <p:cNvPr id="15" name="Shape 13"/>
          <p:cNvSpPr/>
          <p:nvPr/>
        </p:nvSpPr>
        <p:spPr>
          <a:xfrm>
            <a:off x="457200" y="2660904"/>
            <a:ext cx="4069080" cy="676656"/>
          </a:xfrm>
          <a:prstGeom prst="rect">
            <a:avLst/>
          </a:prstGeom>
          <a:solidFill>
            <a:srgbClr val="FFFFFF"/>
          </a:solidFill>
          <a:ln w="12700">
            <a:solidFill>
              <a:srgbClr val="D1D9E6"/>
            </a:solidFill>
            <a:prstDash val="solid"/>
          </a:ln>
        </p:spPr>
      </p:sp>
      <p:sp>
        <p:nvSpPr>
          <p:cNvPr id="16" name="Text 14"/>
          <p:cNvSpPr/>
          <p:nvPr/>
        </p:nvSpPr>
        <p:spPr>
          <a:xfrm>
            <a:off x="548640" y="2715768"/>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Build to be replaced — quality declines by design</a:t>
            </a:r>
            <a:endParaRPr lang="en-US" sz="1100" dirty="0"/>
          </a:p>
        </p:txBody>
      </p:sp>
      <p:sp>
        <p:nvSpPr>
          <p:cNvPr id="17" name="Shape 15"/>
          <p:cNvSpPr/>
          <p:nvPr/>
        </p:nvSpPr>
        <p:spPr>
          <a:xfrm>
            <a:off x="4617720" y="2660904"/>
            <a:ext cx="4069080" cy="676656"/>
          </a:xfrm>
          <a:prstGeom prst="rect">
            <a:avLst/>
          </a:prstGeom>
          <a:solidFill>
            <a:srgbClr val="FFFFFF"/>
          </a:solidFill>
          <a:ln w="12700">
            <a:solidFill>
              <a:srgbClr val="D1D9E6"/>
            </a:solidFill>
            <a:prstDash val="solid"/>
          </a:ln>
        </p:spPr>
      </p:sp>
      <p:sp>
        <p:nvSpPr>
          <p:cNvPr id="18" name="Text 16"/>
          <p:cNvSpPr/>
          <p:nvPr/>
        </p:nvSpPr>
        <p:spPr>
          <a:xfrm>
            <a:off x="4709160" y="2715768"/>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Build to last — reputation compounds over generations</a:t>
            </a:r>
            <a:endParaRPr lang="en-US" sz="1100" dirty="0"/>
          </a:p>
        </p:txBody>
      </p:sp>
      <p:sp>
        <p:nvSpPr>
          <p:cNvPr id="19" name="Shape 17"/>
          <p:cNvSpPr/>
          <p:nvPr/>
        </p:nvSpPr>
        <p:spPr>
          <a:xfrm>
            <a:off x="457200" y="3337560"/>
            <a:ext cx="4069080" cy="676656"/>
          </a:xfrm>
          <a:prstGeom prst="rect">
            <a:avLst/>
          </a:prstGeom>
          <a:solidFill>
            <a:srgbClr val="F9FAFB"/>
          </a:solidFill>
          <a:ln w="12700">
            <a:solidFill>
              <a:srgbClr val="D1D9E6"/>
            </a:solidFill>
            <a:prstDash val="solid"/>
          </a:ln>
        </p:spPr>
      </p:sp>
      <p:sp>
        <p:nvSpPr>
          <p:cNvPr id="20" name="Text 18"/>
          <p:cNvSpPr/>
          <p:nvPr/>
        </p:nvSpPr>
        <p:spPr>
          <a:xfrm>
            <a:off x="548640" y="3392424"/>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spend without limit — cost is invisible</a:t>
            </a:r>
            <a:endParaRPr lang="en-US" sz="1100" dirty="0"/>
          </a:p>
        </p:txBody>
      </p:sp>
      <p:sp>
        <p:nvSpPr>
          <p:cNvPr id="21" name="Shape 19"/>
          <p:cNvSpPr/>
          <p:nvPr/>
        </p:nvSpPr>
        <p:spPr>
          <a:xfrm>
            <a:off x="4617720" y="3337560"/>
            <a:ext cx="4069080" cy="676656"/>
          </a:xfrm>
          <a:prstGeom prst="rect">
            <a:avLst/>
          </a:prstGeom>
          <a:solidFill>
            <a:srgbClr val="F9FAFB"/>
          </a:solidFill>
          <a:ln w="12700">
            <a:solidFill>
              <a:srgbClr val="D1D9E6"/>
            </a:solidFill>
            <a:prstDash val="solid"/>
          </a:ln>
        </p:spPr>
      </p:sp>
      <p:sp>
        <p:nvSpPr>
          <p:cNvPr id="22" name="Text 20"/>
          <p:cNvSpPr/>
          <p:nvPr/>
        </p:nvSpPr>
        <p:spPr>
          <a:xfrm>
            <a:off x="4709160" y="3392424"/>
            <a:ext cx="3886200" cy="566928"/>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face real constraints — spending has consequences</a:t>
            </a:r>
            <a:endParaRPr lang="en-US" sz="1100" dirty="0"/>
          </a:p>
        </p:txBody>
      </p:sp>
      <p:sp>
        <p:nvSpPr>
          <p:cNvPr id="23" name="Text 21"/>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Bitcoin: Hard Money That Can Actually Travel</a:t>
            </a:r>
            <a:endParaRPr lang="en-US" sz="2600" dirty="0"/>
          </a:p>
        </p:txBody>
      </p:sp>
      <p:sp>
        <p:nvSpPr>
          <p:cNvPr id="3" name="Shape 1"/>
          <p:cNvSpPr/>
          <p:nvPr/>
        </p:nvSpPr>
        <p:spPr>
          <a:xfrm>
            <a:off x="457200" y="960120"/>
            <a:ext cx="3931920" cy="3474720"/>
          </a:xfrm>
          <a:prstGeom prst="rect">
            <a:avLst/>
          </a:prstGeom>
          <a:solidFill>
            <a:srgbClr val="1A2E5E"/>
          </a:solidFill>
          <a:ln w="12700">
            <a:solidFill>
              <a:srgbClr val="1A2E5E"/>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594360" y="1097280"/>
            <a:ext cx="3657600" cy="411480"/>
          </a:xfrm>
          <a:prstGeom prst="rect">
            <a:avLst/>
          </a:prstGeom>
          <a:noFill/>
          <a:ln/>
        </p:spPr>
        <p:txBody>
          <a:bodyPr wrap="square" rtlCol="0" anchor="ctr"/>
          <a:lstStyle/>
          <a:p>
            <a:pPr indent="0" marL="0">
              <a:buNone/>
            </a:pPr>
            <a:r>
              <a:rPr lang="en-US" sz="1500" b="1" dirty="0">
                <a:solidFill>
                  <a:srgbClr val="C9A84C"/>
                </a:solidFill>
                <a:latin typeface="Georgia" pitchFamily="34" charset="0"/>
                <a:ea typeface="Georgia" pitchFamily="34" charset="-122"/>
                <a:cs typeface="Georgia" pitchFamily="34" charset="-120"/>
              </a:rPr>
              <a:t>Gold's fatal flaw was fixed.</a:t>
            </a:r>
            <a:endParaRPr lang="en-US" sz="1500" dirty="0"/>
          </a:p>
        </p:txBody>
      </p:sp>
      <p:sp>
        <p:nvSpPr>
          <p:cNvPr id="5" name="Text 3"/>
          <p:cNvSpPr/>
          <p:nvPr/>
        </p:nvSpPr>
        <p:spPr>
          <a:xfrm>
            <a:off x="594360" y="1554480"/>
            <a:ext cx="3657600" cy="2560320"/>
          </a:xfrm>
          <a:prstGeom prst="rect">
            <a:avLst/>
          </a:prstGeom>
          <a:noFill/>
          <a:ln/>
        </p:spPr>
        <p:txBody>
          <a:bodyPr wrap="square" rtlCol="0" anchor="ctr"/>
          <a:lstStyle/>
          <a:p>
            <a:pPr indent="0" marL="0">
              <a:lnSpc>
                <a:spcPct val="155000"/>
              </a:lnSpc>
              <a:buNone/>
            </a:pPr>
            <a:r>
              <a:rPr lang="en-US" sz="1200" dirty="0">
                <a:solidFill>
                  <a:srgbClr val="E8EAF6"/>
                </a:solidFill>
                <a:latin typeface="Calibri" pitchFamily="34" charset="0"/>
                <a:ea typeface="Calibri" pitchFamily="34" charset="-122"/>
                <a:cs typeface="Calibri" pitchFamily="34" charset="-120"/>
              </a:rPr>
              <a:t>Gold checked every box for good money — except portability. Moving it required trusting custodians. That trust was always eventually abused. Every gold standard collapsed at that point.</a:t>
            </a:r>
            <a:endParaRPr lang="en-US" sz="1200" dirty="0"/>
          </a:p>
          <a:p>
            <a:pPr indent="0" marL="0">
              <a:lnSpc>
                <a:spcPct val="155000"/>
              </a:lnSpc>
              <a:buNone/>
            </a:pPr>
            <a:endParaRPr lang="en-US" sz="1200" dirty="0"/>
          </a:p>
          <a:p>
            <a:pPr indent="0" marL="0">
              <a:lnSpc>
                <a:spcPct val="155000"/>
              </a:lnSpc>
              <a:buNone/>
            </a:pPr>
            <a:r>
              <a:rPr lang="en-US" sz="1200" dirty="0">
                <a:solidFill>
                  <a:srgbClr val="E8EAF6"/>
                </a:solidFill>
                <a:latin typeface="Calibri" pitchFamily="34" charset="0"/>
                <a:ea typeface="Calibri" pitchFamily="34" charset="-122"/>
                <a:cs typeface="Calibri" pitchFamily="34" charset="-120"/>
              </a:rPr>
              <a:t>In 2009, Bitcoin solved this. For the first time in history: money that is scarce, portable, and controlled by no one. Sent anywhere in the world instantly, verified by mathematics, with a fixed supply of 21 million that no government or bank can change.</a:t>
            </a:r>
            <a:endParaRPr lang="en-US" sz="1200" dirty="0"/>
          </a:p>
        </p:txBody>
      </p:sp>
      <p:sp>
        <p:nvSpPr>
          <p:cNvPr id="6" name="Shape 4"/>
          <p:cNvSpPr/>
          <p:nvPr/>
        </p:nvSpPr>
        <p:spPr>
          <a:xfrm>
            <a:off x="4572000" y="960120"/>
            <a:ext cx="4114800" cy="1060704"/>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4572000" y="960120"/>
            <a:ext cx="64008" cy="1060704"/>
          </a:xfrm>
          <a:prstGeom prst="rect">
            <a:avLst/>
          </a:prstGeom>
          <a:solidFill>
            <a:srgbClr val="C9A84C"/>
          </a:solidFill>
          <a:ln w="12700">
            <a:solidFill>
              <a:srgbClr val="C9A84C"/>
            </a:solidFill>
            <a:prstDash val="solid"/>
          </a:ln>
        </p:spPr>
      </p:sp>
      <p:sp>
        <p:nvSpPr>
          <p:cNvPr id="8" name="Text 6"/>
          <p:cNvSpPr/>
          <p:nvPr/>
        </p:nvSpPr>
        <p:spPr>
          <a:xfrm>
            <a:off x="4709160" y="1051560"/>
            <a:ext cx="384048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Fixed supply: 21 million</a:t>
            </a:r>
            <a:endParaRPr lang="en-US" sz="1200" dirty="0"/>
          </a:p>
        </p:txBody>
      </p:sp>
      <p:sp>
        <p:nvSpPr>
          <p:cNvPr id="9" name="Text 7"/>
          <p:cNvSpPr/>
          <p:nvPr/>
        </p:nvSpPr>
        <p:spPr>
          <a:xfrm>
            <a:off x="4709160" y="1344168"/>
            <a:ext cx="3840480" cy="566928"/>
          </a:xfrm>
          <a:prstGeom prst="rect">
            <a:avLst/>
          </a:prstGeom>
          <a:noFill/>
          <a:ln/>
        </p:spPr>
        <p:txBody>
          <a:bodyPr wrap="square" lIns="0" tIns="0" rIns="0" bIns="0" rtlCol="0" anchor="ctr"/>
          <a:lstStyle/>
          <a:p>
            <a:pPr indent="0" marL="0">
              <a:lnSpc>
                <a:spcPct val="135000"/>
              </a:lnSpc>
              <a:buNone/>
            </a:pPr>
            <a:r>
              <a:rPr lang="en-US" sz="1050" dirty="0">
                <a:solidFill>
                  <a:srgbClr val="4A5568"/>
                </a:solidFill>
                <a:latin typeface="Calibri" pitchFamily="34" charset="0"/>
                <a:ea typeface="Calibri" pitchFamily="34" charset="-122"/>
                <a:cs typeface="Calibri" pitchFamily="34" charset="-120"/>
              </a:rPr>
              <a:t>Hard capped by mathematics. No central bank, no government, no institution can create more. The first money in history with a provably fixed supply.</a:t>
            </a:r>
            <a:endParaRPr lang="en-US" sz="1050" dirty="0"/>
          </a:p>
        </p:txBody>
      </p:sp>
      <p:sp>
        <p:nvSpPr>
          <p:cNvPr id="10" name="Shape 8"/>
          <p:cNvSpPr/>
          <p:nvPr/>
        </p:nvSpPr>
        <p:spPr>
          <a:xfrm>
            <a:off x="4572000" y="2130552"/>
            <a:ext cx="4114800" cy="1060704"/>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1" name="Shape 9"/>
          <p:cNvSpPr/>
          <p:nvPr/>
        </p:nvSpPr>
        <p:spPr>
          <a:xfrm>
            <a:off x="4572000" y="2130552"/>
            <a:ext cx="64008" cy="1060704"/>
          </a:xfrm>
          <a:prstGeom prst="rect">
            <a:avLst/>
          </a:prstGeom>
          <a:solidFill>
            <a:srgbClr val="C9A84C"/>
          </a:solidFill>
          <a:ln w="12700">
            <a:solidFill>
              <a:srgbClr val="C9A84C"/>
            </a:solidFill>
            <a:prstDash val="solid"/>
          </a:ln>
        </p:spPr>
      </p:sp>
      <p:sp>
        <p:nvSpPr>
          <p:cNvPr id="12" name="Text 10"/>
          <p:cNvSpPr/>
          <p:nvPr/>
        </p:nvSpPr>
        <p:spPr>
          <a:xfrm>
            <a:off x="4709160" y="2221992"/>
            <a:ext cx="384048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No trusted third party needed</a:t>
            </a:r>
            <a:endParaRPr lang="en-US" sz="1200" dirty="0"/>
          </a:p>
        </p:txBody>
      </p:sp>
      <p:sp>
        <p:nvSpPr>
          <p:cNvPr id="13" name="Text 11"/>
          <p:cNvSpPr/>
          <p:nvPr/>
        </p:nvSpPr>
        <p:spPr>
          <a:xfrm>
            <a:off x="4709160" y="2514600"/>
            <a:ext cx="3840480" cy="566928"/>
          </a:xfrm>
          <a:prstGeom prst="rect">
            <a:avLst/>
          </a:prstGeom>
          <a:noFill/>
          <a:ln/>
        </p:spPr>
        <p:txBody>
          <a:bodyPr wrap="square" lIns="0" tIns="0" rIns="0" bIns="0" rtlCol="0" anchor="ctr"/>
          <a:lstStyle/>
          <a:p>
            <a:pPr indent="0" marL="0">
              <a:lnSpc>
                <a:spcPct val="135000"/>
              </a:lnSpc>
              <a:buNone/>
            </a:pPr>
            <a:r>
              <a:rPr lang="en-US" sz="1050" dirty="0">
                <a:solidFill>
                  <a:srgbClr val="4A5568"/>
                </a:solidFill>
                <a:latin typeface="Calibri" pitchFamily="34" charset="0"/>
                <a:ea typeface="Calibri" pitchFamily="34" charset="-122"/>
                <a:cs typeface="Calibri" pitchFamily="34" charset="-120"/>
              </a:rPr>
              <a:t>Send value directly between two people anywhere on earth. No bank. No exchange. No payment processor. Two people, transacting directly.</a:t>
            </a:r>
            <a:endParaRPr lang="en-US" sz="1050" dirty="0"/>
          </a:p>
        </p:txBody>
      </p:sp>
      <p:sp>
        <p:nvSpPr>
          <p:cNvPr id="14" name="Shape 12"/>
          <p:cNvSpPr/>
          <p:nvPr/>
        </p:nvSpPr>
        <p:spPr>
          <a:xfrm>
            <a:off x="4572000" y="3300984"/>
            <a:ext cx="4114800" cy="1060704"/>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5" name="Shape 13"/>
          <p:cNvSpPr/>
          <p:nvPr/>
        </p:nvSpPr>
        <p:spPr>
          <a:xfrm>
            <a:off x="4572000" y="3300984"/>
            <a:ext cx="64008" cy="1060704"/>
          </a:xfrm>
          <a:prstGeom prst="rect">
            <a:avLst/>
          </a:prstGeom>
          <a:solidFill>
            <a:srgbClr val="C9A84C"/>
          </a:solidFill>
          <a:ln w="12700">
            <a:solidFill>
              <a:srgbClr val="C9A84C"/>
            </a:solidFill>
            <a:prstDash val="solid"/>
          </a:ln>
        </p:spPr>
      </p:sp>
      <p:sp>
        <p:nvSpPr>
          <p:cNvPr id="16" name="Text 14"/>
          <p:cNvSpPr/>
          <p:nvPr/>
        </p:nvSpPr>
        <p:spPr>
          <a:xfrm>
            <a:off x="4709160" y="3392424"/>
            <a:ext cx="3840480" cy="256032"/>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This already exists</a:t>
            </a:r>
            <a:endParaRPr lang="en-US" sz="1200" dirty="0"/>
          </a:p>
        </p:txBody>
      </p:sp>
      <p:sp>
        <p:nvSpPr>
          <p:cNvPr id="17" name="Text 15"/>
          <p:cNvSpPr/>
          <p:nvPr/>
        </p:nvSpPr>
        <p:spPr>
          <a:xfrm>
            <a:off x="4709160" y="3685032"/>
            <a:ext cx="3840480" cy="566928"/>
          </a:xfrm>
          <a:prstGeom prst="rect">
            <a:avLst/>
          </a:prstGeom>
          <a:noFill/>
          <a:ln/>
        </p:spPr>
        <p:txBody>
          <a:bodyPr wrap="square" lIns="0" tIns="0" rIns="0" bIns="0" rtlCol="0" anchor="ctr"/>
          <a:lstStyle/>
          <a:p>
            <a:pPr indent="0" marL="0">
              <a:lnSpc>
                <a:spcPct val="135000"/>
              </a:lnSpc>
              <a:buNone/>
            </a:pPr>
            <a:r>
              <a:rPr lang="en-US" sz="1050" dirty="0">
                <a:solidFill>
                  <a:srgbClr val="4A5568"/>
                </a:solidFill>
                <a:latin typeface="Calibri" pitchFamily="34" charset="0"/>
                <a:ea typeface="Calibri" pitchFamily="34" charset="-122"/>
                <a:cs typeface="Calibri" pitchFamily="34" charset="-120"/>
              </a:rPr>
              <a:t>Introduced in 2009. Operating continuously for fifteen years. A protocol — like the internet — running on thousands of computers simultaneously worldwide.</a:t>
            </a:r>
            <a:endParaRPr lang="en-US" sz="1050" dirty="0"/>
          </a:p>
        </p:txBody>
      </p:sp>
      <p:sp>
        <p:nvSpPr>
          <p:cNvPr id="18" name="Text 16"/>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What You Now Understand</a:t>
            </a:r>
            <a:endParaRPr lang="en-US" sz="2400" dirty="0"/>
          </a:p>
        </p:txBody>
      </p:sp>
      <p:sp>
        <p:nvSpPr>
          <p:cNvPr id="4" name="Shape 2"/>
          <p:cNvSpPr/>
          <p:nvPr/>
        </p:nvSpPr>
        <p:spPr>
          <a:xfrm>
            <a:off x="457200" y="1005840"/>
            <a:ext cx="8229600" cy="1188720"/>
          </a:xfrm>
          <a:prstGeom prst="rect">
            <a:avLst/>
          </a:prstGeom>
          <a:solidFill>
            <a:srgbClr val="1A2E5E"/>
          </a:solidFill>
          <a:ln w="12700">
            <a:solidFill>
              <a:srgbClr val="1A2E5E"/>
            </a:solidFill>
            <a:prstDash val="solid"/>
          </a:ln>
        </p:spPr>
      </p:sp>
      <p:sp>
        <p:nvSpPr>
          <p:cNvPr id="5" name="Text 3"/>
          <p:cNvSpPr/>
          <p:nvPr/>
        </p:nvSpPr>
        <p:spPr>
          <a:xfrm>
            <a:off x="640080" y="1097280"/>
            <a:ext cx="7863840" cy="1005840"/>
          </a:xfrm>
          <a:prstGeom prst="rect">
            <a:avLst/>
          </a:prstGeom>
          <a:noFill/>
          <a:ln/>
        </p:spPr>
        <p:txBody>
          <a:bodyPr wrap="square" rtlCol="0" anchor="ctr"/>
          <a:lstStyle/>
          <a:p>
            <a:pPr indent="0" marL="0">
              <a:lnSpc>
                <a:spcPct val="160000"/>
              </a:lnSpc>
              <a:buNone/>
            </a:pPr>
            <a:r>
              <a:rPr lang="en-US" sz="1450" i="1" dirty="0">
                <a:solidFill>
                  <a:srgbClr val="E8EAF6"/>
                </a:solidFill>
                <a:latin typeface="Georgia" pitchFamily="34" charset="0"/>
                <a:ea typeface="Georgia" pitchFamily="34" charset="-122"/>
                <a:cs typeface="Georgia" pitchFamily="34" charset="-120"/>
              </a:rPr>
              <a:t>The monetary system is not a law of nature. It is a human invention — and human inventions can be changed. Understanding is where that change begins.</a:t>
            </a:r>
            <a:endParaRPr lang="en-US" sz="1450" dirty="0"/>
          </a:p>
        </p:txBody>
      </p:sp>
      <p:sp>
        <p:nvSpPr>
          <p:cNvPr id="6" name="Shape 4"/>
          <p:cNvSpPr/>
          <p:nvPr/>
        </p:nvSpPr>
        <p:spPr>
          <a:xfrm>
            <a:off x="457200" y="2377440"/>
            <a:ext cx="256032" cy="256032"/>
          </a:xfrm>
          <a:prstGeom prst="rect">
            <a:avLst/>
          </a:prstGeom>
          <a:solidFill>
            <a:srgbClr val="C9A84C"/>
          </a:solidFill>
          <a:ln w="12700">
            <a:solidFill>
              <a:srgbClr val="C9A84C"/>
            </a:solidFill>
            <a:prstDash val="solid"/>
          </a:ln>
        </p:spPr>
      </p:sp>
      <p:sp>
        <p:nvSpPr>
          <p:cNvPr id="7" name="Text 5"/>
          <p:cNvSpPr/>
          <p:nvPr/>
        </p:nvSpPr>
        <p:spPr>
          <a:xfrm>
            <a:off x="822960" y="2359152"/>
            <a:ext cx="7863840" cy="502920"/>
          </a:xfrm>
          <a:prstGeom prst="rect">
            <a:avLst/>
          </a:prstGeom>
          <a:noFill/>
          <a:ln/>
        </p:spPr>
        <p:txBody>
          <a:bodyPr wrap="square" rtlCol="0" anchor="ctr"/>
          <a:lstStyle/>
          <a:p>
            <a:pPr indent="0" marL="0">
              <a:lnSpc>
                <a:spcPct val="140000"/>
              </a:lnSpc>
              <a:buNone/>
            </a:pPr>
            <a:r>
              <a:rPr lang="en-US" sz="1200" dirty="0">
                <a:solidFill>
                  <a:srgbClr val="B0BEC5"/>
                </a:solidFill>
                <a:latin typeface="Calibri" pitchFamily="34" charset="0"/>
                <a:ea typeface="Calibri" pitchFamily="34" charset="-122"/>
                <a:cs typeface="Calibri" pitchFamily="34" charset="-120"/>
              </a:rPr>
              <a:t>Trade created civilization. Money makes trade possible. Most people have never thought about where it came from — or what makes it work.</a:t>
            </a:r>
            <a:endParaRPr lang="en-US" sz="1200" dirty="0"/>
          </a:p>
        </p:txBody>
      </p:sp>
      <p:sp>
        <p:nvSpPr>
          <p:cNvPr id="8" name="Shape 6"/>
          <p:cNvSpPr/>
          <p:nvPr/>
        </p:nvSpPr>
        <p:spPr>
          <a:xfrm>
            <a:off x="457200" y="3035808"/>
            <a:ext cx="256032" cy="256032"/>
          </a:xfrm>
          <a:prstGeom prst="rect">
            <a:avLst/>
          </a:prstGeom>
          <a:solidFill>
            <a:srgbClr val="C9A84C"/>
          </a:solidFill>
          <a:ln w="12700">
            <a:solidFill>
              <a:srgbClr val="C9A84C"/>
            </a:solidFill>
            <a:prstDash val="solid"/>
          </a:ln>
        </p:spPr>
      </p:sp>
      <p:sp>
        <p:nvSpPr>
          <p:cNvPr id="9" name="Text 7"/>
          <p:cNvSpPr/>
          <p:nvPr/>
        </p:nvSpPr>
        <p:spPr>
          <a:xfrm>
            <a:off x="822960" y="3017520"/>
            <a:ext cx="7863840" cy="502920"/>
          </a:xfrm>
          <a:prstGeom prst="rect">
            <a:avLst/>
          </a:prstGeom>
          <a:noFill/>
          <a:ln/>
        </p:spPr>
        <p:txBody>
          <a:bodyPr wrap="square" rtlCol="0" anchor="ctr"/>
          <a:lstStyle/>
          <a:p>
            <a:pPr indent="0" marL="0">
              <a:lnSpc>
                <a:spcPct val="140000"/>
              </a:lnSpc>
              <a:buNone/>
            </a:pPr>
            <a:r>
              <a:rPr lang="en-US" sz="1200" dirty="0">
                <a:solidFill>
                  <a:srgbClr val="B0BEC5"/>
                </a:solidFill>
                <a:latin typeface="Calibri" pitchFamily="34" charset="0"/>
                <a:ea typeface="Calibri" pitchFamily="34" charset="-122"/>
                <a:cs typeface="Calibri" pitchFamily="34" charset="-120"/>
              </a:rPr>
              <a:t>The current monetary system removes the constraint that kept money honest. The consequences — rising costs, stagnant wages, inescapable debt — are structural, not random.</a:t>
            </a:r>
            <a:endParaRPr lang="en-US" sz="1200" dirty="0"/>
          </a:p>
        </p:txBody>
      </p:sp>
      <p:sp>
        <p:nvSpPr>
          <p:cNvPr id="10" name="Shape 8"/>
          <p:cNvSpPr/>
          <p:nvPr/>
        </p:nvSpPr>
        <p:spPr>
          <a:xfrm>
            <a:off x="457200" y="3694176"/>
            <a:ext cx="256032" cy="256032"/>
          </a:xfrm>
          <a:prstGeom prst="rect">
            <a:avLst/>
          </a:prstGeom>
          <a:solidFill>
            <a:srgbClr val="C9A84C"/>
          </a:solidFill>
          <a:ln w="12700">
            <a:solidFill>
              <a:srgbClr val="C9A84C"/>
            </a:solidFill>
            <a:prstDash val="solid"/>
          </a:ln>
        </p:spPr>
      </p:sp>
      <p:sp>
        <p:nvSpPr>
          <p:cNvPr id="11" name="Text 9"/>
          <p:cNvSpPr/>
          <p:nvPr/>
        </p:nvSpPr>
        <p:spPr>
          <a:xfrm>
            <a:off x="822960" y="3675888"/>
            <a:ext cx="7863840" cy="502920"/>
          </a:xfrm>
          <a:prstGeom prst="rect">
            <a:avLst/>
          </a:prstGeom>
          <a:noFill/>
          <a:ln/>
        </p:spPr>
        <p:txBody>
          <a:bodyPr wrap="square" rtlCol="0" anchor="ctr"/>
          <a:lstStyle/>
          <a:p>
            <a:pPr indent="0" marL="0">
              <a:lnSpc>
                <a:spcPct val="140000"/>
              </a:lnSpc>
              <a:buNone/>
            </a:pPr>
            <a:r>
              <a:rPr lang="en-US" sz="1200" dirty="0">
                <a:solidFill>
                  <a:srgbClr val="B0BEC5"/>
                </a:solidFill>
                <a:latin typeface="Calibri" pitchFamily="34" charset="0"/>
                <a:ea typeface="Calibri" pitchFamily="34" charset="-122"/>
                <a:cs typeface="Calibri" pitchFamily="34" charset="-120"/>
              </a:rPr>
              <a:t>Hard money and Bitcoin offer a real alternative. For the first time in history, we have money that is scarce, portable, and controlled by no one.</a:t>
            </a:r>
            <a:endParaRPr lang="en-US" sz="1200" dirty="0"/>
          </a:p>
        </p:txBody>
      </p:sp>
      <p:sp>
        <p:nvSpPr>
          <p:cNvPr id="12" name="Text 10"/>
          <p:cNvSpPr/>
          <p:nvPr/>
        </p:nvSpPr>
        <p:spPr>
          <a:xfrm>
            <a:off x="457200" y="4800600"/>
            <a:ext cx="8229600" cy="201168"/>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Learn more  ·  Version 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Questions — and Where to Go From Here</a:t>
            </a:r>
            <a:endParaRPr lang="en-US" sz="2600" dirty="0"/>
          </a:p>
        </p:txBody>
      </p:sp>
      <p:sp>
        <p:nvSpPr>
          <p:cNvPr id="3" name="Shape 1"/>
          <p:cNvSpPr/>
          <p:nvPr/>
        </p:nvSpPr>
        <p:spPr>
          <a:xfrm>
            <a:off x="457200" y="960120"/>
            <a:ext cx="3931920" cy="3474720"/>
          </a:xfrm>
          <a:prstGeom prst="rect">
            <a:avLst/>
          </a:prstGeom>
          <a:solidFill>
            <a:srgbClr val="1A2E5E"/>
          </a:solidFill>
          <a:ln w="12700">
            <a:solidFill>
              <a:srgbClr val="1A2E5E"/>
            </a:solidFill>
            <a:prstDash val="solid"/>
          </a:ln>
        </p:spPr>
      </p:sp>
      <p:sp>
        <p:nvSpPr>
          <p:cNvPr id="4" name="Text 2"/>
          <p:cNvSpPr/>
          <p:nvPr/>
        </p:nvSpPr>
        <p:spPr>
          <a:xfrm>
            <a:off x="594360" y="1078992"/>
            <a:ext cx="3657600" cy="274320"/>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Questions to start with:</a:t>
            </a:r>
            <a:endParaRPr lang="en-US" sz="1300" dirty="0"/>
          </a:p>
        </p:txBody>
      </p:sp>
      <p:sp>
        <p:nvSpPr>
          <p:cNvPr id="5" name="Text 3"/>
          <p:cNvSpPr/>
          <p:nvPr/>
        </p:nvSpPr>
        <p:spPr>
          <a:xfrm>
            <a:off x="594360" y="1463040"/>
            <a:ext cx="3657600" cy="594360"/>
          </a:xfrm>
          <a:prstGeom prst="rect">
            <a:avLst/>
          </a:prstGeom>
          <a:noFill/>
          <a:ln/>
        </p:spPr>
        <p:txBody>
          <a:bodyPr wrap="square" rtlCol="0" anchor="ctr"/>
          <a:lstStyle/>
          <a:p>
            <a:pPr indent="0" marL="0">
              <a:lnSpc>
                <a:spcPct val="140000"/>
              </a:lnSpc>
              <a:buNone/>
            </a:pPr>
            <a:r>
              <a:rPr lang="en-US" sz="1150" dirty="0">
                <a:solidFill>
                  <a:srgbClr val="E8EAF6"/>
                </a:solidFill>
                <a:latin typeface="Calibri" pitchFamily="34" charset="0"/>
                <a:ea typeface="Calibri" pitchFamily="34" charset="-122"/>
                <a:cs typeface="Calibri" pitchFamily="34" charset="-120"/>
              </a:rPr>
              <a:t>1.  Which of the four consequences hit closest to home for you?</a:t>
            </a:r>
            <a:endParaRPr lang="en-US" sz="1150" dirty="0"/>
          </a:p>
        </p:txBody>
      </p:sp>
      <p:sp>
        <p:nvSpPr>
          <p:cNvPr id="6" name="Text 4"/>
          <p:cNvSpPr/>
          <p:nvPr/>
        </p:nvSpPr>
        <p:spPr>
          <a:xfrm>
            <a:off x="594360" y="2148840"/>
            <a:ext cx="3657600" cy="594360"/>
          </a:xfrm>
          <a:prstGeom prst="rect">
            <a:avLst/>
          </a:prstGeom>
          <a:noFill/>
          <a:ln/>
        </p:spPr>
        <p:txBody>
          <a:bodyPr wrap="square" rtlCol="0" anchor="ctr"/>
          <a:lstStyle/>
          <a:p>
            <a:pPr indent="0" marL="0">
              <a:lnSpc>
                <a:spcPct val="140000"/>
              </a:lnSpc>
              <a:buNone/>
            </a:pPr>
            <a:r>
              <a:rPr lang="en-US" sz="1150" dirty="0">
                <a:solidFill>
                  <a:srgbClr val="E8EAF6"/>
                </a:solidFill>
                <a:latin typeface="Calibri" pitchFamily="34" charset="0"/>
                <a:ea typeface="Calibri" pitchFamily="34" charset="-122"/>
                <a:cs typeface="Calibri" pitchFamily="34" charset="-120"/>
              </a:rPr>
              <a:t>2.  What's the strongest pushback you have on what you heard tonight?</a:t>
            </a:r>
            <a:endParaRPr lang="en-US" sz="1150" dirty="0"/>
          </a:p>
        </p:txBody>
      </p:sp>
      <p:sp>
        <p:nvSpPr>
          <p:cNvPr id="7" name="Text 5"/>
          <p:cNvSpPr/>
          <p:nvPr/>
        </p:nvSpPr>
        <p:spPr>
          <a:xfrm>
            <a:off x="594360" y="2834640"/>
            <a:ext cx="3657600" cy="594360"/>
          </a:xfrm>
          <a:prstGeom prst="rect">
            <a:avLst/>
          </a:prstGeom>
          <a:noFill/>
          <a:ln/>
        </p:spPr>
        <p:txBody>
          <a:bodyPr wrap="square" rtlCol="0" anchor="ctr"/>
          <a:lstStyle/>
          <a:p>
            <a:pPr indent="0" marL="0">
              <a:lnSpc>
                <a:spcPct val="140000"/>
              </a:lnSpc>
              <a:buNone/>
            </a:pPr>
            <a:r>
              <a:rPr lang="en-US" sz="1150" dirty="0">
                <a:solidFill>
                  <a:srgbClr val="E8EAF6"/>
                </a:solidFill>
                <a:latin typeface="Calibri" pitchFamily="34" charset="0"/>
                <a:ea typeface="Calibri" pitchFamily="34" charset="-122"/>
                <a:cs typeface="Calibri" pitchFamily="34" charset="-120"/>
              </a:rPr>
              <a:t>3.  If savings actually held value — what would you do differently?</a:t>
            </a:r>
            <a:endParaRPr lang="en-US" sz="1150" dirty="0"/>
          </a:p>
        </p:txBody>
      </p:sp>
      <p:sp>
        <p:nvSpPr>
          <p:cNvPr id="8" name="Text 6"/>
          <p:cNvSpPr/>
          <p:nvPr/>
        </p:nvSpPr>
        <p:spPr>
          <a:xfrm>
            <a:off x="594360" y="3520440"/>
            <a:ext cx="3657600" cy="594360"/>
          </a:xfrm>
          <a:prstGeom prst="rect">
            <a:avLst/>
          </a:prstGeom>
          <a:noFill/>
          <a:ln/>
        </p:spPr>
        <p:txBody>
          <a:bodyPr wrap="square" rtlCol="0" anchor="ctr"/>
          <a:lstStyle/>
          <a:p>
            <a:pPr indent="0" marL="0">
              <a:lnSpc>
                <a:spcPct val="140000"/>
              </a:lnSpc>
              <a:buNone/>
            </a:pPr>
            <a:r>
              <a:rPr lang="en-US" sz="1150" dirty="0">
                <a:solidFill>
                  <a:srgbClr val="E8EAF6"/>
                </a:solidFill>
                <a:latin typeface="Calibri" pitchFamily="34" charset="0"/>
                <a:ea typeface="Calibri" pitchFamily="34" charset="-122"/>
                <a:cs typeface="Calibri" pitchFamily="34" charset="-120"/>
              </a:rPr>
              <a:t>4.  What do you want to understand more deeply?</a:t>
            </a:r>
            <a:endParaRPr lang="en-US" sz="1150" dirty="0"/>
          </a:p>
        </p:txBody>
      </p:sp>
      <p:sp>
        <p:nvSpPr>
          <p:cNvPr id="9" name="Shape 7"/>
          <p:cNvSpPr/>
          <p:nvPr/>
        </p:nvSpPr>
        <p:spPr>
          <a:xfrm>
            <a:off x="4572000" y="960120"/>
            <a:ext cx="41148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0" name="Shape 8"/>
          <p:cNvSpPr/>
          <p:nvPr/>
        </p:nvSpPr>
        <p:spPr>
          <a:xfrm>
            <a:off x="4572000" y="960120"/>
            <a:ext cx="64008" cy="768096"/>
          </a:xfrm>
          <a:prstGeom prst="rect">
            <a:avLst/>
          </a:prstGeom>
          <a:solidFill>
            <a:srgbClr val="C9A84C"/>
          </a:solidFill>
          <a:ln w="12700">
            <a:solidFill>
              <a:srgbClr val="C9A84C"/>
            </a:solidFill>
            <a:prstDash val="solid"/>
          </a:ln>
        </p:spPr>
      </p:sp>
      <p:sp>
        <p:nvSpPr>
          <p:cNvPr id="11" name="Text 9"/>
          <p:cNvSpPr/>
          <p:nvPr/>
        </p:nvSpPr>
        <p:spPr>
          <a:xfrm>
            <a:off x="4709160" y="1051560"/>
            <a:ext cx="3840480"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full story</a:t>
            </a:r>
            <a:endParaRPr lang="en-US" sz="1200" dirty="0"/>
          </a:p>
        </p:txBody>
      </p:sp>
      <p:sp>
        <p:nvSpPr>
          <p:cNvPr id="12" name="Text 10"/>
          <p:cNvSpPr/>
          <p:nvPr/>
        </p:nvSpPr>
        <p:spPr>
          <a:xfrm>
            <a:off x="4709160" y="1325880"/>
            <a:ext cx="3840480" cy="329184"/>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freemarketwatch.world/learn — six-act written series covering all of tonight in depth. Free.</a:t>
            </a:r>
            <a:endParaRPr lang="en-US" sz="1050" dirty="0"/>
          </a:p>
        </p:txBody>
      </p:sp>
      <p:sp>
        <p:nvSpPr>
          <p:cNvPr id="13" name="Shape 11"/>
          <p:cNvSpPr/>
          <p:nvPr/>
        </p:nvSpPr>
        <p:spPr>
          <a:xfrm>
            <a:off x="4572000" y="1837944"/>
            <a:ext cx="41148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4572000" y="1837944"/>
            <a:ext cx="64008" cy="768096"/>
          </a:xfrm>
          <a:prstGeom prst="rect">
            <a:avLst/>
          </a:prstGeom>
          <a:solidFill>
            <a:srgbClr val="C9A84C"/>
          </a:solidFill>
          <a:ln w="12700">
            <a:solidFill>
              <a:srgbClr val="C9A84C"/>
            </a:solidFill>
            <a:prstDash val="solid"/>
          </a:ln>
        </p:spPr>
      </p:sp>
      <p:sp>
        <p:nvSpPr>
          <p:cNvPr id="15" name="Text 13"/>
          <p:cNvSpPr/>
          <p:nvPr/>
        </p:nvSpPr>
        <p:spPr>
          <a:xfrm>
            <a:off x="4709160" y="1929384"/>
            <a:ext cx="3840480"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Six-session deep dive</a:t>
            </a:r>
            <a:endParaRPr lang="en-US" sz="1200" dirty="0"/>
          </a:p>
        </p:txBody>
      </p:sp>
      <p:sp>
        <p:nvSpPr>
          <p:cNvPr id="16" name="Text 14"/>
          <p:cNvSpPr/>
          <p:nvPr/>
        </p:nvSpPr>
        <p:spPr>
          <a:xfrm>
            <a:off x="4709160" y="2203704"/>
            <a:ext cx="3840480" cy="329184"/>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A structured group series — two hours per session, six sessions. Available for communities who want to go deeper together.</a:t>
            </a:r>
            <a:endParaRPr lang="en-US" sz="1050" dirty="0"/>
          </a:p>
        </p:txBody>
      </p:sp>
      <p:sp>
        <p:nvSpPr>
          <p:cNvPr id="17" name="Shape 15"/>
          <p:cNvSpPr/>
          <p:nvPr/>
        </p:nvSpPr>
        <p:spPr>
          <a:xfrm>
            <a:off x="4572000" y="2715768"/>
            <a:ext cx="41148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8" name="Shape 16"/>
          <p:cNvSpPr/>
          <p:nvPr/>
        </p:nvSpPr>
        <p:spPr>
          <a:xfrm>
            <a:off x="4572000" y="2715768"/>
            <a:ext cx="64008" cy="768096"/>
          </a:xfrm>
          <a:prstGeom prst="rect">
            <a:avLst/>
          </a:prstGeom>
          <a:solidFill>
            <a:srgbClr val="C9A84C"/>
          </a:solidFill>
          <a:ln w="12700">
            <a:solidFill>
              <a:srgbClr val="C9A84C"/>
            </a:solidFill>
            <a:prstDash val="solid"/>
          </a:ln>
        </p:spPr>
      </p:sp>
      <p:sp>
        <p:nvSpPr>
          <p:cNvPr id="19" name="Text 17"/>
          <p:cNvSpPr/>
          <p:nvPr/>
        </p:nvSpPr>
        <p:spPr>
          <a:xfrm>
            <a:off x="4709160" y="2807208"/>
            <a:ext cx="3840480"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essential read</a:t>
            </a:r>
            <a:endParaRPr lang="en-US" sz="1200" dirty="0"/>
          </a:p>
        </p:txBody>
      </p:sp>
      <p:sp>
        <p:nvSpPr>
          <p:cNvPr id="20" name="Text 18"/>
          <p:cNvSpPr/>
          <p:nvPr/>
        </p:nvSpPr>
        <p:spPr>
          <a:xfrm>
            <a:off x="4709160" y="3081528"/>
            <a:ext cx="3840480" cy="329184"/>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The Bitcoin Standard by Saifedean Ammous — the definitive economic case. Start here if you read one thing.</a:t>
            </a:r>
            <a:endParaRPr lang="en-US" sz="1050" dirty="0"/>
          </a:p>
        </p:txBody>
      </p:sp>
      <p:sp>
        <p:nvSpPr>
          <p:cNvPr id="21" name="Shape 19"/>
          <p:cNvSpPr/>
          <p:nvPr/>
        </p:nvSpPr>
        <p:spPr>
          <a:xfrm>
            <a:off x="4572000" y="3593592"/>
            <a:ext cx="41148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2" name="Shape 20"/>
          <p:cNvSpPr/>
          <p:nvPr/>
        </p:nvSpPr>
        <p:spPr>
          <a:xfrm>
            <a:off x="4572000" y="3593592"/>
            <a:ext cx="64008" cy="768096"/>
          </a:xfrm>
          <a:prstGeom prst="rect">
            <a:avLst/>
          </a:prstGeom>
          <a:solidFill>
            <a:srgbClr val="C9A84C"/>
          </a:solidFill>
          <a:ln w="12700">
            <a:solidFill>
              <a:srgbClr val="C9A84C"/>
            </a:solidFill>
            <a:prstDash val="solid"/>
          </a:ln>
        </p:spPr>
      </p:sp>
      <p:sp>
        <p:nvSpPr>
          <p:cNvPr id="23" name="Text 21"/>
          <p:cNvSpPr/>
          <p:nvPr/>
        </p:nvSpPr>
        <p:spPr>
          <a:xfrm>
            <a:off x="4709160" y="3685032"/>
            <a:ext cx="3840480" cy="237744"/>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See the data live</a:t>
            </a:r>
            <a:endParaRPr lang="en-US" sz="1200" dirty="0"/>
          </a:p>
        </p:txBody>
      </p:sp>
      <p:sp>
        <p:nvSpPr>
          <p:cNvPr id="24" name="Text 22"/>
          <p:cNvSpPr/>
          <p:nvPr/>
        </p:nvSpPr>
        <p:spPr>
          <a:xfrm>
            <a:off x="4709160" y="3959352"/>
            <a:ext cx="3840480" cy="329184"/>
          </a:xfrm>
          <a:prstGeom prst="rect">
            <a:avLst/>
          </a:prstGeom>
          <a:noFill/>
          <a:ln/>
        </p:spPr>
        <p:txBody>
          <a:bodyPr wrap="square" lIns="0" tIns="0" rIns="0" bIns="0" rtlCol="0" anchor="ctr"/>
          <a:lstStyle/>
          <a:p>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freemarketwatch.world — currencies, purchasing power, and monetary data in real time.</a:t>
            </a:r>
            <a:endParaRPr lang="en-US" sz="1050" dirty="0"/>
          </a:p>
        </p:txBody>
      </p:sp>
      <p:sp>
        <p:nvSpPr>
          <p:cNvPr id="25" name="Text 23"/>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Money You Were Never Taught About — FreeMarketWatch</dc:title>
  <dc:subject>PptxGenJS Presentation</dc:subject>
  <dc:creator>PptxGenJS</dc:creator>
  <cp:lastModifiedBy>PptxGenJS</cp:lastModifiedBy>
  <cp:revision>1</cp:revision>
  <dcterms:created xsi:type="dcterms:W3CDTF">2026-06-22T14:36:21Z</dcterms:created>
  <dcterms:modified xsi:type="dcterms:W3CDTF">2026-06-22T14:36:21Z</dcterms:modified>
</cp:coreProperties>
</file>