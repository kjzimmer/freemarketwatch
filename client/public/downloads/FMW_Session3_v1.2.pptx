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3 — THE EMOTIONAL CORE. Speak slowly. Let things land.
Recap Sessions 1-2 in 10 minutes: trade → money → gold → fractional reserve → 1971.
"Tonight I'm going to connect the abstract to the things you actually feel. The prices. The wages. The housing. The debt. The sense that something is wrong that you can't quite name. I'm going to name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recap frame. The three numbers tell the structural story.
"Tonight is about the human story that follows from those three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debasement reframe is important. Correct the instinctive explanation directly.
"If your TV gets cheaper every year because manufacturing improves — why does your grocery bill go up every year? Not because food got harder to grow. Because the money you're using got weaker."
"The value doesn't vanish. It moves. And it moves in a very specific direction."
Transition to Cantillon.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called the Cantillon effect, after an 18th-century economist who first described it. It is not a conspiracy theory. It is a structural feature of how money creation works."
"Think of it this way: if I created new money and gave it all to the ten wealthiest people in town, what happens? They start spending. Prices start rising. By the time you or I notice prices are higher, those ten people have already bought things at the old prices."
"That is not hypothetical. That is the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each card one at a time. Each one should land as something the room recognizes from their own experience.
WAR: "Under the gold standard, the cost of war was visible. Under fiat, it is spread invisibly through inflation."
INEQUALITY: "The wealth gap inflected sharply in 1971 and has widened every decade since. That timing is not accidental."
QUALITY: "Think about tools and appliances from 30-40 years ago. This is not nostalgia. It is incentives set by the monetary system."
DEBT: "Student loans, mortgages, car payments — these are rational responses to a system designed to require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 directly to the room. "How many of you have noticed that running your business costs more every year — not because you're doing anything different?"
"How many of you have parents or grandparents who raised a family on one income, owned a home, saved for retirement — on what we'd consider a modest salary today? It's not because they were better with money. It's because money was better."
Pause. Let this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framing is important for keeping the room from going conspiratorial.
"I'm not saying no one benefits. Some people benefit enormously. I'm saying the system produces these outcomes regardless of the intentions of the people running it. That's what makes it hard to fix — and why understanding the mechanism matters more than finding someone to blame."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session where discussion gets personal. That is appropriate. These are real things that have affected real people in the room.
Your job: validate the feeling ("yes, this is real") while keeping the framing systemic rather than conspiratorial.
"The system produces these outcomes. That is worse than a conspiracy in some ways — harder to fix — and more important to understand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3 is the hardest session. You did the work. Session 4 is where the story turns — from diagnosis to possibility."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6583680" y="0"/>
            <a:ext cx="2560320" cy="5143500"/>
          </a:xfrm>
          <a:prstGeom prst="rect">
            <a:avLst/>
          </a:prstGeom>
          <a:solidFill>
            <a:srgbClr val="111827"/>
          </a:solidFill>
          <a:ln w="12700">
            <a:solidFill>
              <a:srgbClr val="111827"/>
            </a:solidFill>
            <a:prstDash val="solid"/>
          </a:ln>
        </p:spPr>
      </p:sp>
      <p:sp>
        <p:nvSpPr>
          <p:cNvPr id="3" name="Shape 1"/>
          <p:cNvSpPr/>
          <p:nvPr/>
        </p:nvSpPr>
        <p:spPr>
          <a:xfrm>
            <a:off x="6583680" y="0"/>
            <a:ext cx="54864" cy="5143500"/>
          </a:xfrm>
          <a:prstGeom prst="rect">
            <a:avLst/>
          </a:prstGeom>
          <a:solidFill>
            <a:srgbClr val="C9A84C"/>
          </a:solidFill>
          <a:ln w="12700">
            <a:solidFill>
              <a:srgbClr val="C9A84C"/>
            </a:solidFill>
            <a:prstDash val="solid"/>
          </a:ln>
        </p:spPr>
      </p:sp>
      <p:sp>
        <p:nvSpPr>
          <p:cNvPr id="4" name="Text 2"/>
          <p:cNvSpPr/>
          <p:nvPr/>
        </p:nvSpPr>
        <p:spPr>
          <a:xfrm>
            <a:off x="548640" y="1188720"/>
            <a:ext cx="5669280" cy="274320"/>
          </a:xfrm>
          <a:prstGeom prst="rect">
            <a:avLst/>
          </a:prstGeom>
          <a:noFill/>
          <a:ln/>
        </p:spPr>
        <p:txBody>
          <a:bodyPr wrap="square" lIns="0" tIns="0" rIns="0" bIns="0" rtlCol="0" anchor="ctr"/>
          <a:lstStyle/>
          <a:p>
            <a:pPr indent="0" marL="0">
              <a:buNone/>
            </a:pPr>
            <a:r>
              <a:rPr lang="en-US" sz="1000" b="1" spc="400" kern="0" dirty="0">
                <a:solidFill>
                  <a:srgbClr val="C9A84C"/>
                </a:solidFill>
                <a:latin typeface="Calibri" pitchFamily="34" charset="0"/>
                <a:ea typeface="Calibri" pitchFamily="34" charset="-122"/>
                <a:cs typeface="Calibri" pitchFamily="34" charset="-120"/>
              </a:rPr>
              <a:t>FREEMARKETWATCH.WORLD</a:t>
            </a:r>
            <a:endParaRPr lang="en-US" sz="1000" dirty="0"/>
          </a:p>
        </p:txBody>
      </p:sp>
      <p:sp>
        <p:nvSpPr>
          <p:cNvPr id="5" name="Text 3"/>
          <p:cNvSpPr/>
          <p:nvPr/>
        </p:nvSpPr>
        <p:spPr>
          <a:xfrm>
            <a:off x="548640" y="1508760"/>
            <a:ext cx="5669280" cy="228600"/>
          </a:xfrm>
          <a:prstGeom prst="rect">
            <a:avLst/>
          </a:prstGeom>
          <a:noFill/>
          <a:ln/>
        </p:spPr>
        <p:txBody>
          <a:bodyPr wrap="square" lIns="0" tIns="0" rIns="0" bIns="0" rtlCol="0" anchor="ctr"/>
          <a:lstStyle/>
          <a:p>
            <a:pPr indent="0" marL="0">
              <a:buNone/>
            </a:pPr>
            <a:r>
              <a:rPr lang="en-US" sz="1100" dirty="0">
                <a:solidFill>
                  <a:srgbClr val="7A8EA8"/>
                </a:solidFill>
                <a:latin typeface="Calibri" pitchFamily="34" charset="0"/>
                <a:ea typeface="Calibri" pitchFamily="34" charset="-122"/>
                <a:cs typeface="Calibri" pitchFamily="34" charset="-120"/>
              </a:rPr>
              <a:t>Session 3 of 6  ·  ~2 hours including discussion</a:t>
            </a:r>
            <a:endParaRPr lang="en-US" sz="1100" dirty="0"/>
          </a:p>
        </p:txBody>
      </p:sp>
      <p:sp>
        <p:nvSpPr>
          <p:cNvPr id="6" name="Text 4"/>
          <p:cNvSpPr/>
          <p:nvPr/>
        </p:nvSpPr>
        <p:spPr>
          <a:xfrm>
            <a:off x="548640" y="1783080"/>
            <a:ext cx="5669280" cy="1463040"/>
          </a:xfrm>
          <a:prstGeom prst="rect">
            <a:avLst/>
          </a:prstGeom>
          <a:noFill/>
          <a:ln/>
        </p:spPr>
        <p:txBody>
          <a:bodyPr wrap="square" rtlCol="0" anchor="ctr"/>
          <a:lstStyle/>
          <a:p>
            <a:pPr indent="0" marL="0">
              <a:lnSpc>
                <a:spcPct val="115000"/>
              </a:lnSpc>
              <a:buNone/>
            </a:pPr>
            <a:r>
              <a:rPr lang="en-US" sz="4000" b="1" dirty="0">
                <a:solidFill>
                  <a:srgbClr val="FFFFFF"/>
                </a:solidFill>
                <a:latin typeface="Georgia" pitchFamily="34" charset="0"/>
                <a:ea typeface="Georgia" pitchFamily="34" charset="-122"/>
                <a:cs typeface="Georgia" pitchFamily="34" charset="-120"/>
              </a:rPr>
              <a:t>The Blast Radius</a:t>
            </a:r>
            <a:endParaRPr lang="en-US" sz="4000" dirty="0"/>
          </a:p>
        </p:txBody>
      </p:sp>
      <p:sp>
        <p:nvSpPr>
          <p:cNvPr id="7" name="Text 5"/>
          <p:cNvSpPr/>
          <p:nvPr/>
        </p:nvSpPr>
        <p:spPr>
          <a:xfrm>
            <a:off x="548640" y="3291840"/>
            <a:ext cx="5669280" cy="640080"/>
          </a:xfrm>
          <a:prstGeom prst="rect">
            <a:avLst/>
          </a:prstGeom>
          <a:noFill/>
          <a:ln/>
        </p:spPr>
        <p:txBody>
          <a:bodyPr wrap="square" rtlCol="0" anchor="ctr"/>
          <a:lstStyle/>
          <a:p>
            <a:pPr indent="0" marL="0">
              <a:lnSpc>
                <a:spcPct val="140000"/>
              </a:lnSpc>
              <a:buNone/>
            </a:pPr>
            <a:r>
              <a:rPr lang="en-US" sz="1500" dirty="0">
                <a:solidFill>
                  <a:srgbClr val="A0AEC0"/>
                </a:solidFill>
                <a:latin typeface="Calibri" pitchFamily="34" charset="0"/>
                <a:ea typeface="Calibri" pitchFamily="34" charset="-122"/>
                <a:cs typeface="Calibri" pitchFamily="34" charset="-120"/>
              </a:rPr>
              <a:t>What unlimited money creation does to real people</a:t>
            </a:r>
            <a:endParaRPr lang="en-US" sz="1500" dirty="0"/>
          </a:p>
        </p:txBody>
      </p:sp>
      <p:sp>
        <p:nvSpPr>
          <p:cNvPr id="8" name="Text 6"/>
          <p:cNvSpPr/>
          <p:nvPr/>
        </p:nvSpPr>
        <p:spPr>
          <a:xfrm>
            <a:off x="548640" y="4773168"/>
            <a:ext cx="5669280" cy="201168"/>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Version 1.2</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rtlCol="0" anchor="ctr"/>
          <a:lstStyle/>
          <a:p>
            <a:pPr indent="0" marL="0">
              <a:buNone/>
            </a:pPr>
            <a:r>
              <a:rPr lang="en-US" sz="2600" b="1" dirty="0">
                <a:solidFill>
                  <a:srgbClr val="1C1C2E"/>
                </a:solidFill>
                <a:latin typeface="Georgia" pitchFamily="34" charset="0"/>
                <a:ea typeface="Georgia" pitchFamily="34" charset="-122"/>
                <a:cs typeface="Georgia" pitchFamily="34" charset="-120"/>
              </a:rPr>
              <a:t>What We Know So Far</a:t>
            </a:r>
            <a:endParaRPr lang="en-US" sz="2600" dirty="0"/>
          </a:p>
        </p:txBody>
      </p:sp>
      <p:sp>
        <p:nvSpPr>
          <p:cNvPr id="3" name="Shape 1"/>
          <p:cNvSpPr/>
          <p:nvPr/>
        </p:nvSpPr>
        <p:spPr>
          <a:xfrm>
            <a:off x="457200" y="1005840"/>
            <a:ext cx="2606040" cy="1554480"/>
          </a:xfrm>
          <a:prstGeom prst="rect">
            <a:avLst/>
          </a:prstGeom>
          <a:solidFill>
            <a:srgbClr val="1A2E5E"/>
          </a:solidFill>
          <a:ln w="12700">
            <a:solidFill>
              <a:srgbClr val="1A2E5E"/>
            </a:solidFill>
            <a:prstDash val="solid"/>
          </a:ln>
          <a:effectLst>
            <a:outerShdw sx="100000" sy="100000" kx="0" ky="0" algn="bl" rotWithShape="0" blurRad="50800" dist="12700" dir="8100000">
              <a:srgbClr val="000000">
                <a:alpha val="8000"/>
              </a:srgbClr>
            </a:outerShdw>
          </a:effectLst>
        </p:spPr>
      </p:sp>
      <p:sp>
        <p:nvSpPr>
          <p:cNvPr id="4" name="Text 2"/>
          <p:cNvSpPr/>
          <p:nvPr/>
        </p:nvSpPr>
        <p:spPr>
          <a:xfrm>
            <a:off x="457200" y="1097280"/>
            <a:ext cx="2606040" cy="777240"/>
          </a:xfrm>
          <a:prstGeom prst="rect">
            <a:avLst/>
          </a:prstGeom>
          <a:noFill/>
          <a:ln/>
        </p:spPr>
        <p:txBody>
          <a:bodyPr wrap="square" rtlCol="0" anchor="ctr"/>
          <a:lstStyle/>
          <a:p>
            <a:pPr algn="ctr" indent="0" marL="0">
              <a:buNone/>
            </a:pPr>
            <a:r>
              <a:rPr lang="en-US" sz="3600" b="1" dirty="0">
                <a:solidFill>
                  <a:srgbClr val="C9A84C"/>
                </a:solidFill>
                <a:latin typeface="Georgia" pitchFamily="34" charset="0"/>
                <a:ea typeface="Georgia" pitchFamily="34" charset="-122"/>
                <a:cs typeface="Georgia" pitchFamily="34" charset="-120"/>
              </a:rPr>
              <a:t>1913</a:t>
            </a:r>
            <a:endParaRPr lang="en-US" sz="3600" dirty="0"/>
          </a:p>
        </p:txBody>
      </p:sp>
      <p:sp>
        <p:nvSpPr>
          <p:cNvPr id="5" name="Text 3"/>
          <p:cNvSpPr/>
          <p:nvPr/>
        </p:nvSpPr>
        <p:spPr>
          <a:xfrm>
            <a:off x="594360" y="1874520"/>
            <a:ext cx="2331720" cy="548640"/>
          </a:xfrm>
          <a:prstGeom prst="rect">
            <a:avLst/>
          </a:prstGeom>
          <a:noFill/>
          <a:ln/>
        </p:spPr>
        <p:txBody>
          <a:bodyPr wrap="square" rtlCol="0" anchor="ctr"/>
          <a:lstStyle/>
          <a:p>
            <a:pPr algn="ctr" indent="0" marL="0">
              <a:lnSpc>
                <a:spcPct val="130000"/>
              </a:lnSpc>
              <a:buNone/>
            </a:pPr>
            <a:r>
              <a:rPr lang="en-US" sz="1100" dirty="0">
                <a:solidFill>
                  <a:srgbClr val="E8EAF6"/>
                </a:solidFill>
                <a:latin typeface="Calibri" pitchFamily="34" charset="0"/>
                <a:ea typeface="Calibri" pitchFamily="34" charset="-122"/>
                <a:cs typeface="Calibri" pitchFamily="34" charset="-120"/>
              </a:rPr>
              <a:t>Federal Reserve created — a central bank empowered to manage money supply</a:t>
            </a:r>
            <a:endParaRPr lang="en-US" sz="1100" dirty="0"/>
          </a:p>
        </p:txBody>
      </p:sp>
      <p:sp>
        <p:nvSpPr>
          <p:cNvPr id="6" name="Shape 4"/>
          <p:cNvSpPr/>
          <p:nvPr/>
        </p:nvSpPr>
        <p:spPr>
          <a:xfrm>
            <a:off x="3200400" y="1005840"/>
            <a:ext cx="2606040" cy="1554480"/>
          </a:xfrm>
          <a:prstGeom prst="rect">
            <a:avLst/>
          </a:prstGeom>
          <a:solidFill>
            <a:srgbClr val="1A2E5E"/>
          </a:solidFill>
          <a:ln w="12700">
            <a:solidFill>
              <a:srgbClr val="1A2E5E"/>
            </a:solidFill>
            <a:prstDash val="solid"/>
          </a:ln>
          <a:effectLst>
            <a:outerShdw sx="100000" sy="100000" kx="0" ky="0" algn="bl" rotWithShape="0" blurRad="50800" dist="12700" dir="8100000">
              <a:srgbClr val="000000">
                <a:alpha val="8000"/>
              </a:srgbClr>
            </a:outerShdw>
          </a:effectLst>
        </p:spPr>
      </p:sp>
      <p:sp>
        <p:nvSpPr>
          <p:cNvPr id="7" name="Text 5"/>
          <p:cNvSpPr/>
          <p:nvPr/>
        </p:nvSpPr>
        <p:spPr>
          <a:xfrm>
            <a:off x="3200400" y="1097280"/>
            <a:ext cx="2606040" cy="777240"/>
          </a:xfrm>
          <a:prstGeom prst="rect">
            <a:avLst/>
          </a:prstGeom>
          <a:noFill/>
          <a:ln/>
        </p:spPr>
        <p:txBody>
          <a:bodyPr wrap="square" rtlCol="0" anchor="ctr"/>
          <a:lstStyle/>
          <a:p>
            <a:pPr algn="ctr" indent="0" marL="0">
              <a:buNone/>
            </a:pPr>
            <a:r>
              <a:rPr lang="en-US" sz="3600" b="1" dirty="0">
                <a:solidFill>
                  <a:srgbClr val="C9A84C"/>
                </a:solidFill>
                <a:latin typeface="Georgia" pitchFamily="34" charset="0"/>
                <a:ea typeface="Georgia" pitchFamily="34" charset="-122"/>
                <a:cs typeface="Georgia" pitchFamily="34" charset="-120"/>
              </a:rPr>
              <a:t>1971</a:t>
            </a:r>
            <a:endParaRPr lang="en-US" sz="3600" dirty="0"/>
          </a:p>
        </p:txBody>
      </p:sp>
      <p:sp>
        <p:nvSpPr>
          <p:cNvPr id="8" name="Text 6"/>
          <p:cNvSpPr/>
          <p:nvPr/>
        </p:nvSpPr>
        <p:spPr>
          <a:xfrm>
            <a:off x="3337560" y="1874520"/>
            <a:ext cx="2331720" cy="548640"/>
          </a:xfrm>
          <a:prstGeom prst="rect">
            <a:avLst/>
          </a:prstGeom>
          <a:noFill/>
          <a:ln/>
        </p:spPr>
        <p:txBody>
          <a:bodyPr wrap="square" rtlCol="0" anchor="ctr"/>
          <a:lstStyle/>
          <a:p>
            <a:pPr algn="ctr" indent="0" marL="0">
              <a:lnSpc>
                <a:spcPct val="130000"/>
              </a:lnSpc>
              <a:buNone/>
            </a:pPr>
            <a:r>
              <a:rPr lang="en-US" sz="1100" dirty="0">
                <a:solidFill>
                  <a:srgbClr val="E8EAF6"/>
                </a:solidFill>
                <a:latin typeface="Calibri" pitchFamily="34" charset="0"/>
                <a:ea typeface="Calibri" pitchFamily="34" charset="-122"/>
                <a:cs typeface="Calibri" pitchFamily="34" charset="-120"/>
              </a:rPr>
              <a:t>Nixon severs last link between dollar and gold — money creation becomes unlimited</a:t>
            </a:r>
            <a:endParaRPr lang="en-US" sz="1100" dirty="0"/>
          </a:p>
        </p:txBody>
      </p:sp>
      <p:sp>
        <p:nvSpPr>
          <p:cNvPr id="9" name="Shape 7"/>
          <p:cNvSpPr/>
          <p:nvPr/>
        </p:nvSpPr>
        <p:spPr>
          <a:xfrm>
            <a:off x="5943600" y="1005840"/>
            <a:ext cx="2606040" cy="1554480"/>
          </a:xfrm>
          <a:prstGeom prst="rect">
            <a:avLst/>
          </a:prstGeom>
          <a:solidFill>
            <a:srgbClr val="1A2E5E"/>
          </a:solidFill>
          <a:ln w="12700">
            <a:solidFill>
              <a:srgbClr val="1A2E5E"/>
            </a:solidFill>
            <a:prstDash val="solid"/>
          </a:ln>
          <a:effectLst>
            <a:outerShdw sx="100000" sy="100000" kx="0" ky="0" algn="bl" rotWithShape="0" blurRad="50800" dist="12700" dir="8100000">
              <a:srgbClr val="000000">
                <a:alpha val="8000"/>
              </a:srgbClr>
            </a:outerShdw>
          </a:effectLst>
        </p:spPr>
      </p:sp>
      <p:sp>
        <p:nvSpPr>
          <p:cNvPr id="10" name="Text 8"/>
          <p:cNvSpPr/>
          <p:nvPr/>
        </p:nvSpPr>
        <p:spPr>
          <a:xfrm>
            <a:off x="5943600" y="1097280"/>
            <a:ext cx="2606040" cy="777240"/>
          </a:xfrm>
          <a:prstGeom prst="rect">
            <a:avLst/>
          </a:prstGeom>
          <a:noFill/>
          <a:ln/>
        </p:spPr>
        <p:txBody>
          <a:bodyPr wrap="square" rtlCol="0" anchor="ctr"/>
          <a:lstStyle/>
          <a:p>
            <a:pPr algn="ctr" indent="0" marL="0">
              <a:buNone/>
            </a:pPr>
            <a:r>
              <a:rPr lang="en-US" sz="3600" b="1" dirty="0">
                <a:solidFill>
                  <a:srgbClr val="C9A84C"/>
                </a:solidFill>
                <a:latin typeface="Georgia" pitchFamily="34" charset="0"/>
                <a:ea typeface="Georgia" pitchFamily="34" charset="-122"/>
                <a:cs typeface="Georgia" pitchFamily="34" charset="-120"/>
              </a:rPr>
              <a:t>85×</a:t>
            </a:r>
            <a:endParaRPr lang="en-US" sz="3600" dirty="0"/>
          </a:p>
        </p:txBody>
      </p:sp>
      <p:sp>
        <p:nvSpPr>
          <p:cNvPr id="11" name="Text 9"/>
          <p:cNvSpPr/>
          <p:nvPr/>
        </p:nvSpPr>
        <p:spPr>
          <a:xfrm>
            <a:off x="6080760" y="1874520"/>
            <a:ext cx="2331720" cy="548640"/>
          </a:xfrm>
          <a:prstGeom prst="rect">
            <a:avLst/>
          </a:prstGeom>
          <a:noFill/>
          <a:ln/>
        </p:spPr>
        <p:txBody>
          <a:bodyPr wrap="square" rtlCol="0" anchor="ctr"/>
          <a:lstStyle/>
          <a:p>
            <a:pPr algn="ctr" indent="0" marL="0">
              <a:lnSpc>
                <a:spcPct val="130000"/>
              </a:lnSpc>
              <a:buNone/>
            </a:pPr>
            <a:r>
              <a:rPr lang="en-US" sz="1100" dirty="0">
                <a:solidFill>
                  <a:srgbClr val="E8EAF6"/>
                </a:solidFill>
                <a:latin typeface="Calibri" pitchFamily="34" charset="0"/>
                <a:ea typeface="Calibri" pitchFamily="34" charset="-122"/>
                <a:cs typeface="Calibri" pitchFamily="34" charset="-120"/>
              </a:rPr>
              <a:t>Increase in US national debt since 1971 — from $400B to over $34 trillion</a:t>
            </a:r>
            <a:endParaRPr lang="en-US" sz="1100" dirty="0"/>
          </a:p>
        </p:txBody>
      </p:sp>
      <p:sp>
        <p:nvSpPr>
          <p:cNvPr id="12" name="Text 10"/>
          <p:cNvSpPr/>
          <p:nvPr/>
        </p:nvSpPr>
        <p:spPr>
          <a:xfrm>
            <a:off x="548640" y="2743200"/>
            <a:ext cx="8046720" cy="1645920"/>
          </a:xfrm>
          <a:prstGeom prst="rect">
            <a:avLst/>
          </a:prstGeom>
          <a:noFill/>
          <a:ln/>
        </p:spPr>
        <p:txBody>
          <a:bodyPr wrap="square" rtlCol="0" anchor="ctr"/>
          <a:lstStyle/>
          <a:p>
            <a:pPr indent="0" marL="0">
              <a:lnSpc>
                <a:spcPct val="155000"/>
              </a:lnSpc>
              <a:buNone/>
            </a:pPr>
            <a:r>
              <a:rPr lang="en-US" sz="1300" dirty="0">
                <a:solidFill>
                  <a:srgbClr val="4A5568"/>
                </a:solidFill>
                <a:latin typeface="Calibri" pitchFamily="34" charset="0"/>
                <a:ea typeface="Calibri" pitchFamily="34" charset="-122"/>
                <a:cs typeface="Calibri" pitchFamily="34" charset="-120"/>
              </a:rPr>
              <a:t>The constraint on money creation was removed in stages. Tonight we look at what that removal actually did — not to charts and statistics, but to people.</a:t>
            </a:r>
            <a:endParaRPr lang="en-US" sz="1300" dirty="0"/>
          </a:p>
        </p:txBody>
      </p:sp>
      <p:sp>
        <p:nvSpPr>
          <p:cNvPr id="13" name="Text 11"/>
          <p:cNvSpPr/>
          <p:nvPr/>
        </p:nvSpPr>
        <p:spPr>
          <a:xfrm>
            <a:off x="457200" y="4846320"/>
            <a:ext cx="8229600" cy="182880"/>
          </a:xfrm>
          <a:prstGeom prst="rect">
            <a:avLst/>
          </a:prstGeom>
          <a:noFill/>
          <a:ln/>
        </p:spPr>
        <p:txBody>
          <a:bodyPr wrap="square" rtlCol="0" anchor="ctr"/>
          <a:lstStyle/>
          <a:p>
            <a:pPr algn="l" indent="0" marL="0">
              <a:buNone/>
            </a:pPr>
            <a:r>
              <a:rPr lang="en-US" sz="900" dirty="0">
                <a:solidFill>
                  <a:srgbClr val="9AA5B4"/>
                </a:solidFill>
                <a:latin typeface="Calibri" pitchFamily="34" charset="0"/>
                <a:ea typeface="Calibri" pitchFamily="34" charset="-122"/>
                <a:cs typeface="Calibri" pitchFamily="34" charset="-120"/>
              </a:rPr>
              <a:t>freeMarketWatch.world  ·  Version 1.2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rtlCol="0" anchor="ctr"/>
          <a:lstStyle/>
          <a:p>
            <a:pPr indent="0" marL="0">
              <a:buNone/>
            </a:pPr>
            <a:r>
              <a:rPr lang="en-US" sz="2600" b="1" dirty="0">
                <a:solidFill>
                  <a:srgbClr val="1C1C2E"/>
                </a:solidFill>
                <a:latin typeface="Georgia" pitchFamily="34" charset="0"/>
                <a:ea typeface="Georgia" pitchFamily="34" charset="-122"/>
                <a:cs typeface="Georgia" pitchFamily="34" charset="-120"/>
              </a:rPr>
              <a:t>Debasement — Not Inflation</a:t>
            </a:r>
            <a:endParaRPr lang="en-US" sz="2600" dirty="0"/>
          </a:p>
        </p:txBody>
      </p:sp>
      <p:sp>
        <p:nvSpPr>
          <p:cNvPr id="3" name="Text 1"/>
          <p:cNvSpPr/>
          <p:nvPr/>
        </p:nvSpPr>
        <p:spPr>
          <a:xfrm>
            <a:off x="548640" y="960120"/>
            <a:ext cx="8046720" cy="1060704"/>
          </a:xfrm>
          <a:prstGeom prst="rect">
            <a:avLst/>
          </a:prstGeom>
          <a:noFill/>
          <a:ln/>
        </p:spPr>
        <p:txBody>
          <a:bodyPr wrap="square" rtlCol="0" anchor="ctr"/>
          <a:lstStyle/>
          <a:p>
            <a:pPr indent="0" marL="0">
              <a:lnSpc>
                <a:spcPct val="155000"/>
              </a:lnSpc>
              <a:buNone/>
            </a:pPr>
            <a:r>
              <a:rPr lang="en-US" sz="1300" dirty="0">
                <a:solidFill>
                  <a:srgbClr val="4A5568"/>
                </a:solidFill>
                <a:latin typeface="Calibri" pitchFamily="34" charset="0"/>
                <a:ea typeface="Calibri" pitchFamily="34" charset="-122"/>
                <a:cs typeface="Calibri" pitchFamily="34" charset="-120"/>
              </a:rPr>
              <a:t>Technology makes production cheaper every year. Computers, phones, and televisions cost less in real terms than a decade ago because we got better at making them. If that logic held across the economy, most things should be getting cheaper over time.</a:t>
            </a:r>
            <a:endParaRPr lang="en-US" sz="1300" dirty="0"/>
          </a:p>
        </p:txBody>
      </p:sp>
      <p:sp>
        <p:nvSpPr>
          <p:cNvPr id="4" name="Text 2"/>
          <p:cNvSpPr/>
          <p:nvPr/>
        </p:nvSpPr>
        <p:spPr>
          <a:xfrm>
            <a:off x="548640" y="2130552"/>
            <a:ext cx="8046720" cy="1060704"/>
          </a:xfrm>
          <a:prstGeom prst="rect">
            <a:avLst/>
          </a:prstGeom>
          <a:noFill/>
          <a:ln/>
        </p:spPr>
        <p:txBody>
          <a:bodyPr wrap="square" rtlCol="0" anchor="ctr"/>
          <a:lstStyle/>
          <a:p>
            <a:pPr indent="0" marL="0">
              <a:lnSpc>
                <a:spcPct val="155000"/>
              </a:lnSpc>
              <a:buNone/>
            </a:pPr>
            <a:r>
              <a:rPr lang="en-US" sz="1300" dirty="0">
                <a:solidFill>
                  <a:srgbClr val="4A5568"/>
                </a:solidFill>
                <a:latin typeface="Calibri" pitchFamily="34" charset="0"/>
                <a:ea typeface="Calibri" pitchFamily="34" charset="-122"/>
                <a:cs typeface="Calibri" pitchFamily="34" charset="-120"/>
              </a:rPr>
              <a:t>The fact that they are not points to something else. Prices rise not because goods are gaining value — but because the money measuring them is losing it. A better word for this is debasement — the deliberate dilution of money's purchasing power through the creation of more of it.</a:t>
            </a:r>
            <a:endParaRPr lang="en-US" sz="1300" dirty="0"/>
          </a:p>
        </p:txBody>
      </p:sp>
      <p:sp>
        <p:nvSpPr>
          <p:cNvPr id="5" name="Text 3"/>
          <p:cNvSpPr/>
          <p:nvPr/>
        </p:nvSpPr>
        <p:spPr>
          <a:xfrm>
            <a:off x="548640" y="3300984"/>
            <a:ext cx="8046720" cy="859536"/>
          </a:xfrm>
          <a:prstGeom prst="rect">
            <a:avLst/>
          </a:prstGeom>
          <a:noFill/>
          <a:ln/>
        </p:spPr>
        <p:txBody>
          <a:bodyPr wrap="square" rtlCol="0" anchor="ctr"/>
          <a:lstStyle/>
          <a:p>
            <a:pPr indent="0" marL="0">
              <a:lnSpc>
                <a:spcPct val="155000"/>
              </a:lnSpc>
              <a:buNone/>
            </a:pPr>
            <a:r>
              <a:rPr lang="en-US" sz="1300" dirty="0">
                <a:solidFill>
                  <a:srgbClr val="4A5568"/>
                </a:solidFill>
                <a:latin typeface="Calibri" pitchFamily="34" charset="0"/>
                <a:ea typeface="Calibri" pitchFamily="34" charset="-122"/>
                <a:cs typeface="Calibri" pitchFamily="34" charset="-120"/>
              </a:rPr>
              <a:t>Crucially: the value savers lose does not disappear. It is transferred — to those who created the new money and spent it first. This mechanism has a name.</a:t>
            </a:r>
            <a:endParaRPr lang="en-US" sz="1300" dirty="0"/>
          </a:p>
        </p:txBody>
      </p:sp>
      <p:sp>
        <p:nvSpPr>
          <p:cNvPr id="6" name="Text 4"/>
          <p:cNvSpPr/>
          <p:nvPr/>
        </p:nvSpPr>
        <p:spPr>
          <a:xfrm>
            <a:off x="457200" y="4846320"/>
            <a:ext cx="8229600" cy="182880"/>
          </a:xfrm>
          <a:prstGeom prst="rect">
            <a:avLst/>
          </a:prstGeom>
          <a:noFill/>
          <a:ln/>
        </p:spPr>
        <p:txBody>
          <a:bodyPr wrap="square" rtlCol="0" anchor="ctr"/>
          <a:lstStyle/>
          <a:p>
            <a:pPr algn="l" indent="0" marL="0">
              <a:buNone/>
            </a:pPr>
            <a:r>
              <a:rPr lang="en-US" sz="900" dirty="0">
                <a:solidFill>
                  <a:srgbClr val="9AA5B4"/>
                </a:solidFill>
                <a:latin typeface="Calibri" pitchFamily="34" charset="0"/>
                <a:ea typeface="Calibri" pitchFamily="34" charset="-122"/>
                <a:cs typeface="Calibri" pitchFamily="34" charset="-120"/>
              </a:rPr>
              <a:t>freeMarketWatch.world  ·  Version 1.2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rtlCol="0" anchor="ctr"/>
          <a:lstStyle/>
          <a:p>
            <a:pPr indent="0" marL="0">
              <a:buNone/>
            </a:pPr>
            <a:r>
              <a:rPr lang="en-US" sz="2600" b="1" dirty="0">
                <a:solidFill>
                  <a:srgbClr val="1C1C2E"/>
                </a:solidFill>
                <a:latin typeface="Georgia" pitchFamily="34" charset="0"/>
                <a:ea typeface="Georgia" pitchFamily="34" charset="-122"/>
                <a:cs typeface="Georgia" pitchFamily="34" charset="-120"/>
              </a:rPr>
              <a:t>The Cantillon Effect</a:t>
            </a:r>
            <a:endParaRPr lang="en-US" sz="2600" dirty="0"/>
          </a:p>
        </p:txBody>
      </p:sp>
      <p:sp>
        <p:nvSpPr>
          <p:cNvPr id="3" name="Shape 1"/>
          <p:cNvSpPr/>
          <p:nvPr/>
        </p:nvSpPr>
        <p:spPr>
          <a:xfrm>
            <a:off x="457200" y="960120"/>
            <a:ext cx="64008" cy="1005840"/>
          </a:xfrm>
          <a:prstGeom prst="rect">
            <a:avLst/>
          </a:prstGeom>
          <a:solidFill>
            <a:srgbClr val="C9A84C"/>
          </a:solidFill>
          <a:ln w="12700">
            <a:solidFill>
              <a:srgbClr val="C9A84C"/>
            </a:solidFill>
            <a:prstDash val="solid"/>
          </a:ln>
        </p:spPr>
      </p:sp>
      <p:sp>
        <p:nvSpPr>
          <p:cNvPr id="4" name="Shape 2"/>
          <p:cNvSpPr/>
          <p:nvPr/>
        </p:nvSpPr>
        <p:spPr>
          <a:xfrm>
            <a:off x="457200" y="960120"/>
            <a:ext cx="8229600" cy="1005840"/>
          </a:xfrm>
          <a:prstGeom prst="rect">
            <a:avLst/>
          </a:prstGeom>
          <a:solidFill>
            <a:srgbClr val="1A2E5E"/>
          </a:solidFill>
          <a:ln w="12700">
            <a:solidFill>
              <a:srgbClr val="1A2E5E"/>
            </a:solidFill>
            <a:prstDash val="solid"/>
          </a:ln>
        </p:spPr>
      </p:sp>
      <p:sp>
        <p:nvSpPr>
          <p:cNvPr id="5" name="Text 3"/>
          <p:cNvSpPr/>
          <p:nvPr/>
        </p:nvSpPr>
        <p:spPr>
          <a:xfrm>
            <a:off x="685800" y="1051560"/>
            <a:ext cx="7772400" cy="822960"/>
          </a:xfrm>
          <a:prstGeom prst="rect">
            <a:avLst/>
          </a:prstGeom>
          <a:noFill/>
          <a:ln/>
        </p:spPr>
        <p:txBody>
          <a:bodyPr wrap="square" rtlCol="0" anchor="ctr"/>
          <a:lstStyle/>
          <a:p>
            <a:pPr indent="0" marL="0">
              <a:lnSpc>
                <a:spcPct val="150000"/>
              </a:lnSpc>
              <a:buNone/>
            </a:pPr>
            <a:r>
              <a:rPr lang="en-US" sz="1350" i="1" dirty="0">
                <a:solidFill>
                  <a:srgbClr val="E8EAF6"/>
                </a:solidFill>
                <a:latin typeface="Georgia" pitchFamily="34" charset="0"/>
                <a:ea typeface="Georgia" pitchFamily="34" charset="-122"/>
                <a:cs typeface="Georgia" pitchFamily="34" charset="-120"/>
              </a:rPr>
              <a:t>“Inflation is not a tax that shows up on your bill. It is a tax that shows up when you realize your savings bought less than they used to — and nobody signed the legislation that took it.”</a:t>
            </a:r>
            <a:endParaRPr lang="en-US" sz="1350" dirty="0"/>
          </a:p>
        </p:txBody>
      </p:sp>
      <p:sp>
        <p:nvSpPr>
          <p:cNvPr id="6" name="Text 4"/>
          <p:cNvSpPr/>
          <p:nvPr/>
        </p:nvSpPr>
        <p:spPr>
          <a:xfrm>
            <a:off x="548640" y="2075688"/>
            <a:ext cx="8046720" cy="1060704"/>
          </a:xfrm>
          <a:prstGeom prst="rect">
            <a:avLst/>
          </a:prstGeom>
          <a:noFill/>
          <a:ln/>
        </p:spPr>
        <p:txBody>
          <a:bodyPr wrap="square" rtlCol="0" anchor="ctr"/>
          <a:lstStyle/>
          <a:p>
            <a:pPr indent="0" marL="0">
              <a:lnSpc>
                <a:spcPct val="155000"/>
              </a:lnSpc>
              <a:buNone/>
            </a:pPr>
            <a:r>
              <a:rPr lang="en-US" sz="1300" dirty="0">
                <a:solidFill>
                  <a:srgbClr val="4A5568"/>
                </a:solidFill>
                <a:latin typeface="Calibri" pitchFamily="34" charset="0"/>
                <a:ea typeface="Calibri" pitchFamily="34" charset="-122"/>
                <a:cs typeface="Calibri" pitchFamily="34" charset="-120"/>
              </a:rPr>
              <a:t>When new money is created, it enters the economy through banks, governments, and large financial institutions first. Those early recipients do not spend it randomly — they use it to buy the very assets they know will rise in price as the new money spreads through the economy.</a:t>
            </a:r>
            <a:endParaRPr lang="en-US" sz="1300" dirty="0"/>
          </a:p>
        </p:txBody>
      </p:sp>
      <p:sp>
        <p:nvSpPr>
          <p:cNvPr id="7" name="Text 5"/>
          <p:cNvSpPr/>
          <p:nvPr/>
        </p:nvSpPr>
        <p:spPr>
          <a:xfrm>
            <a:off x="548640" y="3246120"/>
            <a:ext cx="8046720" cy="859536"/>
          </a:xfrm>
          <a:prstGeom prst="rect">
            <a:avLst/>
          </a:prstGeom>
          <a:noFill/>
          <a:ln/>
        </p:spPr>
        <p:txBody>
          <a:bodyPr wrap="square" rtlCol="0" anchor="ctr"/>
          <a:lstStyle/>
          <a:p>
            <a:pPr indent="0" marL="0">
              <a:lnSpc>
                <a:spcPct val="155000"/>
              </a:lnSpc>
              <a:buNone/>
            </a:pPr>
            <a:r>
              <a:rPr lang="en-US" sz="1300" dirty="0">
                <a:solidFill>
                  <a:srgbClr val="4A5568"/>
                </a:solidFill>
                <a:latin typeface="Calibri" pitchFamily="34" charset="0"/>
                <a:ea typeface="Calibri" pitchFamily="34" charset="-122"/>
                <a:cs typeface="Calibri" pitchFamily="34" charset="-120"/>
              </a:rPr>
              <a:t>Real estate. Equities. Businesses. They buy before prices have risen, capture the gains, and by the time that money filters down to ordinary wage earners, prices have already adjusted upward.</a:t>
            </a:r>
            <a:endParaRPr lang="en-US" sz="1300" dirty="0"/>
          </a:p>
        </p:txBody>
      </p:sp>
      <p:sp>
        <p:nvSpPr>
          <p:cNvPr id="8" name="Text 6"/>
          <p:cNvSpPr/>
          <p:nvPr/>
        </p:nvSpPr>
        <p:spPr>
          <a:xfrm>
            <a:off x="548640" y="4215384"/>
            <a:ext cx="8046720" cy="859536"/>
          </a:xfrm>
          <a:prstGeom prst="rect">
            <a:avLst/>
          </a:prstGeom>
          <a:noFill/>
          <a:ln/>
        </p:spPr>
        <p:txBody>
          <a:bodyPr wrap="square" rtlCol="0" anchor="ctr"/>
          <a:lstStyle/>
          <a:p>
            <a:pPr indent="0" marL="0">
              <a:lnSpc>
                <a:spcPct val="155000"/>
              </a:lnSpc>
              <a:buNone/>
            </a:pPr>
            <a:r>
              <a:rPr lang="en-US" sz="1300" dirty="0">
                <a:solidFill>
                  <a:srgbClr val="4A5568"/>
                </a:solidFill>
                <a:latin typeface="Calibri" pitchFamily="34" charset="0"/>
                <a:ea typeface="Calibri" pitchFamily="34" charset="-122"/>
                <a:cs typeface="Calibri" pitchFamily="34" charset="-120"/>
              </a:rPr>
              <a:t>Workers and savers do not see rising wages. They see rising costs. The purchasing power has been silently transferred — from those who hold money to those who were first in line to spend the new supply.</a:t>
            </a:r>
            <a:endParaRPr lang="en-US" sz="1300" dirty="0"/>
          </a:p>
        </p:txBody>
      </p:sp>
      <p:sp>
        <p:nvSpPr>
          <p:cNvPr id="9" name="Text 7"/>
          <p:cNvSpPr/>
          <p:nvPr/>
        </p:nvSpPr>
        <p:spPr>
          <a:xfrm>
            <a:off x="457200" y="4846320"/>
            <a:ext cx="8229600" cy="182880"/>
          </a:xfrm>
          <a:prstGeom prst="rect">
            <a:avLst/>
          </a:prstGeom>
          <a:noFill/>
          <a:ln/>
        </p:spPr>
        <p:txBody>
          <a:bodyPr wrap="square" rtlCol="0" anchor="ctr"/>
          <a:lstStyle/>
          <a:p>
            <a:pPr algn="l" indent="0" marL="0">
              <a:buNone/>
            </a:pPr>
            <a:r>
              <a:rPr lang="en-US" sz="900" dirty="0">
                <a:solidFill>
                  <a:srgbClr val="9AA5B4"/>
                </a:solidFill>
                <a:latin typeface="Calibri" pitchFamily="34" charset="0"/>
                <a:ea typeface="Calibri" pitchFamily="34" charset="-122"/>
                <a:cs typeface="Calibri" pitchFamily="34" charset="-120"/>
              </a:rPr>
              <a:t>freeMarketWatch.world  ·  Version 1.2</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rtlCol="0" anchor="ctr"/>
          <a:lstStyle/>
          <a:p>
            <a:pPr indent="0" marL="0">
              <a:buNone/>
            </a:pPr>
            <a:r>
              <a:rPr lang="en-US" sz="2600" b="1" dirty="0">
                <a:solidFill>
                  <a:srgbClr val="1C1C2E"/>
                </a:solidFill>
                <a:latin typeface="Georgia" pitchFamily="34" charset="0"/>
                <a:ea typeface="Georgia" pitchFamily="34" charset="-122"/>
                <a:cs typeface="Georgia" pitchFamily="34" charset="-120"/>
              </a:rPr>
              <a:t>The Blast Radius</a:t>
            </a:r>
            <a:endParaRPr lang="en-US" sz="2600" dirty="0"/>
          </a:p>
        </p:txBody>
      </p:sp>
      <p:sp>
        <p:nvSpPr>
          <p:cNvPr id="3" name="Shape 1"/>
          <p:cNvSpPr/>
          <p:nvPr/>
        </p:nvSpPr>
        <p:spPr>
          <a:xfrm>
            <a:off x="457200" y="1005840"/>
            <a:ext cx="4069080" cy="169164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4" name="Shape 2"/>
          <p:cNvSpPr/>
          <p:nvPr/>
        </p:nvSpPr>
        <p:spPr>
          <a:xfrm>
            <a:off x="457200" y="1005840"/>
            <a:ext cx="64008" cy="1691640"/>
          </a:xfrm>
          <a:prstGeom prst="rect">
            <a:avLst/>
          </a:prstGeom>
          <a:solidFill>
            <a:srgbClr val="C9A84C"/>
          </a:solidFill>
          <a:ln w="12700">
            <a:solidFill>
              <a:srgbClr val="C9A84C"/>
            </a:solidFill>
            <a:prstDash val="solid"/>
          </a:ln>
        </p:spPr>
      </p:sp>
      <p:sp>
        <p:nvSpPr>
          <p:cNvPr id="5" name="Text 3"/>
          <p:cNvSpPr/>
          <p:nvPr/>
        </p:nvSpPr>
        <p:spPr>
          <a:xfrm>
            <a:off x="594360" y="1115568"/>
            <a:ext cx="3840480" cy="274320"/>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War becomes affordable</a:t>
            </a:r>
            <a:endParaRPr lang="en-US" sz="1200" dirty="0"/>
          </a:p>
        </p:txBody>
      </p:sp>
      <p:sp>
        <p:nvSpPr>
          <p:cNvPr id="6" name="Text 4"/>
          <p:cNvSpPr/>
          <p:nvPr/>
        </p:nvSpPr>
        <p:spPr>
          <a:xfrm>
            <a:off x="594360" y="1426464"/>
            <a:ext cx="3840480" cy="1124712"/>
          </a:xfrm>
          <a:prstGeom prst="rect">
            <a:avLst/>
          </a:prstGeom>
          <a:noFill/>
          <a:ln/>
        </p:spPr>
        <p:txBody>
          <a:bodyPr wrap="square" lIns="0" tIns="0" rIns="0" bIns="0" rtlCol="0" anchor="ctr"/>
          <a:lstStyle/>
          <a:p>
            <a:pPr indent="0" marL="0">
              <a:lnSpc>
                <a:spcPct val="145000"/>
              </a:lnSpc>
              <a:buNone/>
            </a:pPr>
            <a:r>
              <a:rPr lang="en-US" sz="1100" dirty="0">
                <a:solidFill>
                  <a:srgbClr val="4A5568"/>
                </a:solidFill>
                <a:latin typeface="Calibri" pitchFamily="34" charset="0"/>
                <a:ea typeface="Calibri" pitchFamily="34" charset="-122"/>
                <a:cs typeface="Calibri" pitchFamily="34" charset="-120"/>
              </a:rPr>
              <a:t>Under hard money, wars required visible taxes. Citizens felt the cost. Under fiat, wars are financed by printing — the cost socialized invisibly across every citizen's savings, without a vote or a bill.</a:t>
            </a:r>
            <a:endParaRPr lang="en-US" sz="1100" dirty="0"/>
          </a:p>
        </p:txBody>
      </p:sp>
      <p:sp>
        <p:nvSpPr>
          <p:cNvPr id="7" name="Shape 5"/>
          <p:cNvSpPr/>
          <p:nvPr/>
        </p:nvSpPr>
        <p:spPr>
          <a:xfrm>
            <a:off x="4617720" y="1005840"/>
            <a:ext cx="4069080" cy="169164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8" name="Shape 6"/>
          <p:cNvSpPr/>
          <p:nvPr/>
        </p:nvSpPr>
        <p:spPr>
          <a:xfrm>
            <a:off x="4617720" y="1005840"/>
            <a:ext cx="64008" cy="1691640"/>
          </a:xfrm>
          <a:prstGeom prst="rect">
            <a:avLst/>
          </a:prstGeom>
          <a:solidFill>
            <a:srgbClr val="C9A84C"/>
          </a:solidFill>
          <a:ln w="12700">
            <a:solidFill>
              <a:srgbClr val="C9A84C"/>
            </a:solidFill>
            <a:prstDash val="solid"/>
          </a:ln>
        </p:spPr>
      </p:sp>
      <p:sp>
        <p:nvSpPr>
          <p:cNvPr id="9" name="Text 7"/>
          <p:cNvSpPr/>
          <p:nvPr/>
        </p:nvSpPr>
        <p:spPr>
          <a:xfrm>
            <a:off x="4754880" y="1115568"/>
            <a:ext cx="3840480" cy="274320"/>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Wealth inequality accelerates</a:t>
            </a:r>
            <a:endParaRPr lang="en-US" sz="1200" dirty="0"/>
          </a:p>
        </p:txBody>
      </p:sp>
      <p:sp>
        <p:nvSpPr>
          <p:cNvPr id="10" name="Text 8"/>
          <p:cNvSpPr/>
          <p:nvPr/>
        </p:nvSpPr>
        <p:spPr>
          <a:xfrm>
            <a:off x="4754880" y="1426464"/>
            <a:ext cx="3840480" cy="1124712"/>
          </a:xfrm>
          <a:prstGeom prst="rect">
            <a:avLst/>
          </a:prstGeom>
          <a:noFill/>
          <a:ln/>
        </p:spPr>
        <p:txBody>
          <a:bodyPr wrap="square" lIns="0" tIns="0" rIns="0" bIns="0" rtlCol="0" anchor="ctr"/>
          <a:lstStyle/>
          <a:p>
            <a:pPr indent="0" marL="0">
              <a:lnSpc>
                <a:spcPct val="145000"/>
              </a:lnSpc>
              <a:buNone/>
            </a:pPr>
            <a:r>
              <a:rPr lang="en-US" sz="1100" dirty="0">
                <a:solidFill>
                  <a:srgbClr val="4A5568"/>
                </a:solidFill>
                <a:latin typeface="Calibri" pitchFamily="34" charset="0"/>
                <a:ea typeface="Calibri" pitchFamily="34" charset="-122"/>
                <a:cs typeface="Calibri" pitchFamily="34" charset="-120"/>
              </a:rPr>
              <a:t>Asset owners get richer as money is created. Those relying on wages fall further behind. Not a failure of capitalism — a predictable consequence of the money itself.</a:t>
            </a:r>
            <a:endParaRPr lang="en-US" sz="1100" dirty="0"/>
          </a:p>
        </p:txBody>
      </p:sp>
      <p:sp>
        <p:nvSpPr>
          <p:cNvPr id="11" name="Shape 9"/>
          <p:cNvSpPr/>
          <p:nvPr/>
        </p:nvSpPr>
        <p:spPr>
          <a:xfrm>
            <a:off x="457200" y="2807208"/>
            <a:ext cx="4069080" cy="169164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12" name="Shape 10"/>
          <p:cNvSpPr/>
          <p:nvPr/>
        </p:nvSpPr>
        <p:spPr>
          <a:xfrm>
            <a:off x="457200" y="2807208"/>
            <a:ext cx="64008" cy="1691640"/>
          </a:xfrm>
          <a:prstGeom prst="rect">
            <a:avLst/>
          </a:prstGeom>
          <a:solidFill>
            <a:srgbClr val="C9A84C"/>
          </a:solidFill>
          <a:ln w="12700">
            <a:solidFill>
              <a:srgbClr val="C9A84C"/>
            </a:solidFill>
            <a:prstDash val="solid"/>
          </a:ln>
        </p:spPr>
      </p:sp>
      <p:sp>
        <p:nvSpPr>
          <p:cNvPr id="13" name="Text 11"/>
          <p:cNvSpPr/>
          <p:nvPr/>
        </p:nvSpPr>
        <p:spPr>
          <a:xfrm>
            <a:off x="594360" y="2916936"/>
            <a:ext cx="3840480" cy="274320"/>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Product quality degrades</a:t>
            </a:r>
            <a:endParaRPr lang="en-US" sz="1200" dirty="0"/>
          </a:p>
        </p:txBody>
      </p:sp>
      <p:sp>
        <p:nvSpPr>
          <p:cNvPr id="14" name="Text 12"/>
          <p:cNvSpPr/>
          <p:nvPr/>
        </p:nvSpPr>
        <p:spPr>
          <a:xfrm>
            <a:off x="594360" y="3227832"/>
            <a:ext cx="3840480" cy="1124712"/>
          </a:xfrm>
          <a:prstGeom prst="rect">
            <a:avLst/>
          </a:prstGeom>
          <a:noFill/>
          <a:ln/>
        </p:spPr>
        <p:txBody>
          <a:bodyPr wrap="square" lIns="0" tIns="0" rIns="0" bIns="0" rtlCol="0" anchor="ctr"/>
          <a:lstStyle/>
          <a:p>
            <a:pPr indent="0" marL="0">
              <a:lnSpc>
                <a:spcPct val="145000"/>
              </a:lnSpc>
              <a:buNone/>
            </a:pPr>
            <a:r>
              <a:rPr lang="en-US" sz="1100" dirty="0">
                <a:solidFill>
                  <a:srgbClr val="4A5568"/>
                </a:solidFill>
                <a:latin typeface="Calibri" pitchFamily="34" charset="0"/>
                <a:ea typeface="Calibri" pitchFamily="34" charset="-122"/>
                <a:cs typeface="Calibri" pitchFamily="34" charset="-120"/>
              </a:rPr>
              <a:t>Inflation squeezes purchasing power. Consumers buy on price. Producers cut costs. Shrinkflation, planned obsolescence, reduced durability. Incentives — not greed — drive this.</a:t>
            </a:r>
            <a:endParaRPr lang="en-US" sz="1100" dirty="0"/>
          </a:p>
        </p:txBody>
      </p:sp>
      <p:sp>
        <p:nvSpPr>
          <p:cNvPr id="15" name="Shape 13"/>
          <p:cNvSpPr/>
          <p:nvPr/>
        </p:nvSpPr>
        <p:spPr>
          <a:xfrm>
            <a:off x="4617720" y="2807208"/>
            <a:ext cx="4069080" cy="169164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16" name="Shape 14"/>
          <p:cNvSpPr/>
          <p:nvPr/>
        </p:nvSpPr>
        <p:spPr>
          <a:xfrm>
            <a:off x="4617720" y="2807208"/>
            <a:ext cx="64008" cy="1691640"/>
          </a:xfrm>
          <a:prstGeom prst="rect">
            <a:avLst/>
          </a:prstGeom>
          <a:solidFill>
            <a:srgbClr val="C9A84C"/>
          </a:solidFill>
          <a:ln w="12700">
            <a:solidFill>
              <a:srgbClr val="C9A84C"/>
            </a:solidFill>
            <a:prstDash val="solid"/>
          </a:ln>
        </p:spPr>
      </p:sp>
      <p:sp>
        <p:nvSpPr>
          <p:cNvPr id="17" name="Text 15"/>
          <p:cNvSpPr/>
          <p:nvPr/>
        </p:nvSpPr>
        <p:spPr>
          <a:xfrm>
            <a:off x="4754880" y="2916936"/>
            <a:ext cx="3840480" cy="274320"/>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Debt becomes a way of life</a:t>
            </a:r>
            <a:endParaRPr lang="en-US" sz="1200" dirty="0"/>
          </a:p>
        </p:txBody>
      </p:sp>
      <p:sp>
        <p:nvSpPr>
          <p:cNvPr id="18" name="Text 16"/>
          <p:cNvSpPr/>
          <p:nvPr/>
        </p:nvSpPr>
        <p:spPr>
          <a:xfrm>
            <a:off x="4754880" y="3227832"/>
            <a:ext cx="3840480" cy="1124712"/>
          </a:xfrm>
          <a:prstGeom prst="rect">
            <a:avLst/>
          </a:prstGeom>
          <a:noFill/>
          <a:ln/>
        </p:spPr>
        <p:txBody>
          <a:bodyPr wrap="square" lIns="0" tIns="0" rIns="0" bIns="0" rtlCol="0" anchor="ctr"/>
          <a:lstStyle/>
          <a:p>
            <a:pPr indent="0" marL="0">
              <a:lnSpc>
                <a:spcPct val="145000"/>
              </a:lnSpc>
              <a:buNone/>
            </a:pPr>
            <a:r>
              <a:rPr lang="en-US" sz="1100" dirty="0">
                <a:solidFill>
                  <a:srgbClr val="4A5568"/>
                </a:solidFill>
                <a:latin typeface="Calibri" pitchFamily="34" charset="0"/>
                <a:ea typeface="Calibri" pitchFamily="34" charset="-122"/>
                <a:cs typeface="Calibri" pitchFamily="34" charset="-120"/>
              </a:rPr>
              <a:t>The fiat system cannot function without debt — money is created through loans. Saving is punished; borrowing is subsidized. Record debt levels are a rational response to bad money, not a moral failure.</a:t>
            </a:r>
            <a:endParaRPr lang="en-US" sz="1100" dirty="0"/>
          </a:p>
        </p:txBody>
      </p:sp>
      <p:sp>
        <p:nvSpPr>
          <p:cNvPr id="19" name="Text 17"/>
          <p:cNvSpPr/>
          <p:nvPr/>
        </p:nvSpPr>
        <p:spPr>
          <a:xfrm>
            <a:off x="457200" y="4846320"/>
            <a:ext cx="8229600" cy="182880"/>
          </a:xfrm>
          <a:prstGeom prst="rect">
            <a:avLst/>
          </a:prstGeom>
          <a:noFill/>
          <a:ln/>
        </p:spPr>
        <p:txBody>
          <a:bodyPr wrap="square" rtlCol="0" anchor="ctr"/>
          <a:lstStyle/>
          <a:p>
            <a:pPr algn="l" indent="0" marL="0">
              <a:buNone/>
            </a:pPr>
            <a:r>
              <a:rPr lang="en-US" sz="900" dirty="0">
                <a:solidFill>
                  <a:srgbClr val="9AA5B4"/>
                </a:solidFill>
                <a:latin typeface="Calibri" pitchFamily="34" charset="0"/>
                <a:ea typeface="Calibri" pitchFamily="34" charset="-122"/>
                <a:cs typeface="Calibri" pitchFamily="34" charset="-120"/>
              </a:rPr>
              <a:t>freeMarketWatch.world  ·  Version 1.2</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rtlCol="0" anchor="ctr"/>
          <a:lstStyle/>
          <a:p>
            <a:pPr indent="0" marL="0">
              <a:buNone/>
            </a:pPr>
            <a:r>
              <a:rPr lang="en-US" sz="2600" b="1" dirty="0">
                <a:solidFill>
                  <a:srgbClr val="1C1C2E"/>
                </a:solidFill>
                <a:latin typeface="Georgia" pitchFamily="34" charset="0"/>
                <a:ea typeface="Georgia" pitchFamily="34" charset="-122"/>
                <a:cs typeface="Georgia" pitchFamily="34" charset="-120"/>
              </a:rPr>
              <a:t>What This Looks Like in Your Community</a:t>
            </a:r>
            <a:endParaRPr lang="en-US" sz="2600" dirty="0"/>
          </a:p>
        </p:txBody>
      </p:sp>
      <p:sp>
        <p:nvSpPr>
          <p:cNvPr id="3" name="Shape 1"/>
          <p:cNvSpPr/>
          <p:nvPr/>
        </p:nvSpPr>
        <p:spPr>
          <a:xfrm>
            <a:off x="457200" y="1005840"/>
            <a:ext cx="4069080" cy="169164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4" name="Shape 2"/>
          <p:cNvSpPr/>
          <p:nvPr/>
        </p:nvSpPr>
        <p:spPr>
          <a:xfrm>
            <a:off x="457200" y="1005840"/>
            <a:ext cx="64008" cy="1691640"/>
          </a:xfrm>
          <a:prstGeom prst="rect">
            <a:avLst/>
          </a:prstGeom>
          <a:solidFill>
            <a:srgbClr val="C9A84C"/>
          </a:solidFill>
          <a:ln w="12700">
            <a:solidFill>
              <a:srgbClr val="C9A84C"/>
            </a:solidFill>
            <a:prstDash val="solid"/>
          </a:ln>
        </p:spPr>
      </p:sp>
      <p:sp>
        <p:nvSpPr>
          <p:cNvPr id="5" name="Text 3"/>
          <p:cNvSpPr/>
          <p:nvPr/>
        </p:nvSpPr>
        <p:spPr>
          <a:xfrm>
            <a:off x="594360" y="1115568"/>
            <a:ext cx="3840480" cy="274320"/>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The unbanked and underbanked</a:t>
            </a:r>
            <a:endParaRPr lang="en-US" sz="1200" dirty="0"/>
          </a:p>
        </p:txBody>
      </p:sp>
      <p:sp>
        <p:nvSpPr>
          <p:cNvPr id="6" name="Text 4"/>
          <p:cNvSpPr/>
          <p:nvPr/>
        </p:nvSpPr>
        <p:spPr>
          <a:xfrm>
            <a:off x="594360" y="1426464"/>
            <a:ext cx="3840480" cy="1124712"/>
          </a:xfrm>
          <a:prstGeom prst="rect">
            <a:avLst/>
          </a:prstGeom>
          <a:noFill/>
          <a:ln/>
        </p:spPr>
        <p:txBody>
          <a:bodyPr wrap="square" lIns="0" tIns="0" rIns="0" bIns="0" rtlCol="0" anchor="ctr"/>
          <a:lstStyle/>
          <a:p>
            <a:pPr indent="0" marL="0">
              <a:lnSpc>
                <a:spcPct val="145000"/>
              </a:lnSpc>
              <a:buNone/>
            </a:pPr>
            <a:r>
              <a:rPr lang="en-US" sz="1100" dirty="0">
                <a:solidFill>
                  <a:srgbClr val="4A5568"/>
                </a:solidFill>
                <a:latin typeface="Calibri" pitchFamily="34" charset="0"/>
                <a:ea typeface="Calibri" pitchFamily="34" charset="-122"/>
                <a:cs typeface="Calibri" pitchFamily="34" charset="-120"/>
              </a:rPr>
              <a:t>In developing countries, families watch savings evaporate through hyperinflation. People store wealth in cement blocks because holding cash is irrational. The fiat system actively traps them.</a:t>
            </a:r>
            <a:endParaRPr lang="en-US" sz="1100" dirty="0"/>
          </a:p>
        </p:txBody>
      </p:sp>
      <p:sp>
        <p:nvSpPr>
          <p:cNvPr id="7" name="Shape 5"/>
          <p:cNvSpPr/>
          <p:nvPr/>
        </p:nvSpPr>
        <p:spPr>
          <a:xfrm>
            <a:off x="4617720" y="1005840"/>
            <a:ext cx="4069080" cy="169164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8" name="Shape 6"/>
          <p:cNvSpPr/>
          <p:nvPr/>
        </p:nvSpPr>
        <p:spPr>
          <a:xfrm>
            <a:off x="4617720" y="1005840"/>
            <a:ext cx="64008" cy="1691640"/>
          </a:xfrm>
          <a:prstGeom prst="rect">
            <a:avLst/>
          </a:prstGeom>
          <a:solidFill>
            <a:srgbClr val="C9A84C"/>
          </a:solidFill>
          <a:ln w="12700">
            <a:solidFill>
              <a:srgbClr val="C9A84C"/>
            </a:solidFill>
            <a:prstDash val="solid"/>
          </a:ln>
        </p:spPr>
      </p:sp>
      <p:sp>
        <p:nvSpPr>
          <p:cNvPr id="9" name="Text 7"/>
          <p:cNvSpPr/>
          <p:nvPr/>
        </p:nvSpPr>
        <p:spPr>
          <a:xfrm>
            <a:off x="4754880" y="1115568"/>
            <a:ext cx="3840480" cy="274320"/>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Housing out of reach</a:t>
            </a:r>
            <a:endParaRPr lang="en-US" sz="1200" dirty="0"/>
          </a:p>
        </p:txBody>
      </p:sp>
      <p:sp>
        <p:nvSpPr>
          <p:cNvPr id="10" name="Text 8"/>
          <p:cNvSpPr/>
          <p:nvPr/>
        </p:nvSpPr>
        <p:spPr>
          <a:xfrm>
            <a:off x="4754880" y="1426464"/>
            <a:ext cx="3840480" cy="1124712"/>
          </a:xfrm>
          <a:prstGeom prst="rect">
            <a:avLst/>
          </a:prstGeom>
          <a:noFill/>
          <a:ln/>
        </p:spPr>
        <p:txBody>
          <a:bodyPr wrap="square" lIns="0" tIns="0" rIns="0" bIns="0" rtlCol="0" anchor="ctr"/>
          <a:lstStyle/>
          <a:p>
            <a:pPr indent="0" marL="0">
              <a:lnSpc>
                <a:spcPct val="145000"/>
              </a:lnSpc>
              <a:buNone/>
            </a:pPr>
            <a:r>
              <a:rPr lang="en-US" sz="1100" dirty="0">
                <a:solidFill>
                  <a:srgbClr val="4A5568"/>
                </a:solidFill>
                <a:latin typeface="Calibri" pitchFamily="34" charset="0"/>
                <a:ea typeface="Calibri" pitchFamily="34" charset="-122"/>
                <a:cs typeface="Calibri" pitchFamily="34" charset="-120"/>
              </a:rPr>
              <a:t>Housing isn't more expensive because it became more valuable. The wealthy use real estate to protect wealth from debasement. Families priced out are victims of monetary policy, not a housing shortage.</a:t>
            </a:r>
            <a:endParaRPr lang="en-US" sz="1100" dirty="0"/>
          </a:p>
        </p:txBody>
      </p:sp>
      <p:sp>
        <p:nvSpPr>
          <p:cNvPr id="11" name="Shape 9"/>
          <p:cNvSpPr/>
          <p:nvPr/>
        </p:nvSpPr>
        <p:spPr>
          <a:xfrm>
            <a:off x="457200" y="2807208"/>
            <a:ext cx="4069080" cy="169164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12" name="Shape 10"/>
          <p:cNvSpPr/>
          <p:nvPr/>
        </p:nvSpPr>
        <p:spPr>
          <a:xfrm>
            <a:off x="457200" y="2807208"/>
            <a:ext cx="64008" cy="1691640"/>
          </a:xfrm>
          <a:prstGeom prst="rect">
            <a:avLst/>
          </a:prstGeom>
          <a:solidFill>
            <a:srgbClr val="C9A84C"/>
          </a:solidFill>
          <a:ln w="12700">
            <a:solidFill>
              <a:srgbClr val="C9A84C"/>
            </a:solidFill>
            <a:prstDash val="solid"/>
          </a:ln>
        </p:spPr>
      </p:sp>
      <p:sp>
        <p:nvSpPr>
          <p:cNvPr id="13" name="Text 11"/>
          <p:cNvSpPr/>
          <p:nvPr/>
        </p:nvSpPr>
        <p:spPr>
          <a:xfrm>
            <a:off x="594360" y="2916936"/>
            <a:ext cx="3840480" cy="274320"/>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Wages that never catch up</a:t>
            </a:r>
            <a:endParaRPr lang="en-US" sz="1200" dirty="0"/>
          </a:p>
        </p:txBody>
      </p:sp>
      <p:sp>
        <p:nvSpPr>
          <p:cNvPr id="14" name="Text 12"/>
          <p:cNvSpPr/>
          <p:nvPr/>
        </p:nvSpPr>
        <p:spPr>
          <a:xfrm>
            <a:off x="594360" y="3227832"/>
            <a:ext cx="3840480" cy="1124712"/>
          </a:xfrm>
          <a:prstGeom prst="rect">
            <a:avLst/>
          </a:prstGeom>
          <a:noFill/>
          <a:ln/>
        </p:spPr>
        <p:txBody>
          <a:bodyPr wrap="square" lIns="0" tIns="0" rIns="0" bIns="0" rtlCol="0" anchor="ctr"/>
          <a:lstStyle/>
          <a:p>
            <a:pPr indent="0" marL="0">
              <a:lnSpc>
                <a:spcPct val="145000"/>
              </a:lnSpc>
              <a:buNone/>
            </a:pPr>
            <a:r>
              <a:rPr lang="en-US" sz="1100" dirty="0">
                <a:solidFill>
                  <a:srgbClr val="4A5568"/>
                </a:solidFill>
                <a:latin typeface="Calibri" pitchFamily="34" charset="0"/>
                <a:ea typeface="Calibri" pitchFamily="34" charset="-122"/>
                <a:cs typeface="Calibri" pitchFamily="34" charset="-120"/>
              </a:rPr>
              <a:t>Wage earners sit at the furthest end of the Cantillon chain. By the time new money reaches salaries, prices have already risen. The gap between earnings and cost of living widens systematically.</a:t>
            </a:r>
            <a:endParaRPr lang="en-US" sz="1100" dirty="0"/>
          </a:p>
        </p:txBody>
      </p:sp>
      <p:sp>
        <p:nvSpPr>
          <p:cNvPr id="15" name="Shape 13"/>
          <p:cNvSpPr/>
          <p:nvPr/>
        </p:nvSpPr>
        <p:spPr>
          <a:xfrm>
            <a:off x="4617720" y="2807208"/>
            <a:ext cx="4069080" cy="169164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16" name="Shape 14"/>
          <p:cNvSpPr/>
          <p:nvPr/>
        </p:nvSpPr>
        <p:spPr>
          <a:xfrm>
            <a:off x="4617720" y="2807208"/>
            <a:ext cx="64008" cy="1691640"/>
          </a:xfrm>
          <a:prstGeom prst="rect">
            <a:avLst/>
          </a:prstGeom>
          <a:solidFill>
            <a:srgbClr val="C9A84C"/>
          </a:solidFill>
          <a:ln w="12700">
            <a:solidFill>
              <a:srgbClr val="C9A84C"/>
            </a:solidFill>
            <a:prstDash val="solid"/>
          </a:ln>
        </p:spPr>
      </p:sp>
      <p:sp>
        <p:nvSpPr>
          <p:cNvPr id="17" name="Text 15"/>
          <p:cNvSpPr/>
          <p:nvPr/>
        </p:nvSpPr>
        <p:spPr>
          <a:xfrm>
            <a:off x="4754880" y="2916936"/>
            <a:ext cx="3840480" cy="274320"/>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The erosion of savings</a:t>
            </a:r>
            <a:endParaRPr lang="en-US" sz="1200" dirty="0"/>
          </a:p>
        </p:txBody>
      </p:sp>
      <p:sp>
        <p:nvSpPr>
          <p:cNvPr id="18" name="Text 16"/>
          <p:cNvSpPr/>
          <p:nvPr/>
        </p:nvSpPr>
        <p:spPr>
          <a:xfrm>
            <a:off x="4754880" y="3227832"/>
            <a:ext cx="3840480" cy="1124712"/>
          </a:xfrm>
          <a:prstGeom prst="rect">
            <a:avLst/>
          </a:prstGeom>
          <a:noFill/>
          <a:ln/>
        </p:spPr>
        <p:txBody>
          <a:bodyPr wrap="square" lIns="0" tIns="0" rIns="0" bIns="0" rtlCol="0" anchor="ctr"/>
          <a:lstStyle/>
          <a:p>
            <a:pPr indent="0" marL="0">
              <a:lnSpc>
                <a:spcPct val="145000"/>
              </a:lnSpc>
              <a:buNone/>
            </a:pPr>
            <a:r>
              <a:rPr lang="en-US" sz="1100" dirty="0">
                <a:solidFill>
                  <a:srgbClr val="4A5568"/>
                </a:solidFill>
                <a:latin typeface="Calibri" pitchFamily="34" charset="0"/>
                <a:ea typeface="Calibri" pitchFamily="34" charset="-122"/>
                <a:cs typeface="Calibri" pitchFamily="34" charset="-120"/>
              </a:rPr>
              <a:t>A dollar saved in 1971 buys about 15 cents in goods today. Savers are punished structurally. The incentive to build before you buy has been inverted by the system itself.</a:t>
            </a:r>
            <a:endParaRPr lang="en-US" sz="1100" dirty="0"/>
          </a:p>
        </p:txBody>
      </p:sp>
      <p:sp>
        <p:nvSpPr>
          <p:cNvPr id="19" name="Text 17"/>
          <p:cNvSpPr/>
          <p:nvPr/>
        </p:nvSpPr>
        <p:spPr>
          <a:xfrm>
            <a:off x="457200" y="4846320"/>
            <a:ext cx="8229600" cy="182880"/>
          </a:xfrm>
          <a:prstGeom prst="rect">
            <a:avLst/>
          </a:prstGeom>
          <a:noFill/>
          <a:ln/>
        </p:spPr>
        <p:txBody>
          <a:bodyPr wrap="square" rtlCol="0" anchor="ctr"/>
          <a:lstStyle/>
          <a:p>
            <a:pPr algn="l" indent="0" marL="0">
              <a:buNone/>
            </a:pPr>
            <a:r>
              <a:rPr lang="en-US" sz="900" dirty="0">
                <a:solidFill>
                  <a:srgbClr val="9AA5B4"/>
                </a:solidFill>
                <a:latin typeface="Calibri" pitchFamily="34" charset="0"/>
                <a:ea typeface="Calibri" pitchFamily="34" charset="-122"/>
                <a:cs typeface="Calibri" pitchFamily="34" charset="-120"/>
              </a:rPr>
              <a:t>freeMarketWatch.world  ·  Version 1.2</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rtlCol="0" anchor="ctr"/>
          <a:lstStyle/>
          <a:p>
            <a:pPr indent="0" marL="0">
              <a:buNone/>
            </a:pPr>
            <a:r>
              <a:rPr lang="en-US" sz="2600" b="1" dirty="0">
                <a:solidFill>
                  <a:srgbClr val="1C1C2E"/>
                </a:solidFill>
                <a:latin typeface="Georgia" pitchFamily="34" charset="0"/>
                <a:ea typeface="Georgia" pitchFamily="34" charset="-122"/>
                <a:cs typeface="Georgia" pitchFamily="34" charset="-120"/>
              </a:rPr>
              <a:t>No Villain Required</a:t>
            </a:r>
            <a:endParaRPr lang="en-US" sz="2600" dirty="0"/>
          </a:p>
        </p:txBody>
      </p:sp>
      <p:sp>
        <p:nvSpPr>
          <p:cNvPr id="3" name="Text 1"/>
          <p:cNvSpPr/>
          <p:nvPr/>
        </p:nvSpPr>
        <p:spPr>
          <a:xfrm>
            <a:off x="548640" y="960120"/>
            <a:ext cx="8046720" cy="859536"/>
          </a:xfrm>
          <a:prstGeom prst="rect">
            <a:avLst/>
          </a:prstGeom>
          <a:noFill/>
          <a:ln/>
        </p:spPr>
        <p:txBody>
          <a:bodyPr wrap="square" rtlCol="0" anchor="ctr"/>
          <a:lstStyle/>
          <a:p>
            <a:pPr indent="0" marL="0">
              <a:lnSpc>
                <a:spcPct val="155000"/>
              </a:lnSpc>
              <a:buNone/>
            </a:pPr>
            <a:r>
              <a:rPr lang="en-US" sz="1300" dirty="0">
                <a:solidFill>
                  <a:srgbClr val="4A5568"/>
                </a:solidFill>
                <a:latin typeface="Calibri" pitchFamily="34" charset="0"/>
                <a:ea typeface="Calibri" pitchFamily="34" charset="-122"/>
                <a:cs typeface="Calibri" pitchFamily="34" charset="-120"/>
              </a:rPr>
              <a:t>What is striking about this list is that none of it required bad intentions. No single person designed a system to impoverish savers, fund endless wars, and hollow out the middle class.</a:t>
            </a:r>
            <a:endParaRPr lang="en-US" sz="1300" dirty="0"/>
          </a:p>
        </p:txBody>
      </p:sp>
      <p:sp>
        <p:nvSpPr>
          <p:cNvPr id="4" name="Text 2"/>
          <p:cNvSpPr/>
          <p:nvPr/>
        </p:nvSpPr>
        <p:spPr>
          <a:xfrm>
            <a:off x="548640" y="1929384"/>
            <a:ext cx="8046720" cy="1060704"/>
          </a:xfrm>
          <a:prstGeom prst="rect">
            <a:avLst/>
          </a:prstGeom>
          <a:noFill/>
          <a:ln/>
        </p:spPr>
        <p:txBody>
          <a:bodyPr wrap="square" rtlCol="0" anchor="ctr"/>
          <a:lstStyle/>
          <a:p>
            <a:pPr indent="0" marL="0">
              <a:lnSpc>
                <a:spcPct val="155000"/>
              </a:lnSpc>
              <a:buNone/>
            </a:pPr>
            <a:r>
              <a:rPr lang="en-US" sz="1300" dirty="0">
                <a:solidFill>
                  <a:srgbClr val="4A5568"/>
                </a:solidFill>
                <a:latin typeface="Calibri" pitchFamily="34" charset="0"/>
                <a:ea typeface="Calibri" pitchFamily="34" charset="-122"/>
                <a:cs typeface="Calibri" pitchFamily="34" charset="-120"/>
              </a:rPr>
              <a:t>These are emergent consequences of the structure of the monetary system itself. And that structure is insidious precisely because even well-intentioned people operating within it — bankers, politicians, central bank officials — will inevitably behave in ways that perpetuate the distortions.</a:t>
            </a:r>
            <a:endParaRPr lang="en-US" sz="1300" dirty="0"/>
          </a:p>
        </p:txBody>
      </p:sp>
      <p:sp>
        <p:nvSpPr>
          <p:cNvPr id="5" name="Text 3"/>
          <p:cNvSpPr/>
          <p:nvPr/>
        </p:nvSpPr>
        <p:spPr>
          <a:xfrm>
            <a:off x="548640" y="3099816"/>
            <a:ext cx="8046720" cy="859536"/>
          </a:xfrm>
          <a:prstGeom prst="rect">
            <a:avLst/>
          </a:prstGeom>
          <a:noFill/>
          <a:ln/>
        </p:spPr>
        <p:txBody>
          <a:bodyPr wrap="square" rtlCol="0" anchor="ctr"/>
          <a:lstStyle/>
          <a:p>
            <a:pPr indent="0" marL="0">
              <a:lnSpc>
                <a:spcPct val="155000"/>
              </a:lnSpc>
              <a:buNone/>
            </a:pPr>
            <a:r>
              <a:rPr lang="en-US" sz="1300" dirty="0">
                <a:solidFill>
                  <a:srgbClr val="4A5568"/>
                </a:solidFill>
                <a:latin typeface="Calibri" pitchFamily="34" charset="0"/>
                <a:ea typeface="Calibri" pitchFamily="34" charset="-122"/>
                <a:cs typeface="Calibri" pitchFamily="34" charset="-120"/>
              </a:rPr>
              <a:t>The incentives the system creates are more powerful than the intentions of the individuals inside it. The problem is not greed. The problem is the architecture.</a:t>
            </a:r>
            <a:endParaRPr lang="en-US" sz="1300" dirty="0"/>
          </a:p>
        </p:txBody>
      </p:sp>
      <p:sp>
        <p:nvSpPr>
          <p:cNvPr id="6" name="Text 4"/>
          <p:cNvSpPr/>
          <p:nvPr/>
        </p:nvSpPr>
        <p:spPr>
          <a:xfrm>
            <a:off x="457200" y="4846320"/>
            <a:ext cx="8229600" cy="182880"/>
          </a:xfrm>
          <a:prstGeom prst="rect">
            <a:avLst/>
          </a:prstGeom>
          <a:noFill/>
          <a:ln/>
        </p:spPr>
        <p:txBody>
          <a:bodyPr wrap="square" rtlCol="0" anchor="ctr"/>
          <a:lstStyle/>
          <a:p>
            <a:pPr algn="l" indent="0" marL="0">
              <a:buNone/>
            </a:pPr>
            <a:r>
              <a:rPr lang="en-US" sz="900" dirty="0">
                <a:solidFill>
                  <a:srgbClr val="9AA5B4"/>
                </a:solidFill>
                <a:latin typeface="Calibri" pitchFamily="34" charset="0"/>
                <a:ea typeface="Calibri" pitchFamily="34" charset="-122"/>
                <a:cs typeface="Calibri" pitchFamily="34" charset="-120"/>
              </a:rPr>
              <a:t>freeMarketWatch.world  ·  Version 1.2</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2E5E"/>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C9A84C"/>
          </a:solidFill>
          <a:ln w="12700">
            <a:solidFill>
              <a:srgbClr val="C9A84C"/>
            </a:solidFill>
            <a:prstDash val="solid"/>
          </a:ln>
        </p:spPr>
      </p:sp>
      <p:sp>
        <p:nvSpPr>
          <p:cNvPr id="3" name="Text 1"/>
          <p:cNvSpPr/>
          <p:nvPr/>
        </p:nvSpPr>
        <p:spPr>
          <a:xfrm>
            <a:off x="457200" y="457200"/>
            <a:ext cx="8229600" cy="411480"/>
          </a:xfrm>
          <a:prstGeom prst="rect">
            <a:avLst/>
          </a:prstGeom>
          <a:noFill/>
          <a:ln/>
        </p:spPr>
        <p:txBody>
          <a:bodyPr wrap="square" rtlCol="0" anchor="ctr"/>
          <a:lstStyle/>
          <a:p>
            <a:pPr indent="0" marL="0">
              <a:buNone/>
            </a:pPr>
            <a:r>
              <a:rPr lang="en-US" sz="2000" b="1" dirty="0">
                <a:solidFill>
                  <a:srgbClr val="C9A84C"/>
                </a:solidFill>
                <a:latin typeface="Georgia" pitchFamily="34" charset="0"/>
                <a:ea typeface="Georgia" pitchFamily="34" charset="-122"/>
                <a:cs typeface="Georgia" pitchFamily="34" charset="-120"/>
              </a:rPr>
              <a:t>DISCUSSION — Session 3</a:t>
            </a:r>
            <a:endParaRPr lang="en-US" sz="2000" dirty="0"/>
          </a:p>
        </p:txBody>
      </p:sp>
      <p:sp>
        <p:nvSpPr>
          <p:cNvPr id="4" name="Shape 2"/>
          <p:cNvSpPr/>
          <p:nvPr/>
        </p:nvSpPr>
        <p:spPr>
          <a:xfrm>
            <a:off x="457200" y="1005840"/>
            <a:ext cx="8229600" cy="713232"/>
          </a:xfrm>
          <a:prstGeom prst="rect">
            <a:avLst/>
          </a:prstGeom>
          <a:solidFill>
            <a:srgbClr val="1E3A6E"/>
          </a:solidFill>
          <a:ln w="12700">
            <a:solidFill>
              <a:srgbClr val="2A4A7E"/>
            </a:solidFill>
            <a:prstDash val="solid"/>
          </a:ln>
        </p:spPr>
      </p:sp>
      <p:sp>
        <p:nvSpPr>
          <p:cNvPr id="5" name="Text 3"/>
          <p:cNvSpPr/>
          <p:nvPr/>
        </p:nvSpPr>
        <p:spPr>
          <a:xfrm>
            <a:off x="640080" y="1078992"/>
            <a:ext cx="7863840" cy="566928"/>
          </a:xfrm>
          <a:prstGeom prst="rect">
            <a:avLst/>
          </a:prstGeom>
          <a:noFill/>
          <a:ln/>
        </p:spPr>
        <p:txBody>
          <a:bodyPr wrap="square" rtlCol="0" anchor="ctr"/>
          <a:lstStyle/>
          <a:p>
            <a:pPr indent="0" marL="0">
              <a:lnSpc>
                <a:spcPct val="140000"/>
              </a:lnSpc>
              <a:buNone/>
            </a:pPr>
            <a:r>
              <a:rPr lang="en-US" sz="1250" dirty="0">
                <a:solidFill>
                  <a:srgbClr val="E8EAF6"/>
                </a:solidFill>
                <a:latin typeface="Calibri" pitchFamily="34" charset="0"/>
                <a:ea typeface="Calibri" pitchFamily="34" charset="-122"/>
                <a:cs typeface="Calibri" pitchFamily="34" charset="-120"/>
              </a:rPr>
              <a:t>1.  Which consequence hit closest to home — housing, wages, debt, or quality? How does it feel to have an explanation for it?</a:t>
            </a:r>
            <a:endParaRPr lang="en-US" sz="1250" dirty="0"/>
          </a:p>
        </p:txBody>
      </p:sp>
      <p:sp>
        <p:nvSpPr>
          <p:cNvPr id="6" name="Shape 4"/>
          <p:cNvSpPr/>
          <p:nvPr/>
        </p:nvSpPr>
        <p:spPr>
          <a:xfrm>
            <a:off x="457200" y="1874520"/>
            <a:ext cx="8229600" cy="713232"/>
          </a:xfrm>
          <a:prstGeom prst="rect">
            <a:avLst/>
          </a:prstGeom>
          <a:solidFill>
            <a:srgbClr val="1E3A6E"/>
          </a:solidFill>
          <a:ln w="12700">
            <a:solidFill>
              <a:srgbClr val="2A4A7E"/>
            </a:solidFill>
            <a:prstDash val="solid"/>
          </a:ln>
        </p:spPr>
      </p:sp>
      <p:sp>
        <p:nvSpPr>
          <p:cNvPr id="7" name="Text 5"/>
          <p:cNvSpPr/>
          <p:nvPr/>
        </p:nvSpPr>
        <p:spPr>
          <a:xfrm>
            <a:off x="640080" y="1947672"/>
            <a:ext cx="7863840" cy="566928"/>
          </a:xfrm>
          <a:prstGeom prst="rect">
            <a:avLst/>
          </a:prstGeom>
          <a:noFill/>
          <a:ln/>
        </p:spPr>
        <p:txBody>
          <a:bodyPr wrap="square" rtlCol="0" anchor="ctr"/>
          <a:lstStyle/>
          <a:p>
            <a:pPr indent="0" marL="0">
              <a:lnSpc>
                <a:spcPct val="140000"/>
              </a:lnSpc>
              <a:buNone/>
            </a:pPr>
            <a:r>
              <a:rPr lang="en-US" sz="1250" dirty="0">
                <a:solidFill>
                  <a:srgbClr val="E8EAF6"/>
                </a:solidFill>
                <a:latin typeface="Calibri" pitchFamily="34" charset="0"/>
                <a:ea typeface="Calibri" pitchFamily="34" charset="-122"/>
                <a:cs typeface="Calibri" pitchFamily="34" charset="-120"/>
              </a:rPr>
              <a:t>2.  "A rational response to bad money — not a moral failure." Does that framing change how you think about debt in your community?</a:t>
            </a:r>
            <a:endParaRPr lang="en-US" sz="1250" dirty="0"/>
          </a:p>
        </p:txBody>
      </p:sp>
      <p:sp>
        <p:nvSpPr>
          <p:cNvPr id="8" name="Shape 6"/>
          <p:cNvSpPr/>
          <p:nvPr/>
        </p:nvSpPr>
        <p:spPr>
          <a:xfrm>
            <a:off x="457200" y="2743200"/>
            <a:ext cx="8229600" cy="713232"/>
          </a:xfrm>
          <a:prstGeom prst="rect">
            <a:avLst/>
          </a:prstGeom>
          <a:solidFill>
            <a:srgbClr val="1E3A6E"/>
          </a:solidFill>
          <a:ln w="12700">
            <a:solidFill>
              <a:srgbClr val="2A4A7E"/>
            </a:solidFill>
            <a:prstDash val="solid"/>
          </a:ln>
        </p:spPr>
      </p:sp>
      <p:sp>
        <p:nvSpPr>
          <p:cNvPr id="9" name="Text 7"/>
          <p:cNvSpPr/>
          <p:nvPr/>
        </p:nvSpPr>
        <p:spPr>
          <a:xfrm>
            <a:off x="640080" y="2816352"/>
            <a:ext cx="7863840" cy="566928"/>
          </a:xfrm>
          <a:prstGeom prst="rect">
            <a:avLst/>
          </a:prstGeom>
          <a:noFill/>
          <a:ln/>
        </p:spPr>
        <p:txBody>
          <a:bodyPr wrap="square" rtlCol="0" anchor="ctr"/>
          <a:lstStyle/>
          <a:p>
            <a:pPr indent="0" marL="0">
              <a:lnSpc>
                <a:spcPct val="140000"/>
              </a:lnSpc>
              <a:buNone/>
            </a:pPr>
            <a:r>
              <a:rPr lang="en-US" sz="1250" dirty="0">
                <a:solidFill>
                  <a:srgbClr val="E8EAF6"/>
                </a:solidFill>
                <a:latin typeface="Calibri" pitchFamily="34" charset="0"/>
                <a:ea typeface="Calibri" pitchFamily="34" charset="-122"/>
                <a:cs typeface="Calibri" pitchFamily="34" charset="-120"/>
              </a:rPr>
              <a:t>3.  If someone pushed back and said prices rise because of corporate greed — how would you respond now?</a:t>
            </a:r>
            <a:endParaRPr lang="en-US" sz="1250" dirty="0"/>
          </a:p>
        </p:txBody>
      </p:sp>
      <p:sp>
        <p:nvSpPr>
          <p:cNvPr id="10" name="Shape 8"/>
          <p:cNvSpPr/>
          <p:nvPr/>
        </p:nvSpPr>
        <p:spPr>
          <a:xfrm>
            <a:off x="457200" y="3611880"/>
            <a:ext cx="8229600" cy="713232"/>
          </a:xfrm>
          <a:prstGeom prst="rect">
            <a:avLst/>
          </a:prstGeom>
          <a:solidFill>
            <a:srgbClr val="1E3A6E"/>
          </a:solidFill>
          <a:ln w="12700">
            <a:solidFill>
              <a:srgbClr val="2A4A7E"/>
            </a:solidFill>
            <a:prstDash val="solid"/>
          </a:ln>
        </p:spPr>
      </p:sp>
      <p:sp>
        <p:nvSpPr>
          <p:cNvPr id="11" name="Text 9"/>
          <p:cNvSpPr/>
          <p:nvPr/>
        </p:nvSpPr>
        <p:spPr>
          <a:xfrm>
            <a:off x="640080" y="3685032"/>
            <a:ext cx="7863840" cy="566928"/>
          </a:xfrm>
          <a:prstGeom prst="rect">
            <a:avLst/>
          </a:prstGeom>
          <a:noFill/>
          <a:ln/>
        </p:spPr>
        <p:txBody>
          <a:bodyPr wrap="square" rtlCol="0" anchor="ctr"/>
          <a:lstStyle/>
          <a:p>
            <a:pPr indent="0" marL="0">
              <a:lnSpc>
                <a:spcPct val="140000"/>
              </a:lnSpc>
              <a:buNone/>
            </a:pPr>
            <a:r>
              <a:rPr lang="en-US" sz="1250" dirty="0">
                <a:solidFill>
                  <a:srgbClr val="E8EAF6"/>
                </a:solidFill>
                <a:latin typeface="Calibri" pitchFamily="34" charset="0"/>
                <a:ea typeface="Calibri" pitchFamily="34" charset="-122"/>
                <a:cs typeface="Calibri" pitchFamily="34" charset="-120"/>
              </a:rPr>
              <a:t>4.  The wealth gap inflected sharply in 1971. Do you find that timing convincing? What would change your mind?</a:t>
            </a:r>
            <a:endParaRPr lang="en-US" sz="1250" dirty="0"/>
          </a:p>
        </p:txBody>
      </p:sp>
      <p:sp>
        <p:nvSpPr>
          <p:cNvPr id="12" name="Text 10"/>
          <p:cNvSpPr/>
          <p:nvPr/>
        </p:nvSpPr>
        <p:spPr>
          <a:xfrm>
            <a:off x="457200" y="4828032"/>
            <a:ext cx="8229600" cy="182880"/>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freeMarketWatch.world  ·  Version 1.2</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C9A84C"/>
          </a:solidFill>
          <a:ln w="12700">
            <a:solidFill>
              <a:srgbClr val="C9A84C"/>
            </a:solidFill>
            <a:prstDash val="solid"/>
          </a:ln>
        </p:spPr>
      </p:sp>
      <p:sp>
        <p:nvSpPr>
          <p:cNvPr id="3" name="Text 1"/>
          <p:cNvSpPr/>
          <p:nvPr/>
        </p:nvSpPr>
        <p:spPr>
          <a:xfrm>
            <a:off x="457200" y="548640"/>
            <a:ext cx="8229600" cy="50292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Coming Next — Session 4</a:t>
            </a:r>
            <a:endParaRPr lang="en-US" sz="2600" dirty="0"/>
          </a:p>
        </p:txBody>
      </p:sp>
      <p:sp>
        <p:nvSpPr>
          <p:cNvPr id="4" name="Shape 2"/>
          <p:cNvSpPr/>
          <p:nvPr/>
        </p:nvSpPr>
        <p:spPr>
          <a:xfrm>
            <a:off x="457200" y="1188720"/>
            <a:ext cx="8229600" cy="1371600"/>
          </a:xfrm>
          <a:prstGeom prst="rect">
            <a:avLst/>
          </a:prstGeom>
          <a:solidFill>
            <a:srgbClr val="1A2E5E"/>
          </a:solidFill>
          <a:ln w="12700">
            <a:solidFill>
              <a:srgbClr val="1A2E5E"/>
            </a:solidFill>
            <a:prstDash val="solid"/>
          </a:ln>
        </p:spPr>
      </p:sp>
      <p:sp>
        <p:nvSpPr>
          <p:cNvPr id="5" name="Text 3"/>
          <p:cNvSpPr/>
          <p:nvPr/>
        </p:nvSpPr>
        <p:spPr>
          <a:xfrm>
            <a:off x="640080" y="1280160"/>
            <a:ext cx="7863840" cy="1188720"/>
          </a:xfrm>
          <a:prstGeom prst="rect">
            <a:avLst/>
          </a:prstGeom>
          <a:noFill/>
          <a:ln/>
        </p:spPr>
        <p:txBody>
          <a:bodyPr wrap="square" rtlCol="0" anchor="ctr"/>
          <a:lstStyle/>
          <a:p>
            <a:pPr indent="0" marL="0">
              <a:lnSpc>
                <a:spcPct val="160000"/>
              </a:lnSpc>
              <a:buNone/>
            </a:pPr>
            <a:r>
              <a:rPr lang="en-US" sz="1500" i="1" dirty="0">
                <a:solidFill>
                  <a:srgbClr val="E8EAF6"/>
                </a:solidFill>
                <a:latin typeface="Georgia" pitchFamily="34" charset="0"/>
                <a:ea typeface="Georgia" pitchFamily="34" charset="-122"/>
                <a:cs typeface="Georgia" pitchFamily="34" charset="-120"/>
              </a:rPr>
              <a:t>“If bad money reshapes behavior, incentives, and society — then good money should do the opposite. And history shows it does.”</a:t>
            </a:r>
            <a:endParaRPr lang="en-US" sz="1500" dirty="0"/>
          </a:p>
        </p:txBody>
      </p:sp>
      <p:sp>
        <p:nvSpPr>
          <p:cNvPr id="6" name="Shape 4"/>
          <p:cNvSpPr/>
          <p:nvPr/>
        </p:nvSpPr>
        <p:spPr>
          <a:xfrm>
            <a:off x="457200" y="2834640"/>
            <a:ext cx="2651760" cy="1463040"/>
          </a:xfrm>
          <a:prstGeom prst="rect">
            <a:avLst/>
          </a:prstGeom>
          <a:solidFill>
            <a:srgbClr val="111827"/>
          </a:solidFill>
          <a:ln w="12700">
            <a:solidFill>
              <a:srgbClr val="1F2937"/>
            </a:solidFill>
            <a:prstDash val="solid"/>
          </a:ln>
        </p:spPr>
      </p:sp>
      <p:sp>
        <p:nvSpPr>
          <p:cNvPr id="7" name="Text 5"/>
          <p:cNvSpPr/>
          <p:nvPr/>
        </p:nvSpPr>
        <p:spPr>
          <a:xfrm>
            <a:off x="594360" y="2944368"/>
            <a:ext cx="2377440" cy="274320"/>
          </a:xfrm>
          <a:prstGeom prst="rect">
            <a:avLst/>
          </a:prstGeom>
          <a:noFill/>
          <a:ln/>
        </p:spPr>
        <p:txBody>
          <a:bodyPr wrap="square" lIns="0" tIns="0" rIns="0" bIns="0" rtlCol="0" anchor="ctr"/>
          <a:lstStyle/>
          <a:p>
            <a:pPr indent="0" marL="0">
              <a:buNone/>
            </a:pPr>
            <a:r>
              <a:rPr lang="en-US" sz="1200" b="1" dirty="0">
                <a:solidFill>
                  <a:srgbClr val="C9A84C"/>
                </a:solidFill>
                <a:latin typeface="Calibri" pitchFamily="34" charset="0"/>
                <a:ea typeface="Calibri" pitchFamily="34" charset="-122"/>
                <a:cs typeface="Calibri" pitchFamily="34" charset="-120"/>
              </a:rPr>
              <a:t>Homework prompt</a:t>
            </a:r>
            <a:endParaRPr lang="en-US" sz="1200" dirty="0"/>
          </a:p>
        </p:txBody>
      </p:sp>
      <p:sp>
        <p:nvSpPr>
          <p:cNvPr id="8" name="Text 6"/>
          <p:cNvSpPr/>
          <p:nvPr/>
        </p:nvSpPr>
        <p:spPr>
          <a:xfrm>
            <a:off x="594360" y="3255264"/>
            <a:ext cx="2377440" cy="822960"/>
          </a:xfrm>
          <a:prstGeom prst="rect">
            <a:avLst/>
          </a:prstGeom>
          <a:noFill/>
          <a:ln/>
        </p:spPr>
        <p:txBody>
          <a:bodyPr wrap="square" lIns="0" tIns="0" rIns="0" bIns="0" rtlCol="0" anchor="ctr"/>
          <a:lstStyle/>
          <a:p>
            <a:pPr indent="0" marL="0">
              <a:lnSpc>
                <a:spcPct val="140000"/>
              </a:lnSpc>
              <a:buNone/>
            </a:pPr>
            <a:r>
              <a:rPr lang="en-US" sz="1050" dirty="0">
                <a:solidFill>
                  <a:srgbClr val="8899AA"/>
                </a:solidFill>
                <a:latin typeface="Calibri" pitchFamily="34" charset="0"/>
                <a:ea typeface="Calibri" pitchFamily="34" charset="-122"/>
                <a:cs typeface="Calibri" pitchFamily="34" charset="-120"/>
              </a:rPr>
              <a:t>Think of a decision shaped by the feeling that saving doesn't work, or debt is unavoidable. What would that decision look like in a world where savings actually held value?</a:t>
            </a:r>
            <a:endParaRPr lang="en-US" sz="1050" dirty="0"/>
          </a:p>
        </p:txBody>
      </p:sp>
      <p:sp>
        <p:nvSpPr>
          <p:cNvPr id="9" name="Shape 7"/>
          <p:cNvSpPr/>
          <p:nvPr/>
        </p:nvSpPr>
        <p:spPr>
          <a:xfrm>
            <a:off x="3291840" y="2834640"/>
            <a:ext cx="2651760" cy="1463040"/>
          </a:xfrm>
          <a:prstGeom prst="rect">
            <a:avLst/>
          </a:prstGeom>
          <a:solidFill>
            <a:srgbClr val="111827"/>
          </a:solidFill>
          <a:ln w="12700">
            <a:solidFill>
              <a:srgbClr val="1F2937"/>
            </a:solidFill>
            <a:prstDash val="solid"/>
          </a:ln>
        </p:spPr>
      </p:sp>
      <p:sp>
        <p:nvSpPr>
          <p:cNvPr id="10" name="Text 8"/>
          <p:cNvSpPr/>
          <p:nvPr/>
        </p:nvSpPr>
        <p:spPr>
          <a:xfrm>
            <a:off x="3429000" y="2944368"/>
            <a:ext cx="2377440" cy="274320"/>
          </a:xfrm>
          <a:prstGeom prst="rect">
            <a:avLst/>
          </a:prstGeom>
          <a:noFill/>
          <a:ln/>
        </p:spPr>
        <p:txBody>
          <a:bodyPr wrap="square" lIns="0" tIns="0" rIns="0" bIns="0" rtlCol="0" anchor="ctr"/>
          <a:lstStyle/>
          <a:p>
            <a:pPr indent="0" marL="0">
              <a:buNone/>
            </a:pPr>
            <a:r>
              <a:rPr lang="en-US" sz="1200" b="1" dirty="0">
                <a:solidFill>
                  <a:srgbClr val="C9A84C"/>
                </a:solidFill>
                <a:latin typeface="Calibri" pitchFamily="34" charset="0"/>
                <a:ea typeface="Calibri" pitchFamily="34" charset="-122"/>
                <a:cs typeface="Calibri" pitchFamily="34" charset="-120"/>
              </a:rPr>
              <a:t>Explore the data</a:t>
            </a:r>
            <a:endParaRPr lang="en-US" sz="1200" dirty="0"/>
          </a:p>
        </p:txBody>
      </p:sp>
      <p:sp>
        <p:nvSpPr>
          <p:cNvPr id="11" name="Text 9"/>
          <p:cNvSpPr/>
          <p:nvPr/>
        </p:nvSpPr>
        <p:spPr>
          <a:xfrm>
            <a:off x="3429000" y="3255264"/>
            <a:ext cx="2377440" cy="822960"/>
          </a:xfrm>
          <a:prstGeom prst="rect">
            <a:avLst/>
          </a:prstGeom>
          <a:noFill/>
          <a:ln/>
        </p:spPr>
        <p:txBody>
          <a:bodyPr wrap="square" lIns="0" tIns="0" rIns="0" bIns="0" rtlCol="0" anchor="ctr"/>
          <a:lstStyle/>
          <a:p>
            <a:pPr indent="0" marL="0">
              <a:lnSpc>
                <a:spcPct val="140000"/>
              </a:lnSpc>
              <a:buNone/>
            </a:pPr>
            <a:r>
              <a:rPr lang="en-US" sz="1050" dirty="0">
                <a:solidFill>
                  <a:srgbClr val="8899AA"/>
                </a:solidFill>
                <a:latin typeface="Calibri" pitchFamily="34" charset="0"/>
                <a:ea typeface="Calibri" pitchFamily="34" charset="-122"/>
                <a:cs typeface="Calibri" pitchFamily="34" charset="-120"/>
              </a:rPr>
              <a:t>freemarketwatch.world — compare purchasing power of currencies vs hard assets over 1, 5, and 10 years</a:t>
            </a:r>
            <a:endParaRPr lang="en-US" sz="1050" dirty="0"/>
          </a:p>
        </p:txBody>
      </p:sp>
      <p:sp>
        <p:nvSpPr>
          <p:cNvPr id="12" name="Shape 10"/>
          <p:cNvSpPr/>
          <p:nvPr/>
        </p:nvSpPr>
        <p:spPr>
          <a:xfrm>
            <a:off x="6126480" y="2834640"/>
            <a:ext cx="2651760" cy="1463040"/>
          </a:xfrm>
          <a:prstGeom prst="rect">
            <a:avLst/>
          </a:prstGeom>
          <a:solidFill>
            <a:srgbClr val="111827"/>
          </a:solidFill>
          <a:ln w="12700">
            <a:solidFill>
              <a:srgbClr val="1F2937"/>
            </a:solidFill>
            <a:prstDash val="solid"/>
          </a:ln>
        </p:spPr>
      </p:sp>
      <p:sp>
        <p:nvSpPr>
          <p:cNvPr id="13" name="Text 11"/>
          <p:cNvSpPr/>
          <p:nvPr/>
        </p:nvSpPr>
        <p:spPr>
          <a:xfrm>
            <a:off x="6263640" y="2944368"/>
            <a:ext cx="2377440" cy="274320"/>
          </a:xfrm>
          <a:prstGeom prst="rect">
            <a:avLst/>
          </a:prstGeom>
          <a:noFill/>
          <a:ln/>
        </p:spPr>
        <p:txBody>
          <a:bodyPr wrap="square" lIns="0" tIns="0" rIns="0" bIns="0" rtlCol="0" anchor="ctr"/>
          <a:lstStyle/>
          <a:p>
            <a:pPr indent="0" marL="0">
              <a:buNone/>
            </a:pPr>
            <a:r>
              <a:rPr lang="en-US" sz="1200" b="1" dirty="0">
                <a:solidFill>
                  <a:srgbClr val="C9A84C"/>
                </a:solidFill>
                <a:latin typeface="Calibri" pitchFamily="34" charset="0"/>
                <a:ea typeface="Calibri" pitchFamily="34" charset="-122"/>
                <a:cs typeface="Calibri" pitchFamily="34" charset="-120"/>
              </a:rPr>
              <a:t>Session 4 preview</a:t>
            </a:r>
            <a:endParaRPr lang="en-US" sz="1200" dirty="0"/>
          </a:p>
        </p:txBody>
      </p:sp>
      <p:sp>
        <p:nvSpPr>
          <p:cNvPr id="14" name="Text 12"/>
          <p:cNvSpPr/>
          <p:nvPr/>
        </p:nvSpPr>
        <p:spPr>
          <a:xfrm>
            <a:off x="6263640" y="3255264"/>
            <a:ext cx="2377440" cy="822960"/>
          </a:xfrm>
          <a:prstGeom prst="rect">
            <a:avLst/>
          </a:prstGeom>
          <a:noFill/>
          <a:ln/>
        </p:spPr>
        <p:txBody>
          <a:bodyPr wrap="square" lIns="0" tIns="0" rIns="0" bIns="0" rtlCol="0" anchor="ctr"/>
          <a:lstStyle/>
          <a:p>
            <a:pPr indent="0" marL="0">
              <a:lnSpc>
                <a:spcPct val="140000"/>
              </a:lnSpc>
              <a:buNone/>
            </a:pPr>
            <a:r>
              <a:rPr lang="en-US" sz="1050" dirty="0">
                <a:solidFill>
                  <a:srgbClr val="8899AA"/>
                </a:solidFill>
                <a:latin typeface="Calibri" pitchFamily="34" charset="0"/>
                <a:ea typeface="Calibri" pitchFamily="34" charset="-122"/>
                <a:cs typeface="Calibri" pitchFamily="34" charset="-120"/>
              </a:rPr>
              <a:t>Hard money changes everything — including how you think. What does the world look like when money actually holds its value?</a:t>
            </a:r>
            <a:endParaRPr lang="en-US" sz="1050" dirty="0"/>
          </a:p>
        </p:txBody>
      </p:sp>
      <p:sp>
        <p:nvSpPr>
          <p:cNvPr id="15" name="Text 13"/>
          <p:cNvSpPr/>
          <p:nvPr/>
        </p:nvSpPr>
        <p:spPr>
          <a:xfrm>
            <a:off x="457200" y="4828032"/>
            <a:ext cx="8229600" cy="182880"/>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freeMarketWatch.world  ·  Version 1.2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2026-05-25T15:22:23Z</dcterms:created>
  <dcterms:modified xsi:type="dcterms:W3CDTF">2026-05-25T15:22:23Z</dcterms:modified>
</cp:coreProperties>
</file>